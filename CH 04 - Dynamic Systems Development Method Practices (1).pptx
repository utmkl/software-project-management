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2" strictFirstAndLastChars="0" saveSubsetFonts="1">
  <p:sldMasterIdLst>
    <p:sldMasterId id="2147483648" r:id="rId4"/>
    <p:sldMasterId id="2147483675" r:id="rId5"/>
    <p:sldMasterId id="214748370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6858000" cx="12192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hernoyMPg8d5sE+Snem4lXFIFX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3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5.xml"/><Relationship Id="rId44" Type="http://schemas.openxmlformats.org/officeDocument/2006/relationships/font" Target="fonts/Lato-bold.fntdata"/><Relationship Id="rId21" Type="http://schemas.openxmlformats.org/officeDocument/2006/relationships/slide" Target="slides/slide14.xml"/><Relationship Id="rId43" Type="http://schemas.openxmlformats.org/officeDocument/2006/relationships/font" Target="fonts/Lato-regular.fntdata"/><Relationship Id="rId24" Type="http://schemas.openxmlformats.org/officeDocument/2006/relationships/slide" Target="slides/slide17.xml"/><Relationship Id="rId46" Type="http://schemas.openxmlformats.org/officeDocument/2006/relationships/font" Target="fonts/Lato-boldItalic.fntdata"/><Relationship Id="rId23" Type="http://schemas.openxmlformats.org/officeDocument/2006/relationships/slide" Target="slides/slide16.xml"/><Relationship Id="rId45" Type="http://schemas.openxmlformats.org/officeDocument/2006/relationships/font" Target="fonts/La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customschemas.google.com/relationships/presentationmetadata" Target="meta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Roboto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7637ed14d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7637ed14d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7b2d62e5a2_2_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7b2d62e5a2_2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637ed14d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g37637ed14d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7b2d62e5a2_2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7b2d62e5a2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7b2d62e5a2_2_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7b2d62e5a2_2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7637ed14d2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7637ed14d2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7b2d62e5a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7b2d62e5a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7637ed14d2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g37637ed14d2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b2d62e5a2_2_1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g37b2d62e5a2_2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7b2d62e5a2_2_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g37b2d62e5a2_2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7637ed14d2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g37637ed14d2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7b2d62e5a2_2_3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g37b2d62e5a2_2_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b2d62e5a2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g37b2d62e5a2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7b2d62e5a2_2_3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37b2d62e5a2_2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7637ed14d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g37637ed14d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7637ed14d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7637ed14d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7b2d62e5a2_2_3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8" name="Google Shape;678;g37b2d62e5a2_2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7637ed14d2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37637ed14d2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7637ed14d2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g37637ed14d2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7637ed14d2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g37637ed14d2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0" name="Google Shape;20;p14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25" name="Google Shape;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5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" name="Google Shape;29;p15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18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9" name="Google Shape;39;p19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9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9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6" name="Google Shape;46;p20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0" name="Google Shape;50;p21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22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" name="Google Shape;54;p22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2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3" name="Google Shape;6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65" name="Google Shape;65;p23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66" name="Google Shape;66;p23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4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24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72" name="Google Shape;72;p24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3" name="Google Shape;73;p24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5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6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85" name="Google Shape;8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88" name="Google Shape;8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8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8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8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9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9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00" name="Google Shape;100;p29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29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47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06" name="Google Shape;10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333"/>
          </a:srgbClr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2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2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16" name="Google Shape;116;p32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333"/>
          </a:srgbClr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3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3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3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23" name="Google Shape;123;p33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4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5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cxnSp>
        <p:nvCxnSpPr>
          <p:cNvPr id="135" name="Google Shape;135;p36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41" name="Google Shape;141;p38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45" name="Google Shape;145;p39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0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0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51" name="Google Shape;151;p40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156" name="Google Shape;15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1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158" name="Google Shape;1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1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g37b2d62e5a2_2_18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g37b2d62e5a2_2_18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7b2d62e5a2_2_18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4" name="Google Shape;174;g37b2d62e5a2_2_1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75" name="Google Shape;175;g37b2d62e5a2_2_18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77" name="Google Shape;177;g37b2d62e5a2_2_10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7b2d62e5a2_2_10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7b2d62e5a2_2_10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7b2d62e5a2_2_10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7b2d62e5a2_2_10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2" name="Google Shape;182;g37b2d62e5a2_2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7b2d62e5a2_2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b2d62e5a2_2_24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37b2d62e5a2_2_24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7b2d62e5a2_2_24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b2d62e5a2_2_2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90" name="Google Shape;190;g37b2d62e5a2_2_28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7b2d62e5a2_2_28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7b2d62e5a2_2_28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7b2d62e5a2_2_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b2d62e5a2_2_34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7b2d62e5a2_2_3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97" name="Google Shape;197;g37b2d62e5a2_2_34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7b2d62e5a2_2_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b2d62e5a2_2_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01" name="Google Shape;201;g37b2d62e5a2_2_39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7b2d62e5a2_2_39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g37b2d62e5a2_2_43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g37b2d62e5a2_2_43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7b2d62e5a2_2_43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g37b2d62e5a2_2_43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7b2d62e5a2_2_43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g37b2d62e5a2_2_43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g37b2d62e5a2_2_4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b2d62e5a2_2_51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7b2d62e5a2_2_5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14" name="Google Shape;214;g37b2d62e5a2_2_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37b2d62e5a2_2_51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16" name="Google Shape;216;g37b2d62e5a2_2_51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17" name="Google Shape;217;g37b2d62e5a2_2_51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b2d62e5a2_2_58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7b2d62e5a2_2_58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7b2d62e5a2_2_58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g37b2d62e5a2_2_5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23" name="Google Shape;223;g37b2d62e5a2_2_58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24" name="Google Shape;224;g37b2d62e5a2_2_58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b2d62e5a2_2_65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7b2d62e5a2_2_65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7b2d62e5a2_2_65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g37b2d62e5a2_2_65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g37b2d62e5a2_2_6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b2d62e5a2_2_71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7b2d62e5a2_2_71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7b2d62e5a2_2_71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235" name="Google Shape;235;g37b2d62e5a2_2_7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236" name="Google Shape;236;g37b2d62e5a2_2_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b2d62e5a2_2_7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39" name="Google Shape;239;g37b2d62e5a2_2_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b2d62e5a2_2_80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g37b2d62e5a2_2_80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7b2d62e5a2_2_80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7b2d62e5a2_2_80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g37b2d62e5a2_2_8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b2d62e5a2_2_86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7b2d62e5a2_2_86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7b2d62e5a2_2_86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7b2d62e5a2_2_8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51" name="Google Shape;251;g37b2d62e5a2_2_86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7b2d62e5a2_2_86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3" name="Google Shape;253;g37b2d62e5a2_2_86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b2d62e5a2_2_94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47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7b2d62e5a2_2_9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57" name="Google Shape;257;g37b2d62e5a2_2_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b2d62e5a2_2_98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7b2d62e5a2_2_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7b2d62e5a2_2_9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333"/>
          </a:srgbClr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b2d62e5a2_2_102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7b2d62e5a2_2_102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7b2d62e5a2_2_102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7b2d62e5a2_2_10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67" name="Google Shape;267;g37b2d62e5a2_2_102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333"/>
          </a:srgbClr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b2d62e5a2_2_108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7b2d62e5a2_2_108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7b2d62e5a2_2_108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7b2d62e5a2_2_108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7b2d62e5a2_2_10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74" name="Google Shape;274;g37b2d62e5a2_2_108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b2d62e5a2_2_115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7b2d62e5a2_2_115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7b2d62e5a2_2_1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b2d62e5a2_2_119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7b2d62e5a2_2_119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g37b2d62e5a2_2_11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b2d62e5a2_2_1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7b2d62e5a2_2_1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cxnSp>
        <p:nvCxnSpPr>
          <p:cNvPr id="286" name="Google Shape;286;g37b2d62e5a2_2_123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b2d62e5a2_2_1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b2d62e5a2_2_1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g37b2d62e5a2_2_1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92" name="Google Shape;292;g37b2d62e5a2_2_129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b2d62e5a2_2_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g37b2d62e5a2_2_1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96" name="Google Shape;296;g37b2d62e5a2_2_133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b2d62e5a2_2_137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g37b2d62e5a2_2_1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7b2d62e5a2_2_137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g37b2d62e5a2_2_13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02" name="Google Shape;302;g37b2d62e5a2_2_137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b2d62e5a2_2_143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7b2d62e5a2_2_1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g37b2d62e5a2_2_14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307" name="Google Shape;307;g37b2d62e5a2_2_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7b2d62e5a2_2_143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309" name="Google Shape;309;g37b2d62e5a2_2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7b2d62e5a2_2_143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g37b2d62e5a2_2_202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" name="Google Shape;323;g37b2d62e5a2_2_202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g37b2d62e5a2_2_202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5" name="Google Shape;325;g37b2d62e5a2_2_20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26" name="Google Shape;326;g37b2d62e5a2_2_202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28" name="Google Shape;328;g37b2d62e5a2_2_208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7b2d62e5a2_2_208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7b2d62e5a2_2_208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7b2d62e5a2_2_208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g37b2d62e5a2_2_208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333" name="Google Shape;333;g37b2d62e5a2_2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7b2d62e5a2_2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b2d62e5a2_2_21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37" name="Google Shape;337;g37b2d62e5a2_2_216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7b2d62e5a2_2_216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7b2d62e5a2_2_216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7b2d62e5a2_2_2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b2d62e5a2_2_222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7b2d62e5a2_2_22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44" name="Google Shape;344;g37b2d62e5a2_2_222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7b2d62e5a2_2_2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b2d62e5a2_2_2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48" name="Google Shape;348;g37b2d62e5a2_2_227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7b2d62e5a2_2_227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g37b2d62e5a2_2_231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2" name="Google Shape;352;g37b2d62e5a2_2_231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7b2d62e5a2_2_231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g37b2d62e5a2_2_231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g37b2d62e5a2_2_231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g37b2d62e5a2_2_231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7" name="Google Shape;357;g37b2d62e5a2_2_2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b2d62e5a2_2_239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7b2d62e5a2_2_2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61" name="Google Shape;361;g37b2d62e5a2_2_2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g37b2d62e5a2_2_239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63" name="Google Shape;363;g37b2d62e5a2_2_239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64" name="Google Shape;364;g37b2d62e5a2_2_239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b2d62e5a2_2_246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7b2d62e5a2_2_246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g37b2d62e5a2_2_246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9" name="Google Shape;369;g37b2d62e5a2_2_24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70" name="Google Shape;370;g37b2d62e5a2_2_246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71" name="Google Shape;371;g37b2d62e5a2_2_246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7b2d62e5a2_2_253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7b2d62e5a2_2_253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7b2d62e5a2_2_253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g37b2d62e5a2_2_253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g37b2d62e5a2_2_25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b2d62e5a2_2_259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7b2d62e5a2_2_259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g37b2d62e5a2_2_259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382" name="Google Shape;382;g37b2d62e5a2_2_25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383" name="Google Shape;383;g37b2d62e5a2_2_2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b2d62e5a2_2_26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86" name="Google Shape;386;g37b2d62e5a2_2_2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b2d62e5a2_2_268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g37b2d62e5a2_2_268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7b2d62e5a2_2_268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7b2d62e5a2_2_268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g37b2d62e5a2_2_26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b2d62e5a2_2_274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g37b2d62e5a2_2_274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7b2d62e5a2_2_274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7b2d62e5a2_2_27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98" name="Google Shape;398;g37b2d62e5a2_2_274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g37b2d62e5a2_2_274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0" name="Google Shape;400;g37b2d62e5a2_2_274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b2d62e5a2_2_282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47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7b2d62e5a2_2_28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04" name="Google Shape;404;g37b2d62e5a2_2_2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b2d62e5a2_2_286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7b2d62e5a2_2_2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g37b2d62e5a2_2_28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333"/>
          </a:srgbClr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b2d62e5a2_2_290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7b2d62e5a2_2_290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7b2d62e5a2_2_290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7b2d62e5a2_2_29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14" name="Google Shape;414;g37b2d62e5a2_2_290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333"/>
          </a:srgbClr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b2d62e5a2_2_296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7b2d62e5a2_2_296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7b2d62e5a2_2_296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7b2d62e5a2_2_296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7b2d62e5a2_2_29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21" name="Google Shape;421;g37b2d62e5a2_2_296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b2d62e5a2_2_303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7b2d62e5a2_2_303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g37b2d62e5a2_2_30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b2d62e5a2_2_307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7b2d62e5a2_2_307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g37b2d62e5a2_2_30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b2d62e5a2_2_3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g37b2d62e5a2_2_31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cxnSp>
        <p:nvCxnSpPr>
          <p:cNvPr id="433" name="Google Shape;433;g37b2d62e5a2_2_311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b2d62e5a2_2_3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7b2d62e5a2_2_3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g37b2d62e5a2_2_31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39" name="Google Shape;439;g37b2d62e5a2_2_317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b2d62e5a2_2_3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g37b2d62e5a2_2_32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43" name="Google Shape;443;g37b2d62e5a2_2_321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7b2d62e5a2_2_325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g37b2d62e5a2_2_3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7b2d62e5a2_2_325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g37b2d62e5a2_2_32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49" name="Google Shape;449;g37b2d62e5a2_2_325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7b2d62e5a2_2_331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7b2d62e5a2_2_3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g37b2d62e5a2_2_3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454" name="Google Shape;454;g37b2d62e5a2_2_3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7b2d62e5a2_2_331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456" name="Google Shape;456;g37b2d62e5a2_2_3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7b2d62e5a2_2_331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b2d62e5a2_2_339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g37b2d62e5a2_2_339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7b2d62e5a2_2_339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3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7.xml"/><Relationship Id="rId1" Type="http://schemas.openxmlformats.org/officeDocument/2006/relationships/image" Target="../media/image13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1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1" Type="http://schemas.openxmlformats.org/officeDocument/2006/relationships/image" Target="../media/image13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29" Type="http://schemas.openxmlformats.org/officeDocument/2006/relationships/theme" Target="../theme/theme4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333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13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16" name="Google Shape;1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333"/>
          </a:srgbClr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b2d62e5a2_2_0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7b2d62e5a2_2_0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g37b2d62e5a2_2_0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7b2d62e5a2_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5" name="Google Shape;165;g37b2d62e5a2_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g37b2d62e5a2_2_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167" name="Google Shape;167;g37b2d62e5a2_2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7b2d62e5a2_2_0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69" name="Google Shape;169;g37b2d62e5a2_2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333"/>
          </a:srgbClr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b2d62e5a2_2_192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g37b2d62e5a2_2_192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g37b2d62e5a2_2_192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7b2d62e5a2_2_1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6" name="Google Shape;316;g37b2d62e5a2_2_19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g37b2d62e5a2_2_19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318" name="Google Shape;318;g37b2d62e5a2_2_19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7b2d62e5a2_2_192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320" name="Google Shape;320;g37b2d62e5a2_2_1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jpg"/><Relationship Id="rId4" Type="http://schemas.openxmlformats.org/officeDocument/2006/relationships/image" Target="../media/image32.png"/><Relationship Id="rId9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36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"/>
          <p:cNvSpPr txBox="1"/>
          <p:nvPr>
            <p:ph type="title"/>
          </p:nvPr>
        </p:nvSpPr>
        <p:spPr>
          <a:xfrm>
            <a:off x="584823" y="2120900"/>
            <a:ext cx="51177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Dynamic Systems Development Method Practices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Outline</a:t>
            </a:r>
            <a:endParaRPr/>
          </a:p>
        </p:txBody>
      </p:sp>
      <p:sp>
        <p:nvSpPr>
          <p:cNvPr id="472" name="Google Shape;472;p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73" name="Google Shape;473;p2"/>
          <p:cNvSpPr txBox="1"/>
          <p:nvPr/>
        </p:nvSpPr>
        <p:spPr>
          <a:xfrm>
            <a:off x="983375" y="1735450"/>
            <a:ext cx="9973800" cy="4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Overview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Pre - project Phase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Feasibility Phase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Foundation Phase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Evolutionary Development Phase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Deployment Phase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Post - project Phase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 Lifecycle in practice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Configuring DSDM for Scalability and Formality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637ed14d2_0_0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Overview : The DSDM Process</a:t>
            </a:r>
            <a:endParaRPr/>
          </a:p>
        </p:txBody>
      </p:sp>
      <p:sp>
        <p:nvSpPr>
          <p:cNvPr id="479" name="Google Shape;479;g37637ed14d2_0_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480" name="Google Shape;480;g37637ed14d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0" y="2845435"/>
            <a:ext cx="5066665" cy="351663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7637ed14d2_0_0"/>
          <p:cNvSpPr txBox="1"/>
          <p:nvPr/>
        </p:nvSpPr>
        <p:spPr>
          <a:xfrm>
            <a:off x="921555" y="1648120"/>
            <a:ext cx="990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Process is used to create lifecycle for each project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Each phase has defined objectives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Focus of Agile Project Manager varies from phase to phase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7b2d62e5a2_2_156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Overview : Planning in a DSDM Project</a:t>
            </a:r>
            <a:endParaRPr/>
          </a:p>
        </p:txBody>
      </p:sp>
      <p:sp>
        <p:nvSpPr>
          <p:cNvPr id="487" name="Google Shape;487;g37b2d62e5a2_2_15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88" name="Google Shape;488;g37b2d62e5a2_2_156"/>
          <p:cNvSpPr txBox="1"/>
          <p:nvPr/>
        </p:nvSpPr>
        <p:spPr>
          <a:xfrm>
            <a:off x="712475" y="1904475"/>
            <a:ext cx="81678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Strategic planning starts in Feasibility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Initial outline of project management and solution development approaches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Supported by possible timeline for delivery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This information gradually refined during Foundations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Generates high-level plans and agreed ways of working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Forms basis of commitment to deliver what business needs when business needs it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9" name="Google Shape;489;g37b2d62e5a2_2_156" title="images.png"/>
          <p:cNvPicPr preferRelativeResize="0"/>
          <p:nvPr/>
        </p:nvPicPr>
        <p:blipFill rotWithShape="1">
          <a:blip r:embed="rId3">
            <a:alphaModFix/>
          </a:blip>
          <a:srcRect b="4932" l="7447" r="13743" t="0"/>
          <a:stretch/>
        </p:blipFill>
        <p:spPr>
          <a:xfrm>
            <a:off x="8701975" y="2221525"/>
            <a:ext cx="2976675" cy="29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7637ed14d2_0_24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Overview : Planning in a DSDM Project</a:t>
            </a:r>
            <a:endParaRPr/>
          </a:p>
        </p:txBody>
      </p:sp>
      <p:sp>
        <p:nvSpPr>
          <p:cNvPr id="495" name="Google Shape;495;g37637ed14d2_0_2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96" name="Google Shape;496;g37637ed14d2_0_24"/>
          <p:cNvSpPr txBox="1"/>
          <p:nvPr/>
        </p:nvSpPr>
        <p:spPr>
          <a:xfrm>
            <a:off x="728730" y="1904470"/>
            <a:ext cx="9908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Plans always need to evolve to meet changes in real-world circumstances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business needs shift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requirements and solution detail emerges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understanding of what is possible and what is necessary changes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Agile PM not responsible for all planning activity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Key Agile PM responsibility to ensure all plans align with high-level plans to deliver what business needs, at time agreed, within agreed costs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Configuring the Process - 3 lifecycle examples</a:t>
            </a:r>
            <a:endParaRPr/>
          </a:p>
        </p:txBody>
      </p:sp>
      <p:sp>
        <p:nvSpPr>
          <p:cNvPr id="502" name="Google Shape;502;p3"/>
          <p:cNvSpPr txBox="1"/>
          <p:nvPr>
            <p:ph idx="12" type="sldNum"/>
          </p:nvPr>
        </p:nvSpPr>
        <p:spPr>
          <a:xfrm>
            <a:off x="9522984" y="62378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03" name="Google Shape;5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4874" y="2882138"/>
            <a:ext cx="4368675" cy="30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"/>
          <p:cNvSpPr txBox="1"/>
          <p:nvPr/>
        </p:nvSpPr>
        <p:spPr>
          <a:xfrm>
            <a:off x="623355" y="1612600"/>
            <a:ext cx="990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Solution built and deployed incrementally from a firm foundation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 value delivered early and delivered frequently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05" name="Google Shape;5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7375" y="2470474"/>
            <a:ext cx="5172576" cy="3855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b2d62e5a2_2_162"/>
          <p:cNvSpPr txBox="1"/>
          <p:nvPr>
            <p:ph type="title"/>
          </p:nvPr>
        </p:nvSpPr>
        <p:spPr>
          <a:xfrm>
            <a:off x="712470" y="497205"/>
            <a:ext cx="1051560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Planning Activity Phase by Phase</a:t>
            </a:r>
            <a:endParaRPr/>
          </a:p>
        </p:txBody>
      </p:sp>
      <p:sp>
        <p:nvSpPr>
          <p:cNvPr id="511" name="Google Shape;511;g37b2d62e5a2_2_16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12" name="Google Shape;512;g37b2d62e5a2_2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3620" y="1585595"/>
            <a:ext cx="7353300" cy="4734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Pre-Project Phase</a:t>
            </a:r>
            <a:endParaRPr/>
          </a:p>
        </p:txBody>
      </p:sp>
      <p:sp>
        <p:nvSpPr>
          <p:cNvPr id="518" name="Google Shape;518;p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19" name="Google Shape;5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590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"/>
          <p:cNvSpPr txBox="1"/>
          <p:nvPr/>
        </p:nvSpPr>
        <p:spPr>
          <a:xfrm>
            <a:off x="636305" y="1832538"/>
            <a:ext cx="70053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Char char="•"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Pre-Project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Ensure only the right projects are started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Ensure projects are set up correctly based on clearly defined objective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Char char="•"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Keep Pre-Project short and sharp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Char char="•"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Main purpose is to position project and justify Feasibility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Char char="•"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Formality varies, depending on organisation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There is no PM involvement Pre-Project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" name="Google Shape;521;p4"/>
          <p:cNvSpPr/>
          <p:nvPr/>
        </p:nvSpPr>
        <p:spPr>
          <a:xfrm>
            <a:off x="8394700" y="2137410"/>
            <a:ext cx="1646555" cy="97853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7b2d62e5a2_2_168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Pre-Project Phase (cont.)</a:t>
            </a:r>
            <a:endParaRPr/>
          </a:p>
        </p:txBody>
      </p:sp>
      <p:sp>
        <p:nvSpPr>
          <p:cNvPr id="527" name="Google Shape;527;g37b2d62e5a2_2_16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28" name="Google Shape;528;g37b2d62e5a2_2_168"/>
          <p:cNvSpPr txBox="1"/>
          <p:nvPr/>
        </p:nvSpPr>
        <p:spPr>
          <a:xfrm>
            <a:off x="712474" y="1828050"/>
            <a:ext cx="105156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Char char="•"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Planning at Pre-Project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Working at programme / portfolio level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Focused on whether and when Feasibility will be assessed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Ensuring Feasibility resources are available to do required work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5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Planning for detail of next phase (Feasibility)</a:t>
            </a:r>
            <a:endParaRPr b="0" i="0" sz="25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g37b2d62e5a2_2_168"/>
          <p:cNvSpPr txBox="1"/>
          <p:nvPr/>
        </p:nvSpPr>
        <p:spPr>
          <a:xfrm>
            <a:off x="5118455" y="5124900"/>
            <a:ext cx="1955100" cy="369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Feasibility Phase</a:t>
            </a:r>
            <a:endParaRPr/>
          </a:p>
        </p:txBody>
      </p:sp>
      <p:sp>
        <p:nvSpPr>
          <p:cNvPr id="535" name="Google Shape;535;p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36" name="Google Shape;5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590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"/>
          <p:cNvSpPr txBox="1"/>
          <p:nvPr/>
        </p:nvSpPr>
        <p:spPr>
          <a:xfrm>
            <a:off x="712480" y="1760100"/>
            <a:ext cx="6970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PM works with Project-level roles including Business Analyst PM may also include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Advisors (Business and Technical)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many SDT members as possible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Focus is to establish whether proposed project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Is likely to be feasible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Both from business and technical perspective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- Would be cost-effective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From business perspective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" name="Google Shape;538;p5"/>
          <p:cNvSpPr/>
          <p:nvPr/>
        </p:nvSpPr>
        <p:spPr>
          <a:xfrm>
            <a:off x="9306560" y="2459355"/>
            <a:ext cx="1490980" cy="83185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7637ed14d2_0_31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Feasibility Phase (cont.)</a:t>
            </a:r>
            <a:endParaRPr/>
          </a:p>
        </p:txBody>
      </p:sp>
      <p:sp>
        <p:nvSpPr>
          <p:cNvPr id="544" name="Google Shape;544;g37637ed14d2_0_3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45" name="Google Shape;545;g37637ed14d2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590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7637ed14d2_0_31"/>
          <p:cNvSpPr txBox="1"/>
          <p:nvPr/>
        </p:nvSpPr>
        <p:spPr>
          <a:xfrm>
            <a:off x="712480" y="2223550"/>
            <a:ext cx="69705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To plan and resource Foundations phase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The six key Foundation products created in outline here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Feasibility effort - just enough to decide whether further investigation is justified or project should be stopped if unlikely to be viable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g37637ed14d2_0_31"/>
          <p:cNvSpPr/>
          <p:nvPr/>
        </p:nvSpPr>
        <p:spPr>
          <a:xfrm>
            <a:off x="9306560" y="2459355"/>
            <a:ext cx="1491000" cy="831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7b2d62e5a2_0_1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Feasibility Phase (cont.)</a:t>
            </a:r>
            <a:endParaRPr/>
          </a:p>
        </p:txBody>
      </p:sp>
      <p:sp>
        <p:nvSpPr>
          <p:cNvPr id="553" name="Google Shape;553;g37b2d62e5a2_0_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54" name="Google Shape;554;g37b2d62e5a2_0_1"/>
          <p:cNvSpPr txBox="1"/>
          <p:nvPr/>
        </p:nvSpPr>
        <p:spPr>
          <a:xfrm>
            <a:off x="587700" y="1717775"/>
            <a:ext cx="9703500" cy="4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Planning during Feasibility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Based on outline information (requirements and solution)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Planning for detail of next phase (Foundations)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Providing an approximation of size and duration of overall project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Based on what is known at this point - an educated guess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Delivery Plan describes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Next few weeks in detail (Foundations)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High-level outline for first Increment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Possibly list of proposed dates for Increments into the future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Plan includes timescale, deliverables, resources and facilities needed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0000" lvl="0" marL="45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Not yet possible to plan any detail for Evolutionary Development or    Deployment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g37b2d62e5a2_0_1"/>
          <p:cNvSpPr txBox="1"/>
          <p:nvPr/>
        </p:nvSpPr>
        <p:spPr>
          <a:xfrm>
            <a:off x="9791065" y="2187575"/>
            <a:ext cx="1277700" cy="369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7b2d62e5a2_0_1"/>
          <p:cNvSpPr txBox="1"/>
          <p:nvPr/>
        </p:nvSpPr>
        <p:spPr>
          <a:xfrm>
            <a:off x="9791065" y="3401060"/>
            <a:ext cx="1277700" cy="369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g37b2d62e5a2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9325" y="3847475"/>
            <a:ext cx="756300" cy="807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Foundations Phase</a:t>
            </a:r>
            <a:endParaRPr/>
          </a:p>
        </p:txBody>
      </p:sp>
      <p:sp>
        <p:nvSpPr>
          <p:cNvPr id="563" name="Google Shape;563;p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64" name="Google Shape;5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045" y="2461698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"/>
          <p:cNvSpPr txBox="1"/>
          <p:nvPr/>
        </p:nvSpPr>
        <p:spPr>
          <a:xfrm>
            <a:off x="448400" y="1939488"/>
            <a:ext cx="94122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Lato"/>
              <a:buChar char="•"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PM works with Project-level roles, including Business Analyst and involving: 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Business and Technical Advisors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many SDT members as possible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Lato"/>
              <a:buChar char="•"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Organising work to establish firm Foundations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From Business perspective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Agreed realistic Business Case (Recommended)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Prioritised Requirements List (Mandatory)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6" name="Google Shape;566;p6"/>
          <p:cNvSpPr/>
          <p:nvPr/>
        </p:nvSpPr>
        <p:spPr>
          <a:xfrm>
            <a:off x="9473455" y="3178613"/>
            <a:ext cx="1646700" cy="676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7637ed14d2_0_39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Foundations Phase (cont.)</a:t>
            </a:r>
            <a:endParaRPr/>
          </a:p>
        </p:txBody>
      </p:sp>
      <p:sp>
        <p:nvSpPr>
          <p:cNvPr id="572" name="Google Shape;572;g37637ed14d2_0_3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73" name="Google Shape;573;g37637ed14d2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495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37637ed14d2_0_39"/>
          <p:cNvSpPr txBox="1"/>
          <p:nvPr/>
        </p:nvSpPr>
        <p:spPr>
          <a:xfrm>
            <a:off x="400000" y="1781700"/>
            <a:ext cx="76245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9999" lvl="0" marL="1799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Lato"/>
              <a:buChar char="-"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From Solution / Technical perspective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719999" lvl="0" marL="7199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      • Solution Architecture Definition and Development Approach Definition 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- From Management perspective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Delivery Plan (Mandatory)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Management Approach Definition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Foundations Summary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PM establishes which of 6 key Foundations products need to be created or evolved from Feasibility outline set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5" name="Google Shape;575;g37637ed14d2_0_39"/>
          <p:cNvSpPr/>
          <p:nvPr/>
        </p:nvSpPr>
        <p:spPr>
          <a:xfrm>
            <a:off x="9526905" y="3019425"/>
            <a:ext cx="1646700" cy="676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7b2d62e5a2_2_177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Foundations Phase (cont.)</a:t>
            </a:r>
            <a:endParaRPr/>
          </a:p>
        </p:txBody>
      </p:sp>
      <p:sp>
        <p:nvSpPr>
          <p:cNvPr id="581" name="Google Shape;581;g37b2d62e5a2_2_17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82" name="Google Shape;582;g37b2d62e5a2_2_177"/>
          <p:cNvSpPr txBox="1"/>
          <p:nvPr/>
        </p:nvSpPr>
        <p:spPr>
          <a:xfrm>
            <a:off x="598075" y="1635350"/>
            <a:ext cx="99219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Based on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More detailed understanding of requirements and priorities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Reduced uncertainty and increased accuracy of estimates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Focus is on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Creating schedule of Timeboxes for first Increment, with resources needed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Defining approaches to be used for developing and controlling development of solution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Agreeing strategy for Deployment and assessing high-level impact of change and training needs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Delivery Plan baselined at end of Foundations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Delivery date for first Increment is committed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Delivery Plan also provides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Probable focus for each Timebox in this Increment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Resources required to evolve solution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Delivery Plan does not include detailed Timebox objectives and tasks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g37b2d62e5a2_2_177"/>
          <p:cNvSpPr txBox="1"/>
          <p:nvPr/>
        </p:nvSpPr>
        <p:spPr>
          <a:xfrm>
            <a:off x="9791065" y="4308700"/>
            <a:ext cx="1437000" cy="369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4" name="Google Shape;584;g37b2d62e5a2_2_177"/>
          <p:cNvPicPr preferRelativeResize="0"/>
          <p:nvPr/>
        </p:nvPicPr>
        <p:blipFill rotWithShape="1">
          <a:blip r:embed="rId3">
            <a:alphaModFix/>
          </a:blip>
          <a:srcRect b="-6827" l="2490" r="17432" t="25039"/>
          <a:stretch/>
        </p:blipFill>
        <p:spPr>
          <a:xfrm>
            <a:off x="9917443" y="4973450"/>
            <a:ext cx="1184275" cy="661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Evolutionary Development Phase</a:t>
            </a:r>
            <a:endParaRPr/>
          </a:p>
        </p:txBody>
      </p:sp>
      <p:sp>
        <p:nvSpPr>
          <p:cNvPr id="590" name="Google Shape;590;p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591" name="Google Shape;5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495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"/>
          <p:cNvSpPr txBox="1"/>
          <p:nvPr/>
        </p:nvSpPr>
        <p:spPr>
          <a:xfrm>
            <a:off x="596265" y="1700255"/>
            <a:ext cx="7523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•"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Evolutionary Development builds on project firm foundations to evolve the solution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Through use of DSDM Practices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Converging on accurate solution that meets business need and technically is built the right way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•"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PM passes day-to-day management of Timeboxes to SDT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PM focuses mainly on ensuring project environment optimised for agile development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Protecting ST from distractions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Ensuring tools and facilities available as planned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3" name="Google Shape;593;p7"/>
          <p:cNvSpPr/>
          <p:nvPr/>
        </p:nvSpPr>
        <p:spPr>
          <a:xfrm>
            <a:off x="8497570" y="3717925"/>
            <a:ext cx="1388745" cy="141986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Evolutionary Development Phase (cont.)</a:t>
            </a:r>
            <a:endParaRPr/>
          </a:p>
        </p:txBody>
      </p:sp>
      <p:sp>
        <p:nvSpPr>
          <p:cNvPr id="599" name="Google Shape;599;p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600" name="Google Shape;6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495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8"/>
          <p:cNvSpPr txBox="1"/>
          <p:nvPr/>
        </p:nvSpPr>
        <p:spPr>
          <a:xfrm>
            <a:off x="643240" y="1737880"/>
            <a:ext cx="7523400" cy="4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•"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During Evolutionary Development, PM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Participates in (and may facilitate) Timebox Kick-off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Participates in Timebox Close-out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To measure progress, to feed learning and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incomplete work back into Delivery Plan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- Ensures people and resources are committed for duration 	of Timebox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- Manages engagement of Business Ambassadors, Advisors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and any part-time resources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- "Manages by exception"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Char char="•"/>
            </a:pPr>
            <a:r>
              <a:rPr b="0" i="0" lang="en-MY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PM works primarily with Visionary and Technical Coordinator to plan Deployment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8497570" y="3717925"/>
            <a:ext cx="1388745" cy="141986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7b2d62e5a2_2_185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Evolutionary Development Phase (cont.)</a:t>
            </a:r>
            <a:endParaRPr/>
          </a:p>
        </p:txBody>
      </p:sp>
      <p:sp>
        <p:nvSpPr>
          <p:cNvPr id="608" name="Google Shape;608;g37b2d62e5a2_2_18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09" name="Google Shape;609;g37b2d62e5a2_2_185"/>
          <p:cNvSpPr txBox="1"/>
          <p:nvPr/>
        </p:nvSpPr>
        <p:spPr>
          <a:xfrm>
            <a:off x="633700" y="1734100"/>
            <a:ext cx="9318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 planning at beginning of each Timebox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This is lowest level of DSDM Planning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SDT members responsible for Timebox planning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 Plans based 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Objectives and outcomes plus Timebox length agreed at Timebox Kick-off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Task-level estimates that emerge as result of detailed investigation of requirements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Decisions made on how requirements will be fulfilled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0" name="Google Shape;610;g37b2d62e5a2_2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1705" y="3396623"/>
            <a:ext cx="1681480" cy="1315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7637ed14d2_0_47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Evolutionary Development Phase (cont.)</a:t>
            </a:r>
            <a:endParaRPr/>
          </a:p>
        </p:txBody>
      </p:sp>
      <p:sp>
        <p:nvSpPr>
          <p:cNvPr id="616" name="Google Shape;616;g37637ed14d2_0_4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17" name="Google Shape;617;g37637ed14d2_0_47"/>
          <p:cNvSpPr txBox="1"/>
          <p:nvPr/>
        </p:nvSpPr>
        <p:spPr>
          <a:xfrm>
            <a:off x="633725" y="1890700"/>
            <a:ext cx="92025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 Plans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Typically captured on Team Board (or electronically)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Indicate who will do what work to achieve Timebox objectives and generate agreed outcome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Team Leader ensures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All work is covered by the plan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Resources are sufficient to do majority of work agreed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Flagging any significant issues that may arise as TB progresses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8" name="Google Shape;618;g37637ed14d2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1705" y="3396623"/>
            <a:ext cx="1681480" cy="1315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Deployment Phase</a:t>
            </a:r>
            <a:endParaRPr/>
          </a:p>
        </p:txBody>
      </p:sp>
      <p:sp>
        <p:nvSpPr>
          <p:cNvPr id="624" name="Google Shape;624;p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625" name="Google Shape;6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495" y="2302510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9"/>
          <p:cNvSpPr txBox="1"/>
          <p:nvPr/>
        </p:nvSpPr>
        <p:spPr>
          <a:xfrm>
            <a:off x="596265" y="1557655"/>
            <a:ext cx="7523480" cy="4707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Deployment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To bring a baseline of Evolving Solution into operational use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This may be the final solution or a subset of final solution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After last release, Project is formally closed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Project Manager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Coordinates day-to-day activities to bring Solution Increment into live operational use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Ensures everything is coherent and right people are involved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Business Visionary (responsible for business change)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Technical Coordinator (responsible for technical transition into live use)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Collaborating with ST and other stakeholders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Organises Increment Retrospective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Results captured in Project Review Report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" name="Google Shape;627;p9"/>
          <p:cNvSpPr/>
          <p:nvPr/>
        </p:nvSpPr>
        <p:spPr>
          <a:xfrm>
            <a:off x="9961880" y="3856355"/>
            <a:ext cx="1903730" cy="84137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7b2d62e5a2_2_343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Deployment Phase (cont.)</a:t>
            </a:r>
            <a:endParaRPr/>
          </a:p>
        </p:txBody>
      </p:sp>
      <p:sp>
        <p:nvSpPr>
          <p:cNvPr id="633" name="Google Shape;633;g37b2d62e5a2_2_34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34" name="Google Shape;634;g37b2d62e5a2_2_343"/>
          <p:cNvSpPr txBox="1"/>
          <p:nvPr/>
        </p:nvSpPr>
        <p:spPr>
          <a:xfrm>
            <a:off x="712475" y="1945925"/>
            <a:ext cx="8121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Planning for Deployment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As detail emerges during Evolutionary Development, plans for Deployment can be considered in more detail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Deployment involves everything needed to transition solution into live use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Delivery Plan is updated with Deployment activities as they become clear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Plans for Deployment should always include roll-back options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35" name="Google Shape;635;g37b2d62e5a2_2_3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9599" y="3407960"/>
            <a:ext cx="2757675" cy="8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Post-Project Phase</a:t>
            </a:r>
            <a:endParaRPr/>
          </a:p>
        </p:txBody>
      </p:sp>
      <p:sp>
        <p:nvSpPr>
          <p:cNvPr id="641" name="Google Shape;641;p1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642" name="Google Shape;6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495" y="1929773"/>
            <a:ext cx="4319905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0"/>
          <p:cNvSpPr txBox="1"/>
          <p:nvPr/>
        </p:nvSpPr>
        <p:spPr>
          <a:xfrm>
            <a:off x="611915" y="1917780"/>
            <a:ext cx="7523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Post-Project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To check how well expected business benefits have been met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9700" lvl="0" marL="36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There is no PM involvement here as the project has been closed down by this point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Planning benefits assessment activity, Post-Project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Based on clearer Deployment plans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4" name="Google Shape;644;p10"/>
          <p:cNvSpPr/>
          <p:nvPr/>
        </p:nvSpPr>
        <p:spPr>
          <a:xfrm>
            <a:off x="10536705" y="4318965"/>
            <a:ext cx="1553700" cy="648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7b2d62e5a2_0_19"/>
          <p:cNvSpPr txBox="1"/>
          <p:nvPr>
            <p:ph type="title"/>
          </p:nvPr>
        </p:nvSpPr>
        <p:spPr>
          <a:xfrm>
            <a:off x="712470" y="3143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Post-Project Phase (cont.)</a:t>
            </a:r>
            <a:endParaRPr/>
          </a:p>
        </p:txBody>
      </p:sp>
      <p:sp>
        <p:nvSpPr>
          <p:cNvPr id="650" name="Google Shape;650;g37b2d62e5a2_0_1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51" name="Google Shape;651;g37b2d62e5a2_0_19"/>
          <p:cNvSpPr txBox="1"/>
          <p:nvPr/>
        </p:nvSpPr>
        <p:spPr>
          <a:xfrm>
            <a:off x="712475" y="1820675"/>
            <a:ext cx="10893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Activities needed Post-Project to measure benefits can now be planned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Activity for this owned by Business Visionary, who owns wider implications change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9699" lvl="0" marL="2699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Incremental nature of DSDM means revisiting Foundations at end of each Increment helps : 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Check project as whole remains viable and should proceed to next Increment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Based on validated actual effort and updated more informed view of Business Case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Firm up plans for the subsequent Increment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" name="Google Shape;652;g37b2d62e5a2_0_19"/>
          <p:cNvSpPr txBox="1"/>
          <p:nvPr/>
        </p:nvSpPr>
        <p:spPr>
          <a:xfrm>
            <a:off x="5118450" y="5501232"/>
            <a:ext cx="1955100" cy="369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7b2d62e5a2_2_351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Planning - Agile PM Top Tips</a:t>
            </a:r>
            <a:endParaRPr/>
          </a:p>
        </p:txBody>
      </p:sp>
      <p:sp>
        <p:nvSpPr>
          <p:cNvPr id="658" name="Google Shape;658;g37b2d62e5a2_2_35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59" name="Google Shape;659;g37b2d62e5a2_2_351"/>
          <p:cNvSpPr txBox="1"/>
          <p:nvPr/>
        </p:nvSpPr>
        <p:spPr>
          <a:xfrm>
            <a:off x="712475" y="1726725"/>
            <a:ext cx="110025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Remember DSDM planning activities are always highly collaborative.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Collaboration brings in expertise of those executing the plans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Collaboration improves buy-in to the plans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   This is especially important for Delivery Plan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 Planning is not your responsibility - it is owned by SDT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You only need to review Timebox Plan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To ensure it aligns with agreed TB objectives and that it remains aligned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Any tools supporting planning activity should not work against or constrain effective DSDM planning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•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When planning, always check to ensure work identified adds real value to the project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0" name="Google Shape;660;g37b2d62e5a2_2_351" title="implementing-agile-project-managem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1100" y="2213950"/>
            <a:ext cx="3113878" cy="214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7637ed14d2_0_8"/>
          <p:cNvSpPr txBox="1"/>
          <p:nvPr>
            <p:ph type="title"/>
          </p:nvPr>
        </p:nvSpPr>
        <p:spPr>
          <a:xfrm>
            <a:off x="602895" y="3769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Configuring DSDM for Scalability and Formality</a:t>
            </a:r>
            <a:endParaRPr/>
          </a:p>
        </p:txBody>
      </p:sp>
      <p:sp>
        <p:nvSpPr>
          <p:cNvPr id="666" name="Google Shape;666;g37637ed14d2_0_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67" name="Google Shape;667;g37637ed14d2_0_8"/>
          <p:cNvSpPr txBox="1"/>
          <p:nvPr/>
        </p:nvSpPr>
        <p:spPr>
          <a:xfrm>
            <a:off x="1135230" y="1895445"/>
            <a:ext cx="101193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DSDM recognises the value of Agility</a:t>
            </a: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Improves project productivity.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Enhances solution quality.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Accepts constraints in corporate environments.</a:t>
            </a:r>
            <a:b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Common corporate constraints</a:t>
            </a: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Financial governance.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Architecture and/or infrastructure strategies.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Regulatory governance.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Vendor agreements.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Char char="●"/>
            </a:pPr>
            <a:r>
              <a:rPr b="0" i="0" lang="en-MY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Third-party support considerations.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8" name="Google Shape;668;g37637ed14d2_0_8" title="DSDM-agile-frame-work.jpg"/>
          <p:cNvPicPr preferRelativeResize="0"/>
          <p:nvPr/>
        </p:nvPicPr>
        <p:blipFill rotWithShape="1">
          <a:blip r:embed="rId3">
            <a:alphaModFix/>
          </a:blip>
          <a:srcRect b="0" l="18400" r="18583" t="0"/>
          <a:stretch/>
        </p:blipFill>
        <p:spPr>
          <a:xfrm>
            <a:off x="7158650" y="1763675"/>
            <a:ext cx="4618976" cy="40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7637ed14d2_0_16"/>
          <p:cNvSpPr txBox="1"/>
          <p:nvPr>
            <p:ph type="title"/>
          </p:nvPr>
        </p:nvSpPr>
        <p:spPr>
          <a:xfrm>
            <a:off x="602895" y="37692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Configuring DSDM for Scalability and Formality</a:t>
            </a:r>
            <a:endParaRPr/>
          </a:p>
        </p:txBody>
      </p:sp>
      <p:sp>
        <p:nvSpPr>
          <p:cNvPr id="674" name="Google Shape;674;g37637ed14d2_0_1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75" name="Google Shape;675;g37637ed14d2_0_16"/>
          <p:cNvSpPr txBox="1"/>
          <p:nvPr/>
        </p:nvSpPr>
        <p:spPr>
          <a:xfrm>
            <a:off x="920905" y="1579145"/>
            <a:ext cx="10119300" cy="4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Configurability of the DSDM process</a:t>
            </a: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Can be tailored for different project sizes.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Small projects → lighter governance.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Large projects → stronger governance.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Lifecycle configured to suit the project.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Formality of DSDM products defined, created, and approved at appropriate levels.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Scaling project organisation</a:t>
            </a: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Structure can be refined to support multiple teams.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Key roles act as directors and coordinators across teams.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●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For complex projects, products can be made more detailed and formal: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○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Solution Architecture Definition.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○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Development Approach Definition.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○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Management Approach Definition.</a:t>
            </a:r>
            <a:endParaRPr b="0" i="0" sz="18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Char char="○"/>
            </a:pPr>
            <a:r>
              <a:rPr b="0" i="0" lang="en-MY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Delivery Plan and Timebox Review Records.</a:t>
            </a:r>
            <a:endParaRPr b="1" i="0" sz="27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7b2d62e5a2_2_357"/>
          <p:cNvSpPr txBox="1"/>
          <p:nvPr>
            <p:ph type="title"/>
          </p:nvPr>
        </p:nvSpPr>
        <p:spPr>
          <a:xfrm>
            <a:off x="528950" y="590550"/>
            <a:ext cx="111861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Questions on Project Planning Through the Lifecycle?</a:t>
            </a:r>
            <a:endParaRPr/>
          </a:p>
        </p:txBody>
      </p:sp>
      <p:sp>
        <p:nvSpPr>
          <p:cNvPr id="681" name="Google Shape;681;g37b2d62e5a2_2_35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682" name="Google Shape;682;g37b2d62e5a2_2_3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070" y="1672590"/>
            <a:ext cx="5484495" cy="427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7637ed14d2_0_68"/>
          <p:cNvSpPr txBox="1"/>
          <p:nvPr>
            <p:ph type="title"/>
          </p:nvPr>
        </p:nvSpPr>
        <p:spPr>
          <a:xfrm>
            <a:off x="4769700" y="402650"/>
            <a:ext cx="26526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EXERCISES</a:t>
            </a:r>
            <a:endParaRPr/>
          </a:p>
        </p:txBody>
      </p:sp>
      <p:sp>
        <p:nvSpPr>
          <p:cNvPr id="688" name="Google Shape;688;g37637ed14d2_0_6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89" name="Google Shape;689;g37637ed14d2_0_68"/>
          <p:cNvSpPr txBox="1"/>
          <p:nvPr/>
        </p:nvSpPr>
        <p:spPr>
          <a:xfrm>
            <a:off x="1150500" y="1885300"/>
            <a:ext cx="9891000" cy="4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AutoNum type="arabicPeriod"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What is the purpose of the DSDM Pre-Project phase?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Ensures that only the right projects are started and set up correctly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Assesses the viability of the project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Ensures the project can be carried out by the Solution Development Team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Plans and resources the Foundations phase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AutoNum type="arabicPeriod"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What is a purpose of the Feasibility phase?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Converge over time on an accurate solution that meets a business need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Establish whether or not the project should be stopped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Establish how development and delivery of the solution will be managed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Bring a baseline of the solution into operational use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7637ed14d2_0_75"/>
          <p:cNvSpPr txBox="1"/>
          <p:nvPr>
            <p:ph type="title"/>
          </p:nvPr>
        </p:nvSpPr>
        <p:spPr>
          <a:xfrm>
            <a:off x="4769700" y="402650"/>
            <a:ext cx="26526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EXERCISES</a:t>
            </a:r>
            <a:endParaRPr/>
          </a:p>
        </p:txBody>
      </p:sp>
      <p:sp>
        <p:nvSpPr>
          <p:cNvPr id="695" name="Google Shape;695;g37637ed14d2_0_7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96" name="Google Shape;696;g37637ed14d2_0_75"/>
          <p:cNvSpPr txBox="1"/>
          <p:nvPr/>
        </p:nvSpPr>
        <p:spPr>
          <a:xfrm>
            <a:off x="1150500" y="1885300"/>
            <a:ext cx="9891000" cy="4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3.  	Which purpose relates to the Foundations phase?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Converge over time on an accurate solution that meets a business need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Check how well the expected business benefits have been met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Establish how development and delivery of the solution will be managed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Bring a baseline of the solution into operational use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4. 	What is the purpose of the Evolutionary Development phase?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Converge over time on an accurate solution that meets a business need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Establish whether the project appears cost-effective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Establish how development and delivery of the solution will be managed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Bring a baseline of the solution into operational use 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7637ed14d2_0_56"/>
          <p:cNvSpPr txBox="1"/>
          <p:nvPr>
            <p:ph type="title"/>
          </p:nvPr>
        </p:nvSpPr>
        <p:spPr>
          <a:xfrm>
            <a:off x="4769700" y="402650"/>
            <a:ext cx="26526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EXERCISES</a:t>
            </a:r>
            <a:endParaRPr/>
          </a:p>
        </p:txBody>
      </p:sp>
      <p:sp>
        <p:nvSpPr>
          <p:cNvPr id="702" name="Google Shape;702;g37637ed14d2_0_5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703" name="Google Shape;703;g37637ed14d2_0_56"/>
          <p:cNvSpPr txBox="1"/>
          <p:nvPr/>
        </p:nvSpPr>
        <p:spPr>
          <a:xfrm>
            <a:off x="1150500" y="1885300"/>
            <a:ext cx="9891000" cy="4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00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5. 	When, ideally, is the first instance that a solution should be fully tested and potentially deployable?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000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 At the Review stage of Deployment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 At the end of a Timebox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 On Deployment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 After Deployment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6. 	When does DSDM state that the Post-Project phase takes place?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 After Evolutionary Development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 Before the project is closed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 When the solution is assembled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 After the final Deployment for a project</a:t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outdoor, sky, building, grass&#10;&#10;Description automatically generated" id="708" name="Google Shape;708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2"/>
          <p:cNvSpPr txBox="1"/>
          <p:nvPr/>
        </p:nvSpPr>
        <p:spPr>
          <a:xfrm>
            <a:off x="7230171" y="1951631"/>
            <a:ext cx="4511452" cy="176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MY" sz="5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1" i="0" sz="5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10" name="Google Shape;7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8800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5030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7181" y="5788338"/>
            <a:ext cx="396963" cy="39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9641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3411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2"/>
          <p:cNvSpPr txBox="1"/>
          <p:nvPr/>
        </p:nvSpPr>
        <p:spPr>
          <a:xfrm>
            <a:off x="7136987" y="5197713"/>
            <a:ext cx="4730605" cy="31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www.utm.my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6" name="Google Shape;716;p12"/>
          <p:cNvSpPr txBox="1"/>
          <p:nvPr/>
        </p:nvSpPr>
        <p:spPr>
          <a:xfrm>
            <a:off x="7136987" y="4916078"/>
            <a:ext cx="4730605" cy="31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Name of God for Mankind</a:t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black and white logo&#10;&#10;Description automatically generated with low confidence" id="717" name="Google Shape;71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6582" y="4092848"/>
            <a:ext cx="1883012" cy="639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2021-08-03T04:10:00Z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6A831531A5FD4A75B578DCEBE44BDDB4</vt:lpwstr>
  </property>
  <property fmtid="{D5CDD505-2E9C-101B-9397-08002B2CF9AE}" pid="3" name="KSOProductBuildVer">
    <vt:lpwstr>1033-11.2.0.10382</vt:lpwstr>
  </property>
</Properties>
</file>