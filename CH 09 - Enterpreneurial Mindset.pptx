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307" r:id="rId4"/>
    <p:sldId id="308" r:id="rId5"/>
    <p:sldId id="327" r:id="rId6"/>
    <p:sldId id="328" r:id="rId7"/>
    <p:sldId id="329" r:id="rId8"/>
    <p:sldId id="330" r:id="rId9"/>
    <p:sldId id="309" r:id="rId10"/>
    <p:sldId id="310" r:id="rId11"/>
    <p:sldId id="331" r:id="rId12"/>
    <p:sldId id="332" r:id="rId13"/>
    <p:sldId id="333" r:id="rId14"/>
    <p:sldId id="311" r:id="rId15"/>
    <p:sldId id="312" r:id="rId16"/>
    <p:sldId id="334" r:id="rId17"/>
    <p:sldId id="335" r:id="rId18"/>
    <p:sldId id="313" r:id="rId19"/>
    <p:sldId id="314" r:id="rId20"/>
    <p:sldId id="315" r:id="rId21"/>
    <p:sldId id="316" r:id="rId22"/>
    <p:sldId id="336" r:id="rId23"/>
    <p:sldId id="337" r:id="rId24"/>
    <p:sldId id="317" r:id="rId25"/>
    <p:sldId id="318" r:id="rId26"/>
    <p:sldId id="338" r:id="rId27"/>
    <p:sldId id="319" r:id="rId28"/>
    <p:sldId id="320" r:id="rId29"/>
    <p:sldId id="321" r:id="rId30"/>
    <p:sldId id="322" r:id="rId31"/>
    <p:sldId id="323" r:id="rId32"/>
    <p:sldId id="324" r:id="rId33"/>
    <p:sldId id="325" r:id="rId34"/>
    <p:sldId id="326" r:id="rId35"/>
    <p:sldId id="306" r:id="rId3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49" autoAdjust="0"/>
  </p:normalViewPr>
  <p:slideViewPr>
    <p:cSldViewPr>
      <p:cViewPr varScale="1">
        <p:scale>
          <a:sx n="52" d="100"/>
          <a:sy n="52" d="100"/>
        </p:scale>
        <p:origin x="11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ADBC366-1DD7-4C57-9444-8551E5EA32BD}" type="datetimeFigureOut">
              <a:rPr lang="en-MY" smtClean="0"/>
              <a:t>28/12/2025</a:t>
            </a:fld>
            <a:endParaRPr lang="en-MY"/>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A66F71E-05C1-4D39-BD30-41713DFE1A0B}" type="slidenum">
              <a:rPr lang="en-MY" smtClean="0"/>
              <a:t>‹#›</a:t>
            </a:fld>
            <a:endParaRPr lang="en-MY"/>
          </a:p>
        </p:txBody>
      </p:sp>
    </p:spTree>
    <p:extLst>
      <p:ext uri="{BB962C8B-B14F-4D97-AF65-F5344CB8AC3E}">
        <p14:creationId xmlns:p14="http://schemas.microsoft.com/office/powerpoint/2010/main" val="319830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DA66F71E-05C1-4D39-BD30-41713DFE1A0B}" type="slidenum">
              <a:rPr lang="en-MY" smtClean="0"/>
              <a:t>2</a:t>
            </a:fld>
            <a:endParaRPr lang="en-MY"/>
          </a:p>
        </p:txBody>
      </p:sp>
    </p:spTree>
    <p:extLst>
      <p:ext uri="{BB962C8B-B14F-4D97-AF65-F5344CB8AC3E}">
        <p14:creationId xmlns:p14="http://schemas.microsoft.com/office/powerpoint/2010/main" val="3488463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DA66F71E-05C1-4D39-BD30-41713DFE1A0B}" type="slidenum">
              <a:rPr lang="en-MY" smtClean="0"/>
              <a:t>4</a:t>
            </a:fld>
            <a:endParaRPr lang="en-MY"/>
          </a:p>
        </p:txBody>
      </p:sp>
    </p:spTree>
    <p:extLst>
      <p:ext uri="{BB962C8B-B14F-4D97-AF65-F5344CB8AC3E}">
        <p14:creationId xmlns:p14="http://schemas.microsoft.com/office/powerpoint/2010/main" val="1756184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F311C-0761-ED8D-3EDA-5876D121E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1EE59-0ABF-EA3F-DF52-09CA64AFA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9B3D2-917A-8555-FE0C-EB86991C0321}"/>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1ECBE7E1-3757-E3DC-4D33-482031D8CE86}"/>
              </a:ext>
            </a:extLst>
          </p:cNvPr>
          <p:cNvSpPr>
            <a:spLocks noGrp="1"/>
          </p:cNvSpPr>
          <p:nvPr>
            <p:ph type="sldNum" sz="quarter" idx="5"/>
          </p:nvPr>
        </p:nvSpPr>
        <p:spPr/>
        <p:txBody>
          <a:bodyPr/>
          <a:lstStyle/>
          <a:p>
            <a:fld id="{DA66F71E-05C1-4D39-BD30-41713DFE1A0B}" type="slidenum">
              <a:rPr lang="en-MY" smtClean="0"/>
              <a:t>5</a:t>
            </a:fld>
            <a:endParaRPr lang="en-MY"/>
          </a:p>
        </p:txBody>
      </p:sp>
    </p:spTree>
    <p:extLst>
      <p:ext uri="{BB962C8B-B14F-4D97-AF65-F5344CB8AC3E}">
        <p14:creationId xmlns:p14="http://schemas.microsoft.com/office/powerpoint/2010/main" val="2276057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3B1C3-0E63-524B-1EFC-23F06D4B1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AA9CE-38AE-EE99-16A4-56957A207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8C33B-F59E-53F8-AD74-790159486290}"/>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6DD06D1C-2365-CA8D-31E3-C11A754F01CF}"/>
              </a:ext>
            </a:extLst>
          </p:cNvPr>
          <p:cNvSpPr>
            <a:spLocks noGrp="1"/>
          </p:cNvSpPr>
          <p:nvPr>
            <p:ph type="sldNum" sz="quarter" idx="5"/>
          </p:nvPr>
        </p:nvSpPr>
        <p:spPr/>
        <p:txBody>
          <a:bodyPr/>
          <a:lstStyle/>
          <a:p>
            <a:fld id="{DA66F71E-05C1-4D39-BD30-41713DFE1A0B}" type="slidenum">
              <a:rPr lang="en-MY" smtClean="0"/>
              <a:t>6</a:t>
            </a:fld>
            <a:endParaRPr lang="en-MY"/>
          </a:p>
        </p:txBody>
      </p:sp>
    </p:spTree>
    <p:extLst>
      <p:ext uri="{BB962C8B-B14F-4D97-AF65-F5344CB8AC3E}">
        <p14:creationId xmlns:p14="http://schemas.microsoft.com/office/powerpoint/2010/main" val="1958268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974A5-323C-E622-8FD1-4F05E2452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21A6F-24AE-4828-7963-2C6B10020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C197A-D916-D191-F47E-F3F33C9C0560}"/>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32793CFF-B850-9C11-882C-77875FE69426}"/>
              </a:ext>
            </a:extLst>
          </p:cNvPr>
          <p:cNvSpPr>
            <a:spLocks noGrp="1"/>
          </p:cNvSpPr>
          <p:nvPr>
            <p:ph type="sldNum" sz="quarter" idx="5"/>
          </p:nvPr>
        </p:nvSpPr>
        <p:spPr/>
        <p:txBody>
          <a:bodyPr/>
          <a:lstStyle/>
          <a:p>
            <a:fld id="{DA66F71E-05C1-4D39-BD30-41713DFE1A0B}" type="slidenum">
              <a:rPr lang="en-MY" smtClean="0"/>
              <a:t>7</a:t>
            </a:fld>
            <a:endParaRPr lang="en-MY"/>
          </a:p>
        </p:txBody>
      </p:sp>
    </p:spTree>
    <p:extLst>
      <p:ext uri="{BB962C8B-B14F-4D97-AF65-F5344CB8AC3E}">
        <p14:creationId xmlns:p14="http://schemas.microsoft.com/office/powerpoint/2010/main" val="3899903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053C-A268-6634-8686-061B2497A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875C1-0D24-3199-B15B-573E0C6F9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6C1C6-4576-0FB2-E74B-4D69AC26E502}"/>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BECE4D4D-6A99-F84C-D855-429339E99C9F}"/>
              </a:ext>
            </a:extLst>
          </p:cNvPr>
          <p:cNvSpPr>
            <a:spLocks noGrp="1"/>
          </p:cNvSpPr>
          <p:nvPr>
            <p:ph type="sldNum" sz="quarter" idx="5"/>
          </p:nvPr>
        </p:nvSpPr>
        <p:spPr/>
        <p:txBody>
          <a:bodyPr/>
          <a:lstStyle/>
          <a:p>
            <a:fld id="{DA66F71E-05C1-4D39-BD30-41713DFE1A0B}" type="slidenum">
              <a:rPr lang="en-MY" smtClean="0"/>
              <a:t>8</a:t>
            </a:fld>
            <a:endParaRPr lang="en-MY"/>
          </a:p>
        </p:txBody>
      </p:sp>
    </p:spTree>
    <p:extLst>
      <p:ext uri="{BB962C8B-B14F-4D97-AF65-F5344CB8AC3E}">
        <p14:creationId xmlns:p14="http://schemas.microsoft.com/office/powerpoint/2010/main" val="963434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Subscription model</a:t>
            </a:r>
            <a:r>
              <a:rPr lang="en-US" dirty="0"/>
              <a:t> – Monthly / yearly SaaS fees</a:t>
            </a:r>
          </a:p>
          <a:p>
            <a:r>
              <a:rPr lang="en-US" b="1" dirty="0"/>
              <a:t>Usage-based pricing</a:t>
            </a:r>
            <a:r>
              <a:rPr lang="en-US" dirty="0"/>
              <a:t> – Per user, per transaction, or per API call</a:t>
            </a:r>
          </a:p>
          <a:p>
            <a:r>
              <a:rPr lang="en-US" b="1" dirty="0"/>
              <a:t>Licensing model</a:t>
            </a:r>
            <a:r>
              <a:rPr lang="en-US" dirty="0"/>
              <a:t> – One-time or periodic </a:t>
            </a:r>
            <a:r>
              <a:rPr lang="en-US" dirty="0" err="1"/>
              <a:t>licence</a:t>
            </a:r>
            <a:r>
              <a:rPr lang="en-US" dirty="0"/>
              <a:t> fees</a:t>
            </a:r>
          </a:p>
          <a:p>
            <a:r>
              <a:rPr lang="en-US" b="1" dirty="0"/>
              <a:t>Freemium model</a:t>
            </a:r>
            <a:r>
              <a:rPr lang="en-US" dirty="0"/>
              <a:t> – Free core features, paid premium services</a:t>
            </a:r>
          </a:p>
          <a:p>
            <a:r>
              <a:rPr lang="en-US" b="1" dirty="0"/>
              <a:t>Enterprise contracts</a:t>
            </a:r>
            <a:r>
              <a:rPr lang="en-US" dirty="0"/>
              <a:t> – </a:t>
            </a:r>
            <a:r>
              <a:rPr lang="en-US" dirty="0" err="1"/>
              <a:t>Customised</a:t>
            </a:r>
            <a:r>
              <a:rPr lang="en-US" dirty="0"/>
              <a:t> solutions with SLA commitments</a:t>
            </a:r>
          </a:p>
          <a:p>
            <a:endParaRPr lang="en-MY" dirty="0"/>
          </a:p>
        </p:txBody>
      </p:sp>
      <p:sp>
        <p:nvSpPr>
          <p:cNvPr id="4" name="Slide Number Placeholder 3"/>
          <p:cNvSpPr>
            <a:spLocks noGrp="1"/>
          </p:cNvSpPr>
          <p:nvPr>
            <p:ph type="sldNum" sz="quarter" idx="5"/>
          </p:nvPr>
        </p:nvSpPr>
        <p:spPr/>
        <p:txBody>
          <a:bodyPr/>
          <a:lstStyle/>
          <a:p>
            <a:fld id="{DA66F71E-05C1-4D39-BD30-41713DFE1A0B}" type="slidenum">
              <a:rPr lang="en-MY" smtClean="0"/>
              <a:t>10</a:t>
            </a:fld>
            <a:endParaRPr lang="en-MY"/>
          </a:p>
        </p:txBody>
      </p:sp>
    </p:spTree>
    <p:extLst>
      <p:ext uri="{BB962C8B-B14F-4D97-AF65-F5344CB8AC3E}">
        <p14:creationId xmlns:p14="http://schemas.microsoft.com/office/powerpoint/2010/main" val="3880404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E97A9-7ABF-4BA9-C172-50F962750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24CEF-C7CC-53A2-D3DF-EEDDC4C9A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DD5EB-2A31-BF1C-11EF-3ADDB785E1E0}"/>
              </a:ext>
            </a:extLst>
          </p:cNvPr>
          <p:cNvSpPr>
            <a:spLocks noGrp="1"/>
          </p:cNvSpPr>
          <p:nvPr>
            <p:ph type="body" idx="1"/>
          </p:nvPr>
        </p:nvSpPr>
        <p:spPr/>
        <p:txBody>
          <a:bodyPr/>
          <a:lstStyle/>
          <a:p>
            <a:r>
              <a:rPr lang="en-US" b="1" dirty="0"/>
              <a:t>Subscription model</a:t>
            </a:r>
            <a:r>
              <a:rPr lang="en-US" dirty="0"/>
              <a:t> – Monthly / yearly SaaS fees</a:t>
            </a:r>
          </a:p>
          <a:p>
            <a:r>
              <a:rPr lang="en-US" b="1" dirty="0"/>
              <a:t>Usage-based pricing</a:t>
            </a:r>
            <a:r>
              <a:rPr lang="en-US" dirty="0"/>
              <a:t> – Per user, per transaction, or per API call</a:t>
            </a:r>
          </a:p>
          <a:p>
            <a:r>
              <a:rPr lang="en-US" b="1" dirty="0"/>
              <a:t>Licensing model</a:t>
            </a:r>
            <a:r>
              <a:rPr lang="en-US" dirty="0"/>
              <a:t> – One-time or periodic </a:t>
            </a:r>
            <a:r>
              <a:rPr lang="en-US" dirty="0" err="1"/>
              <a:t>licence</a:t>
            </a:r>
            <a:r>
              <a:rPr lang="en-US" dirty="0"/>
              <a:t> fees</a:t>
            </a:r>
          </a:p>
          <a:p>
            <a:r>
              <a:rPr lang="en-US" b="1" dirty="0"/>
              <a:t>Freemium model</a:t>
            </a:r>
            <a:r>
              <a:rPr lang="en-US" dirty="0"/>
              <a:t> – Free core features, paid premium services</a:t>
            </a:r>
          </a:p>
          <a:p>
            <a:r>
              <a:rPr lang="en-US" b="1" dirty="0"/>
              <a:t>Enterprise contracts</a:t>
            </a:r>
            <a:r>
              <a:rPr lang="en-US" dirty="0"/>
              <a:t> – </a:t>
            </a:r>
            <a:r>
              <a:rPr lang="en-US" dirty="0" err="1"/>
              <a:t>Customised</a:t>
            </a:r>
            <a:r>
              <a:rPr lang="en-US" dirty="0"/>
              <a:t> solutions with SLA commitments</a:t>
            </a:r>
          </a:p>
          <a:p>
            <a:endParaRPr lang="en-MY" dirty="0"/>
          </a:p>
        </p:txBody>
      </p:sp>
      <p:sp>
        <p:nvSpPr>
          <p:cNvPr id="4" name="Slide Number Placeholder 3">
            <a:extLst>
              <a:ext uri="{FF2B5EF4-FFF2-40B4-BE49-F238E27FC236}">
                <a16:creationId xmlns:a16="http://schemas.microsoft.com/office/drawing/2014/main" id="{C8D1977A-80D1-E018-A117-30DDB9EE2986}"/>
              </a:ext>
            </a:extLst>
          </p:cNvPr>
          <p:cNvSpPr>
            <a:spLocks noGrp="1"/>
          </p:cNvSpPr>
          <p:nvPr>
            <p:ph type="sldNum" sz="quarter" idx="5"/>
          </p:nvPr>
        </p:nvSpPr>
        <p:spPr/>
        <p:txBody>
          <a:bodyPr/>
          <a:lstStyle/>
          <a:p>
            <a:fld id="{DA66F71E-05C1-4D39-BD30-41713DFE1A0B}" type="slidenum">
              <a:rPr lang="en-MY" smtClean="0"/>
              <a:t>11</a:t>
            </a:fld>
            <a:endParaRPr lang="en-MY"/>
          </a:p>
        </p:txBody>
      </p:sp>
    </p:spTree>
    <p:extLst>
      <p:ext uri="{BB962C8B-B14F-4D97-AF65-F5344CB8AC3E}">
        <p14:creationId xmlns:p14="http://schemas.microsoft.com/office/powerpoint/2010/main" val="1160880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C838-0EB4-357A-65C0-0C7A2B808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8F559-D4CF-FFD2-8C03-40670F87A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5EDA1-AF16-5B86-A9D2-C7EB6F4BDD63}"/>
              </a:ext>
            </a:extLst>
          </p:cNvPr>
          <p:cNvSpPr>
            <a:spLocks noGrp="1"/>
          </p:cNvSpPr>
          <p:nvPr>
            <p:ph type="body" idx="1"/>
          </p:nvPr>
        </p:nvSpPr>
        <p:spPr/>
        <p:txBody>
          <a:bodyPr/>
          <a:lstStyle/>
          <a:p>
            <a:r>
              <a:rPr lang="en-US" b="1" dirty="0"/>
              <a:t>Subscription model</a:t>
            </a:r>
            <a:r>
              <a:rPr lang="en-US" dirty="0"/>
              <a:t> – Monthly / yearly SaaS fees</a:t>
            </a:r>
          </a:p>
          <a:p>
            <a:r>
              <a:rPr lang="en-US" b="1" dirty="0"/>
              <a:t>Usage-based pricing</a:t>
            </a:r>
            <a:r>
              <a:rPr lang="en-US" dirty="0"/>
              <a:t> – Per user, per transaction, or per API call</a:t>
            </a:r>
          </a:p>
          <a:p>
            <a:r>
              <a:rPr lang="en-US" b="1" dirty="0"/>
              <a:t>Licensing model</a:t>
            </a:r>
            <a:r>
              <a:rPr lang="en-US" dirty="0"/>
              <a:t> – One-time or periodic </a:t>
            </a:r>
            <a:r>
              <a:rPr lang="en-US" dirty="0" err="1"/>
              <a:t>licence</a:t>
            </a:r>
            <a:r>
              <a:rPr lang="en-US" dirty="0"/>
              <a:t> fees</a:t>
            </a:r>
          </a:p>
          <a:p>
            <a:r>
              <a:rPr lang="en-US" b="1" dirty="0"/>
              <a:t>Freemium model</a:t>
            </a:r>
            <a:r>
              <a:rPr lang="en-US" dirty="0"/>
              <a:t> – Free core features, paid premium services</a:t>
            </a:r>
          </a:p>
          <a:p>
            <a:r>
              <a:rPr lang="en-US" b="1" dirty="0"/>
              <a:t>Enterprise contracts</a:t>
            </a:r>
            <a:r>
              <a:rPr lang="en-US" dirty="0"/>
              <a:t> – </a:t>
            </a:r>
            <a:r>
              <a:rPr lang="en-US" dirty="0" err="1"/>
              <a:t>Customised</a:t>
            </a:r>
            <a:r>
              <a:rPr lang="en-US" dirty="0"/>
              <a:t> solutions with SLA commitments</a:t>
            </a:r>
          </a:p>
          <a:p>
            <a:endParaRPr lang="en-MY" dirty="0"/>
          </a:p>
        </p:txBody>
      </p:sp>
      <p:sp>
        <p:nvSpPr>
          <p:cNvPr id="4" name="Slide Number Placeholder 3">
            <a:extLst>
              <a:ext uri="{FF2B5EF4-FFF2-40B4-BE49-F238E27FC236}">
                <a16:creationId xmlns:a16="http://schemas.microsoft.com/office/drawing/2014/main" id="{B9999ED0-E4FD-52C5-398B-55040A9A1238}"/>
              </a:ext>
            </a:extLst>
          </p:cNvPr>
          <p:cNvSpPr>
            <a:spLocks noGrp="1"/>
          </p:cNvSpPr>
          <p:nvPr>
            <p:ph type="sldNum" sz="quarter" idx="5"/>
          </p:nvPr>
        </p:nvSpPr>
        <p:spPr/>
        <p:txBody>
          <a:bodyPr/>
          <a:lstStyle/>
          <a:p>
            <a:fld id="{DA66F71E-05C1-4D39-BD30-41713DFE1A0B}" type="slidenum">
              <a:rPr lang="en-MY" smtClean="0"/>
              <a:t>12</a:t>
            </a:fld>
            <a:endParaRPr lang="en-MY"/>
          </a:p>
        </p:txBody>
      </p:sp>
    </p:spTree>
    <p:extLst>
      <p:ext uri="{BB962C8B-B14F-4D97-AF65-F5344CB8AC3E}">
        <p14:creationId xmlns:p14="http://schemas.microsoft.com/office/powerpoint/2010/main" val="2790141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E3A37-A06F-E250-B216-020D65EF2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F0285-022D-D39A-003D-9BBB94852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59F3-BB96-700B-5F35-CC98DCB4A557}"/>
              </a:ext>
            </a:extLst>
          </p:cNvPr>
          <p:cNvSpPr>
            <a:spLocks noGrp="1"/>
          </p:cNvSpPr>
          <p:nvPr>
            <p:ph type="body" idx="1"/>
          </p:nvPr>
        </p:nvSpPr>
        <p:spPr/>
        <p:txBody>
          <a:bodyPr/>
          <a:lstStyle/>
          <a:p>
            <a:r>
              <a:rPr lang="en-US" b="1" dirty="0"/>
              <a:t>Subscription model</a:t>
            </a:r>
            <a:r>
              <a:rPr lang="en-US" dirty="0"/>
              <a:t> – Monthly / yearly SaaS fees</a:t>
            </a:r>
          </a:p>
          <a:p>
            <a:r>
              <a:rPr lang="en-US" b="1" dirty="0"/>
              <a:t>Usage-based pricing</a:t>
            </a:r>
            <a:r>
              <a:rPr lang="en-US" dirty="0"/>
              <a:t> – Per user, per transaction, or per API call</a:t>
            </a:r>
          </a:p>
          <a:p>
            <a:r>
              <a:rPr lang="en-US" b="1" dirty="0"/>
              <a:t>Licensing model</a:t>
            </a:r>
            <a:r>
              <a:rPr lang="en-US" dirty="0"/>
              <a:t> – One-time or periodic </a:t>
            </a:r>
            <a:r>
              <a:rPr lang="en-US" dirty="0" err="1"/>
              <a:t>licence</a:t>
            </a:r>
            <a:r>
              <a:rPr lang="en-US" dirty="0"/>
              <a:t> fees</a:t>
            </a:r>
          </a:p>
          <a:p>
            <a:r>
              <a:rPr lang="en-US" b="1" dirty="0"/>
              <a:t>Freemium model</a:t>
            </a:r>
            <a:r>
              <a:rPr lang="en-US" dirty="0"/>
              <a:t> – Free core features, paid premium services</a:t>
            </a:r>
          </a:p>
          <a:p>
            <a:r>
              <a:rPr lang="en-US" b="1" dirty="0"/>
              <a:t>Enterprise contracts</a:t>
            </a:r>
            <a:r>
              <a:rPr lang="en-US" dirty="0"/>
              <a:t> – </a:t>
            </a:r>
            <a:r>
              <a:rPr lang="en-US" dirty="0" err="1"/>
              <a:t>Customised</a:t>
            </a:r>
            <a:r>
              <a:rPr lang="en-US" dirty="0"/>
              <a:t> solutions with SLA commitments</a:t>
            </a:r>
          </a:p>
          <a:p>
            <a:endParaRPr lang="en-MY" dirty="0"/>
          </a:p>
        </p:txBody>
      </p:sp>
      <p:sp>
        <p:nvSpPr>
          <p:cNvPr id="4" name="Slide Number Placeholder 3">
            <a:extLst>
              <a:ext uri="{FF2B5EF4-FFF2-40B4-BE49-F238E27FC236}">
                <a16:creationId xmlns:a16="http://schemas.microsoft.com/office/drawing/2014/main" id="{7E29BF1B-4FB0-713E-387F-373105BE900B}"/>
              </a:ext>
            </a:extLst>
          </p:cNvPr>
          <p:cNvSpPr>
            <a:spLocks noGrp="1"/>
          </p:cNvSpPr>
          <p:nvPr>
            <p:ph type="sldNum" sz="quarter" idx="5"/>
          </p:nvPr>
        </p:nvSpPr>
        <p:spPr/>
        <p:txBody>
          <a:bodyPr/>
          <a:lstStyle/>
          <a:p>
            <a:fld id="{DA66F71E-05C1-4D39-BD30-41713DFE1A0B}" type="slidenum">
              <a:rPr lang="en-MY" smtClean="0"/>
              <a:t>13</a:t>
            </a:fld>
            <a:endParaRPr lang="en-MY"/>
          </a:p>
        </p:txBody>
      </p:sp>
    </p:spTree>
    <p:extLst>
      <p:ext uri="{BB962C8B-B14F-4D97-AF65-F5344CB8AC3E}">
        <p14:creationId xmlns:p14="http://schemas.microsoft.com/office/powerpoint/2010/main" val="3883032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rgbClr val="3E3E3E"/>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500" b="1" i="0">
                <a:solidFill>
                  <a:srgbClr val="3E3E3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3E3E3E"/>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500" b="1" i="0">
                <a:solidFill>
                  <a:srgbClr val="3E3E3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3E3E3E"/>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7" name="Holder 7"/>
          <p:cNvSpPr>
            <a:spLocks noGrp="1"/>
          </p:cNvSpPr>
          <p:nvPr>
            <p:ph type="sldNum" sz="quarter" idx="7"/>
          </p:nvPr>
        </p:nvSpPr>
        <p:spPr/>
        <p:txBody>
          <a:bodyPr lIns="0" tIns="0" rIns="0" bIns="0"/>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1F1F1">
              <a:alpha val="32548"/>
            </a:srgbClr>
          </a:solidFill>
        </p:spPr>
        <p:txBody>
          <a:bodyPr wrap="square" lIns="0" tIns="0" rIns="0" bIns="0" rtlCol="0"/>
          <a:lstStyle/>
          <a:p>
            <a:endParaRPr/>
          </a:p>
        </p:txBody>
      </p:sp>
      <p:sp>
        <p:nvSpPr>
          <p:cNvPr id="17" name="bg object 17"/>
          <p:cNvSpPr/>
          <p:nvPr/>
        </p:nvSpPr>
        <p:spPr>
          <a:xfrm>
            <a:off x="628225" y="6484103"/>
            <a:ext cx="3185795" cy="212725"/>
          </a:xfrm>
          <a:custGeom>
            <a:avLst/>
            <a:gdLst/>
            <a:ahLst/>
            <a:cxnLst/>
            <a:rect l="l" t="t" r="r" b="b"/>
            <a:pathLst>
              <a:path w="3185795" h="212725">
                <a:moveTo>
                  <a:pt x="3092394" y="212675"/>
                </a:moveTo>
                <a:lnTo>
                  <a:pt x="93349" y="212675"/>
                </a:lnTo>
                <a:lnTo>
                  <a:pt x="57013" y="205340"/>
                </a:lnTo>
                <a:lnTo>
                  <a:pt x="27341" y="185334"/>
                </a:lnTo>
                <a:lnTo>
                  <a:pt x="7335" y="155662"/>
                </a:lnTo>
                <a:lnTo>
                  <a:pt x="0" y="119325"/>
                </a:lnTo>
                <a:lnTo>
                  <a:pt x="0" y="93349"/>
                </a:lnTo>
                <a:lnTo>
                  <a:pt x="7212" y="57626"/>
                </a:lnTo>
                <a:lnTo>
                  <a:pt x="7335" y="57013"/>
                </a:lnTo>
                <a:lnTo>
                  <a:pt x="27341" y="27341"/>
                </a:lnTo>
                <a:lnTo>
                  <a:pt x="57013" y="7335"/>
                </a:lnTo>
                <a:lnTo>
                  <a:pt x="93349" y="0"/>
                </a:lnTo>
                <a:lnTo>
                  <a:pt x="3092394" y="0"/>
                </a:lnTo>
                <a:lnTo>
                  <a:pt x="3144184" y="15683"/>
                </a:lnTo>
                <a:lnTo>
                  <a:pt x="3178638" y="57626"/>
                </a:lnTo>
                <a:lnTo>
                  <a:pt x="3185743" y="93349"/>
                </a:lnTo>
                <a:lnTo>
                  <a:pt x="3185743" y="119325"/>
                </a:lnTo>
                <a:lnTo>
                  <a:pt x="3178408" y="155662"/>
                </a:lnTo>
                <a:lnTo>
                  <a:pt x="3158402" y="185334"/>
                </a:lnTo>
                <a:lnTo>
                  <a:pt x="3128730" y="205340"/>
                </a:lnTo>
                <a:lnTo>
                  <a:pt x="3092394" y="212675"/>
                </a:lnTo>
                <a:close/>
              </a:path>
            </a:pathLst>
          </a:custGeom>
          <a:solidFill>
            <a:srgbClr val="FFFFFF"/>
          </a:solidFill>
        </p:spPr>
        <p:txBody>
          <a:bodyPr wrap="square" lIns="0" tIns="0" rIns="0" bIns="0" rtlCol="0"/>
          <a:lstStyle/>
          <a:p>
            <a:endParaRPr/>
          </a:p>
        </p:txBody>
      </p:sp>
      <p:sp>
        <p:nvSpPr>
          <p:cNvPr id="18" name="bg object 18"/>
          <p:cNvSpPr/>
          <p:nvPr/>
        </p:nvSpPr>
        <p:spPr>
          <a:xfrm>
            <a:off x="0" y="6580450"/>
            <a:ext cx="12192000" cy="0"/>
          </a:xfrm>
          <a:custGeom>
            <a:avLst/>
            <a:gdLst/>
            <a:ahLst/>
            <a:cxnLst/>
            <a:rect l="l" t="t" r="r" b="b"/>
            <a:pathLst>
              <a:path w="12192000">
                <a:moveTo>
                  <a:pt x="0" y="0"/>
                </a:moveTo>
                <a:lnTo>
                  <a:pt x="12191999" y="0"/>
                </a:lnTo>
              </a:path>
            </a:pathLst>
          </a:custGeom>
          <a:ln w="19049">
            <a:solidFill>
              <a:srgbClr val="FFFFFF"/>
            </a:solidFill>
          </a:ln>
        </p:spPr>
        <p:txBody>
          <a:bodyPr wrap="square" lIns="0" tIns="0" rIns="0" bIns="0" rtlCol="0"/>
          <a:lstStyle/>
          <a:p>
            <a:endParaRPr/>
          </a:p>
        </p:txBody>
      </p:sp>
      <p:sp>
        <p:nvSpPr>
          <p:cNvPr id="19" name="bg object 19"/>
          <p:cNvSpPr/>
          <p:nvPr/>
        </p:nvSpPr>
        <p:spPr>
          <a:xfrm>
            <a:off x="10637134" y="6470465"/>
            <a:ext cx="756920" cy="260350"/>
          </a:xfrm>
          <a:custGeom>
            <a:avLst/>
            <a:gdLst/>
            <a:ahLst/>
            <a:cxnLst/>
            <a:rect l="l" t="t" r="r" b="b"/>
            <a:pathLst>
              <a:path w="756920" h="260350">
                <a:moveTo>
                  <a:pt x="642220" y="260177"/>
                </a:moveTo>
                <a:lnTo>
                  <a:pt x="114198" y="260177"/>
                </a:lnTo>
                <a:lnTo>
                  <a:pt x="69747" y="251203"/>
                </a:lnTo>
                <a:lnTo>
                  <a:pt x="33447" y="226729"/>
                </a:lnTo>
                <a:lnTo>
                  <a:pt x="8974" y="190429"/>
                </a:lnTo>
                <a:lnTo>
                  <a:pt x="0" y="145977"/>
                </a:lnTo>
                <a:lnTo>
                  <a:pt x="0" y="114199"/>
                </a:lnTo>
                <a:lnTo>
                  <a:pt x="8974" y="69748"/>
                </a:lnTo>
                <a:lnTo>
                  <a:pt x="33447" y="33448"/>
                </a:lnTo>
                <a:lnTo>
                  <a:pt x="69747" y="8974"/>
                </a:lnTo>
                <a:lnTo>
                  <a:pt x="114198" y="0"/>
                </a:lnTo>
                <a:lnTo>
                  <a:pt x="642220" y="0"/>
                </a:lnTo>
                <a:lnTo>
                  <a:pt x="685923" y="8693"/>
                </a:lnTo>
                <a:lnTo>
                  <a:pt x="722972" y="33448"/>
                </a:lnTo>
                <a:lnTo>
                  <a:pt x="747727" y="70497"/>
                </a:lnTo>
                <a:lnTo>
                  <a:pt x="756420" y="114199"/>
                </a:lnTo>
                <a:lnTo>
                  <a:pt x="756420" y="145977"/>
                </a:lnTo>
                <a:lnTo>
                  <a:pt x="747446" y="190429"/>
                </a:lnTo>
                <a:lnTo>
                  <a:pt x="722972" y="226729"/>
                </a:lnTo>
                <a:lnTo>
                  <a:pt x="686672" y="251203"/>
                </a:lnTo>
                <a:lnTo>
                  <a:pt x="642220" y="260177"/>
                </a:lnTo>
                <a:close/>
              </a:path>
            </a:pathLst>
          </a:custGeom>
          <a:solidFill>
            <a:srgbClr val="FFFFFF"/>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838200" y="6513174"/>
            <a:ext cx="2824371" cy="158261"/>
          </a:xfrm>
          <a:prstGeom prst="rect">
            <a:avLst/>
          </a:prstGeom>
        </p:spPr>
      </p:pic>
      <p:sp>
        <p:nvSpPr>
          <p:cNvPr id="21" name="bg object 21"/>
          <p:cNvSpPr/>
          <p:nvPr/>
        </p:nvSpPr>
        <p:spPr>
          <a:xfrm>
            <a:off x="10328961" y="1"/>
            <a:ext cx="1860550" cy="780415"/>
          </a:xfrm>
          <a:custGeom>
            <a:avLst/>
            <a:gdLst/>
            <a:ahLst/>
            <a:cxnLst/>
            <a:rect l="l" t="t" r="r" b="b"/>
            <a:pathLst>
              <a:path w="1860550" h="780415">
                <a:moveTo>
                  <a:pt x="1860467" y="780221"/>
                </a:moveTo>
                <a:lnTo>
                  <a:pt x="521804" y="780221"/>
                </a:lnTo>
                <a:lnTo>
                  <a:pt x="0" y="0"/>
                </a:lnTo>
                <a:lnTo>
                  <a:pt x="1860467" y="0"/>
                </a:lnTo>
                <a:lnTo>
                  <a:pt x="1860467" y="780221"/>
                </a:lnTo>
                <a:close/>
              </a:path>
            </a:pathLst>
          </a:custGeom>
          <a:solidFill>
            <a:srgbClr val="FFFFFF"/>
          </a:solidFill>
        </p:spPr>
        <p:txBody>
          <a:bodyPr wrap="square" lIns="0" tIns="0" rIns="0" bIns="0" rtlCol="0"/>
          <a:lstStyle/>
          <a:p>
            <a:endParaRPr/>
          </a:p>
        </p:txBody>
      </p:sp>
      <p:pic>
        <p:nvPicPr>
          <p:cNvPr id="22" name="bg object 22"/>
          <p:cNvPicPr/>
          <p:nvPr/>
        </p:nvPicPr>
        <p:blipFill>
          <a:blip r:embed="rId3" cstate="print"/>
          <a:stretch>
            <a:fillRect/>
          </a:stretch>
        </p:blipFill>
        <p:spPr>
          <a:xfrm>
            <a:off x="10742685" y="161364"/>
            <a:ext cx="1344352" cy="454145"/>
          </a:xfrm>
          <a:prstGeom prst="rect">
            <a:avLst/>
          </a:prstGeom>
        </p:spPr>
      </p:pic>
      <p:sp>
        <p:nvSpPr>
          <p:cNvPr id="23" name="bg object 23"/>
          <p:cNvSpPr/>
          <p:nvPr/>
        </p:nvSpPr>
        <p:spPr>
          <a:xfrm>
            <a:off x="0" y="-1"/>
            <a:ext cx="8419465" cy="6858000"/>
          </a:xfrm>
          <a:custGeom>
            <a:avLst/>
            <a:gdLst/>
            <a:ahLst/>
            <a:cxnLst/>
            <a:rect l="l" t="t" r="r" b="b"/>
            <a:pathLst>
              <a:path w="8419465" h="6858000">
                <a:moveTo>
                  <a:pt x="6095999" y="6858000"/>
                </a:moveTo>
                <a:lnTo>
                  <a:pt x="0" y="6858000"/>
                </a:lnTo>
                <a:lnTo>
                  <a:pt x="0" y="0"/>
                </a:lnTo>
                <a:lnTo>
                  <a:pt x="8418870" y="0"/>
                </a:lnTo>
                <a:lnTo>
                  <a:pt x="6095999" y="6858000"/>
                </a:lnTo>
                <a:close/>
              </a:path>
            </a:pathLst>
          </a:custGeom>
          <a:solidFill>
            <a:srgbClr val="6C1C35"/>
          </a:solidFill>
        </p:spPr>
        <p:txBody>
          <a:bodyPr wrap="square" lIns="0" tIns="0" rIns="0" bIns="0" rtlCol="0"/>
          <a:lstStyle/>
          <a:p>
            <a:endParaRPr/>
          </a:p>
        </p:txBody>
      </p:sp>
      <p:pic>
        <p:nvPicPr>
          <p:cNvPr id="24" name="bg object 24"/>
          <p:cNvPicPr/>
          <p:nvPr/>
        </p:nvPicPr>
        <p:blipFill>
          <a:blip r:embed="rId2" cstate="print"/>
          <a:stretch>
            <a:fillRect/>
          </a:stretch>
        </p:blipFill>
        <p:spPr>
          <a:xfrm>
            <a:off x="838200" y="6513174"/>
            <a:ext cx="2824371" cy="158261"/>
          </a:xfrm>
          <a:prstGeom prst="rect">
            <a:avLst/>
          </a:prstGeom>
        </p:spPr>
      </p:pic>
      <p:sp>
        <p:nvSpPr>
          <p:cNvPr id="2" name="Holder 2"/>
          <p:cNvSpPr>
            <a:spLocks noGrp="1"/>
          </p:cNvSpPr>
          <p:nvPr>
            <p:ph type="title"/>
          </p:nvPr>
        </p:nvSpPr>
        <p:spPr/>
        <p:txBody>
          <a:bodyPr lIns="0" tIns="0" rIns="0" bIns="0"/>
          <a:lstStyle>
            <a:lvl1pPr>
              <a:defRPr sz="3600" b="1" i="0">
                <a:solidFill>
                  <a:srgbClr val="3E3E3E"/>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5" name="Holder 5"/>
          <p:cNvSpPr>
            <a:spLocks noGrp="1"/>
          </p:cNvSpPr>
          <p:nvPr>
            <p:ph type="sldNum" sz="quarter" idx="7"/>
          </p:nvPr>
        </p:nvSpPr>
        <p:spPr/>
        <p:txBody>
          <a:bodyPr lIns="0" tIns="0" rIns="0" bIns="0"/>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1F1F1">
              <a:alpha val="32548"/>
            </a:srgbClr>
          </a:solidFill>
        </p:spPr>
        <p:txBody>
          <a:bodyPr wrap="square" lIns="0" tIns="0" rIns="0" bIns="0" rtlCol="0"/>
          <a:lstStyle/>
          <a:p>
            <a:endParaRPr/>
          </a:p>
        </p:txBody>
      </p:sp>
      <p:sp>
        <p:nvSpPr>
          <p:cNvPr id="17" name="bg object 17"/>
          <p:cNvSpPr/>
          <p:nvPr/>
        </p:nvSpPr>
        <p:spPr>
          <a:xfrm>
            <a:off x="628225" y="6484103"/>
            <a:ext cx="3185795" cy="212725"/>
          </a:xfrm>
          <a:custGeom>
            <a:avLst/>
            <a:gdLst/>
            <a:ahLst/>
            <a:cxnLst/>
            <a:rect l="l" t="t" r="r" b="b"/>
            <a:pathLst>
              <a:path w="3185795" h="212725">
                <a:moveTo>
                  <a:pt x="3092394" y="212675"/>
                </a:moveTo>
                <a:lnTo>
                  <a:pt x="93349" y="212675"/>
                </a:lnTo>
                <a:lnTo>
                  <a:pt x="57013" y="205340"/>
                </a:lnTo>
                <a:lnTo>
                  <a:pt x="27341" y="185334"/>
                </a:lnTo>
                <a:lnTo>
                  <a:pt x="7335" y="155662"/>
                </a:lnTo>
                <a:lnTo>
                  <a:pt x="0" y="119325"/>
                </a:lnTo>
                <a:lnTo>
                  <a:pt x="0" y="93349"/>
                </a:lnTo>
                <a:lnTo>
                  <a:pt x="7212" y="57626"/>
                </a:lnTo>
                <a:lnTo>
                  <a:pt x="7335" y="57013"/>
                </a:lnTo>
                <a:lnTo>
                  <a:pt x="27341" y="27341"/>
                </a:lnTo>
                <a:lnTo>
                  <a:pt x="57013" y="7335"/>
                </a:lnTo>
                <a:lnTo>
                  <a:pt x="93349" y="0"/>
                </a:lnTo>
                <a:lnTo>
                  <a:pt x="3092394" y="0"/>
                </a:lnTo>
                <a:lnTo>
                  <a:pt x="3144184" y="15683"/>
                </a:lnTo>
                <a:lnTo>
                  <a:pt x="3178638" y="57626"/>
                </a:lnTo>
                <a:lnTo>
                  <a:pt x="3185743" y="93349"/>
                </a:lnTo>
                <a:lnTo>
                  <a:pt x="3185743" y="119325"/>
                </a:lnTo>
                <a:lnTo>
                  <a:pt x="3178408" y="155662"/>
                </a:lnTo>
                <a:lnTo>
                  <a:pt x="3158402" y="185334"/>
                </a:lnTo>
                <a:lnTo>
                  <a:pt x="3128730" y="205340"/>
                </a:lnTo>
                <a:lnTo>
                  <a:pt x="3092394" y="212675"/>
                </a:lnTo>
                <a:close/>
              </a:path>
            </a:pathLst>
          </a:custGeom>
          <a:solidFill>
            <a:srgbClr val="FFFFFF"/>
          </a:solidFill>
        </p:spPr>
        <p:txBody>
          <a:bodyPr wrap="square" lIns="0" tIns="0" rIns="0" bIns="0" rtlCol="0"/>
          <a:lstStyle/>
          <a:p>
            <a:endParaRPr/>
          </a:p>
        </p:txBody>
      </p:sp>
      <p:sp>
        <p:nvSpPr>
          <p:cNvPr id="18" name="bg object 18"/>
          <p:cNvSpPr/>
          <p:nvPr/>
        </p:nvSpPr>
        <p:spPr>
          <a:xfrm>
            <a:off x="0" y="6580450"/>
            <a:ext cx="12192000" cy="0"/>
          </a:xfrm>
          <a:custGeom>
            <a:avLst/>
            <a:gdLst/>
            <a:ahLst/>
            <a:cxnLst/>
            <a:rect l="l" t="t" r="r" b="b"/>
            <a:pathLst>
              <a:path w="12192000">
                <a:moveTo>
                  <a:pt x="0" y="0"/>
                </a:moveTo>
                <a:lnTo>
                  <a:pt x="12191999" y="0"/>
                </a:lnTo>
              </a:path>
            </a:pathLst>
          </a:custGeom>
          <a:ln w="19049">
            <a:solidFill>
              <a:srgbClr val="FFFFFF"/>
            </a:solidFill>
          </a:ln>
        </p:spPr>
        <p:txBody>
          <a:bodyPr wrap="square" lIns="0" tIns="0" rIns="0" bIns="0" rtlCol="0"/>
          <a:lstStyle/>
          <a:p>
            <a:endParaRPr/>
          </a:p>
        </p:txBody>
      </p:sp>
      <p:sp>
        <p:nvSpPr>
          <p:cNvPr id="19" name="bg object 19"/>
          <p:cNvSpPr/>
          <p:nvPr/>
        </p:nvSpPr>
        <p:spPr>
          <a:xfrm>
            <a:off x="10637134" y="6470465"/>
            <a:ext cx="756920" cy="260350"/>
          </a:xfrm>
          <a:custGeom>
            <a:avLst/>
            <a:gdLst/>
            <a:ahLst/>
            <a:cxnLst/>
            <a:rect l="l" t="t" r="r" b="b"/>
            <a:pathLst>
              <a:path w="756920" h="260350">
                <a:moveTo>
                  <a:pt x="642220" y="260177"/>
                </a:moveTo>
                <a:lnTo>
                  <a:pt x="114198" y="260177"/>
                </a:lnTo>
                <a:lnTo>
                  <a:pt x="69747" y="251203"/>
                </a:lnTo>
                <a:lnTo>
                  <a:pt x="33447" y="226729"/>
                </a:lnTo>
                <a:lnTo>
                  <a:pt x="8974" y="190429"/>
                </a:lnTo>
                <a:lnTo>
                  <a:pt x="0" y="145977"/>
                </a:lnTo>
                <a:lnTo>
                  <a:pt x="0" y="114199"/>
                </a:lnTo>
                <a:lnTo>
                  <a:pt x="8974" y="69748"/>
                </a:lnTo>
                <a:lnTo>
                  <a:pt x="33447" y="33448"/>
                </a:lnTo>
                <a:lnTo>
                  <a:pt x="69747" y="8974"/>
                </a:lnTo>
                <a:lnTo>
                  <a:pt x="114198" y="0"/>
                </a:lnTo>
                <a:lnTo>
                  <a:pt x="642220" y="0"/>
                </a:lnTo>
                <a:lnTo>
                  <a:pt x="685923" y="8693"/>
                </a:lnTo>
                <a:lnTo>
                  <a:pt x="722972" y="33448"/>
                </a:lnTo>
                <a:lnTo>
                  <a:pt x="747727" y="70497"/>
                </a:lnTo>
                <a:lnTo>
                  <a:pt x="756420" y="114199"/>
                </a:lnTo>
                <a:lnTo>
                  <a:pt x="756420" y="145977"/>
                </a:lnTo>
                <a:lnTo>
                  <a:pt x="747446" y="190429"/>
                </a:lnTo>
                <a:lnTo>
                  <a:pt x="722972" y="226729"/>
                </a:lnTo>
                <a:lnTo>
                  <a:pt x="686672" y="251203"/>
                </a:lnTo>
                <a:lnTo>
                  <a:pt x="642220" y="260177"/>
                </a:lnTo>
                <a:close/>
              </a:path>
            </a:pathLst>
          </a:custGeom>
          <a:solidFill>
            <a:srgbClr val="FFFFFF"/>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838200" y="6513174"/>
            <a:ext cx="2824371" cy="158261"/>
          </a:xfrm>
          <a:prstGeom prst="rect">
            <a:avLst/>
          </a:prstGeom>
        </p:spPr>
      </p:pic>
      <p:sp>
        <p:nvSpPr>
          <p:cNvPr id="21" name="bg object 21"/>
          <p:cNvSpPr/>
          <p:nvPr/>
        </p:nvSpPr>
        <p:spPr>
          <a:xfrm>
            <a:off x="10328961" y="1"/>
            <a:ext cx="1860550" cy="780415"/>
          </a:xfrm>
          <a:custGeom>
            <a:avLst/>
            <a:gdLst/>
            <a:ahLst/>
            <a:cxnLst/>
            <a:rect l="l" t="t" r="r" b="b"/>
            <a:pathLst>
              <a:path w="1860550" h="780415">
                <a:moveTo>
                  <a:pt x="1860467" y="780221"/>
                </a:moveTo>
                <a:lnTo>
                  <a:pt x="521804" y="780221"/>
                </a:lnTo>
                <a:lnTo>
                  <a:pt x="0" y="0"/>
                </a:lnTo>
                <a:lnTo>
                  <a:pt x="1860467" y="0"/>
                </a:lnTo>
                <a:lnTo>
                  <a:pt x="1860467" y="780221"/>
                </a:lnTo>
                <a:close/>
              </a:path>
            </a:pathLst>
          </a:custGeom>
          <a:solidFill>
            <a:srgbClr val="FFFFFF"/>
          </a:solidFill>
        </p:spPr>
        <p:txBody>
          <a:bodyPr wrap="square" lIns="0" tIns="0" rIns="0" bIns="0" rtlCol="0"/>
          <a:lstStyle/>
          <a:p>
            <a:endParaRPr/>
          </a:p>
        </p:txBody>
      </p:sp>
      <p:pic>
        <p:nvPicPr>
          <p:cNvPr id="22" name="bg object 22"/>
          <p:cNvPicPr/>
          <p:nvPr/>
        </p:nvPicPr>
        <p:blipFill>
          <a:blip r:embed="rId3" cstate="print"/>
          <a:stretch>
            <a:fillRect/>
          </a:stretch>
        </p:blipFill>
        <p:spPr>
          <a:xfrm>
            <a:off x="10742685" y="161364"/>
            <a:ext cx="1344352" cy="454145"/>
          </a:xfrm>
          <a:prstGeom prst="rect">
            <a:avLst/>
          </a:prstGeom>
        </p:spPr>
      </p:pic>
      <p:sp>
        <p:nvSpPr>
          <p:cNvPr id="23" name="bg object 23"/>
          <p:cNvSpPr/>
          <p:nvPr/>
        </p:nvSpPr>
        <p:spPr>
          <a:xfrm>
            <a:off x="0" y="-1"/>
            <a:ext cx="8419465" cy="6858000"/>
          </a:xfrm>
          <a:custGeom>
            <a:avLst/>
            <a:gdLst/>
            <a:ahLst/>
            <a:cxnLst/>
            <a:rect l="l" t="t" r="r" b="b"/>
            <a:pathLst>
              <a:path w="8419465" h="6858000">
                <a:moveTo>
                  <a:pt x="6095999" y="6858000"/>
                </a:moveTo>
                <a:lnTo>
                  <a:pt x="0" y="6858000"/>
                </a:lnTo>
                <a:lnTo>
                  <a:pt x="0" y="0"/>
                </a:lnTo>
                <a:lnTo>
                  <a:pt x="8418870" y="0"/>
                </a:lnTo>
                <a:lnTo>
                  <a:pt x="6095999" y="6858000"/>
                </a:lnTo>
                <a:close/>
              </a:path>
            </a:pathLst>
          </a:custGeom>
          <a:solidFill>
            <a:srgbClr val="6C1C35"/>
          </a:solidFill>
        </p:spPr>
        <p:txBody>
          <a:bodyPr wrap="square" lIns="0" tIns="0" rIns="0" bIns="0" rtlCol="0"/>
          <a:lstStyle/>
          <a:p>
            <a:endParaRPr/>
          </a:p>
        </p:txBody>
      </p:sp>
      <p:pic>
        <p:nvPicPr>
          <p:cNvPr id="24" name="bg object 24"/>
          <p:cNvPicPr/>
          <p:nvPr/>
        </p:nvPicPr>
        <p:blipFill>
          <a:blip r:embed="rId2" cstate="print"/>
          <a:stretch>
            <a:fillRect/>
          </a:stretch>
        </p:blipFill>
        <p:spPr>
          <a:xfrm>
            <a:off x="838200" y="6513174"/>
            <a:ext cx="2824371" cy="158261"/>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4" name="Holder 4"/>
          <p:cNvSpPr>
            <a:spLocks noGrp="1"/>
          </p:cNvSpPr>
          <p:nvPr>
            <p:ph type="sldNum" sz="quarter" idx="7"/>
          </p:nvPr>
        </p:nvSpPr>
        <p:spPr/>
        <p:txBody>
          <a:bodyPr lIns="0" tIns="0" rIns="0" bIns="0"/>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1F1F1">
              <a:alpha val="32548"/>
            </a:srgbClr>
          </a:solidFill>
        </p:spPr>
        <p:txBody>
          <a:bodyPr wrap="square" lIns="0" tIns="0" rIns="0" bIns="0" rtlCol="0"/>
          <a:lstStyle/>
          <a:p>
            <a:endParaRPr/>
          </a:p>
        </p:txBody>
      </p:sp>
      <p:sp>
        <p:nvSpPr>
          <p:cNvPr id="17" name="bg object 17"/>
          <p:cNvSpPr/>
          <p:nvPr/>
        </p:nvSpPr>
        <p:spPr>
          <a:xfrm>
            <a:off x="628225" y="6484103"/>
            <a:ext cx="3185795" cy="212725"/>
          </a:xfrm>
          <a:custGeom>
            <a:avLst/>
            <a:gdLst/>
            <a:ahLst/>
            <a:cxnLst/>
            <a:rect l="l" t="t" r="r" b="b"/>
            <a:pathLst>
              <a:path w="3185795" h="212725">
                <a:moveTo>
                  <a:pt x="3092394" y="212675"/>
                </a:moveTo>
                <a:lnTo>
                  <a:pt x="93349" y="212675"/>
                </a:lnTo>
                <a:lnTo>
                  <a:pt x="57013" y="205340"/>
                </a:lnTo>
                <a:lnTo>
                  <a:pt x="27341" y="185334"/>
                </a:lnTo>
                <a:lnTo>
                  <a:pt x="7335" y="155662"/>
                </a:lnTo>
                <a:lnTo>
                  <a:pt x="0" y="119325"/>
                </a:lnTo>
                <a:lnTo>
                  <a:pt x="0" y="93349"/>
                </a:lnTo>
                <a:lnTo>
                  <a:pt x="7212" y="57626"/>
                </a:lnTo>
                <a:lnTo>
                  <a:pt x="7335" y="57013"/>
                </a:lnTo>
                <a:lnTo>
                  <a:pt x="27341" y="27341"/>
                </a:lnTo>
                <a:lnTo>
                  <a:pt x="57013" y="7335"/>
                </a:lnTo>
                <a:lnTo>
                  <a:pt x="93349" y="0"/>
                </a:lnTo>
                <a:lnTo>
                  <a:pt x="3092394" y="0"/>
                </a:lnTo>
                <a:lnTo>
                  <a:pt x="3144184" y="15683"/>
                </a:lnTo>
                <a:lnTo>
                  <a:pt x="3178638" y="57626"/>
                </a:lnTo>
                <a:lnTo>
                  <a:pt x="3185743" y="93349"/>
                </a:lnTo>
                <a:lnTo>
                  <a:pt x="3185743" y="119325"/>
                </a:lnTo>
                <a:lnTo>
                  <a:pt x="3178408" y="155662"/>
                </a:lnTo>
                <a:lnTo>
                  <a:pt x="3158402" y="185334"/>
                </a:lnTo>
                <a:lnTo>
                  <a:pt x="3128730" y="205340"/>
                </a:lnTo>
                <a:lnTo>
                  <a:pt x="3092394" y="212675"/>
                </a:lnTo>
                <a:close/>
              </a:path>
            </a:pathLst>
          </a:custGeom>
          <a:solidFill>
            <a:srgbClr val="FFFFFF"/>
          </a:solidFill>
        </p:spPr>
        <p:txBody>
          <a:bodyPr wrap="square" lIns="0" tIns="0" rIns="0" bIns="0" rtlCol="0"/>
          <a:lstStyle/>
          <a:p>
            <a:endParaRPr/>
          </a:p>
        </p:txBody>
      </p:sp>
      <p:sp>
        <p:nvSpPr>
          <p:cNvPr id="18" name="bg object 18"/>
          <p:cNvSpPr/>
          <p:nvPr/>
        </p:nvSpPr>
        <p:spPr>
          <a:xfrm>
            <a:off x="0" y="6580450"/>
            <a:ext cx="12192000" cy="0"/>
          </a:xfrm>
          <a:custGeom>
            <a:avLst/>
            <a:gdLst/>
            <a:ahLst/>
            <a:cxnLst/>
            <a:rect l="l" t="t" r="r" b="b"/>
            <a:pathLst>
              <a:path w="12192000">
                <a:moveTo>
                  <a:pt x="0" y="0"/>
                </a:moveTo>
                <a:lnTo>
                  <a:pt x="12191999" y="0"/>
                </a:lnTo>
              </a:path>
            </a:pathLst>
          </a:custGeom>
          <a:ln w="19049">
            <a:solidFill>
              <a:srgbClr val="FFFFFF"/>
            </a:solidFill>
          </a:ln>
        </p:spPr>
        <p:txBody>
          <a:bodyPr wrap="square" lIns="0" tIns="0" rIns="0" bIns="0" rtlCol="0"/>
          <a:lstStyle/>
          <a:p>
            <a:endParaRPr/>
          </a:p>
        </p:txBody>
      </p:sp>
      <p:sp>
        <p:nvSpPr>
          <p:cNvPr id="19" name="bg object 19"/>
          <p:cNvSpPr/>
          <p:nvPr/>
        </p:nvSpPr>
        <p:spPr>
          <a:xfrm>
            <a:off x="10637134" y="6470465"/>
            <a:ext cx="756920" cy="260350"/>
          </a:xfrm>
          <a:custGeom>
            <a:avLst/>
            <a:gdLst/>
            <a:ahLst/>
            <a:cxnLst/>
            <a:rect l="l" t="t" r="r" b="b"/>
            <a:pathLst>
              <a:path w="756920" h="260350">
                <a:moveTo>
                  <a:pt x="642220" y="260177"/>
                </a:moveTo>
                <a:lnTo>
                  <a:pt x="114198" y="260177"/>
                </a:lnTo>
                <a:lnTo>
                  <a:pt x="69747" y="251203"/>
                </a:lnTo>
                <a:lnTo>
                  <a:pt x="33447" y="226729"/>
                </a:lnTo>
                <a:lnTo>
                  <a:pt x="8974" y="190429"/>
                </a:lnTo>
                <a:lnTo>
                  <a:pt x="0" y="145977"/>
                </a:lnTo>
                <a:lnTo>
                  <a:pt x="0" y="114199"/>
                </a:lnTo>
                <a:lnTo>
                  <a:pt x="8974" y="69748"/>
                </a:lnTo>
                <a:lnTo>
                  <a:pt x="33447" y="33448"/>
                </a:lnTo>
                <a:lnTo>
                  <a:pt x="69747" y="8974"/>
                </a:lnTo>
                <a:lnTo>
                  <a:pt x="114198" y="0"/>
                </a:lnTo>
                <a:lnTo>
                  <a:pt x="642220" y="0"/>
                </a:lnTo>
                <a:lnTo>
                  <a:pt x="685923" y="8693"/>
                </a:lnTo>
                <a:lnTo>
                  <a:pt x="722972" y="33448"/>
                </a:lnTo>
                <a:lnTo>
                  <a:pt x="747727" y="70497"/>
                </a:lnTo>
                <a:lnTo>
                  <a:pt x="756420" y="114199"/>
                </a:lnTo>
                <a:lnTo>
                  <a:pt x="756420" y="145977"/>
                </a:lnTo>
                <a:lnTo>
                  <a:pt x="747446" y="190429"/>
                </a:lnTo>
                <a:lnTo>
                  <a:pt x="722972" y="226729"/>
                </a:lnTo>
                <a:lnTo>
                  <a:pt x="686672" y="251203"/>
                </a:lnTo>
                <a:lnTo>
                  <a:pt x="642220" y="260177"/>
                </a:lnTo>
                <a:close/>
              </a:path>
            </a:pathLst>
          </a:custGeom>
          <a:solidFill>
            <a:srgbClr val="FFFFFF"/>
          </a:solidFill>
        </p:spPr>
        <p:txBody>
          <a:bodyPr wrap="square" lIns="0" tIns="0" rIns="0" bIns="0" rtlCol="0"/>
          <a:lstStyle/>
          <a:p>
            <a:endParaRPr/>
          </a:p>
        </p:txBody>
      </p:sp>
      <p:pic>
        <p:nvPicPr>
          <p:cNvPr id="20" name="bg object 20"/>
          <p:cNvPicPr/>
          <p:nvPr/>
        </p:nvPicPr>
        <p:blipFill>
          <a:blip r:embed="rId7" cstate="print"/>
          <a:stretch>
            <a:fillRect/>
          </a:stretch>
        </p:blipFill>
        <p:spPr>
          <a:xfrm>
            <a:off x="838200" y="6513174"/>
            <a:ext cx="2824371" cy="158261"/>
          </a:xfrm>
          <a:prstGeom prst="rect">
            <a:avLst/>
          </a:prstGeom>
        </p:spPr>
      </p:pic>
      <p:sp>
        <p:nvSpPr>
          <p:cNvPr id="21" name="bg object 21"/>
          <p:cNvSpPr/>
          <p:nvPr/>
        </p:nvSpPr>
        <p:spPr>
          <a:xfrm>
            <a:off x="10328961" y="1"/>
            <a:ext cx="1860550" cy="780415"/>
          </a:xfrm>
          <a:custGeom>
            <a:avLst/>
            <a:gdLst/>
            <a:ahLst/>
            <a:cxnLst/>
            <a:rect l="l" t="t" r="r" b="b"/>
            <a:pathLst>
              <a:path w="1860550" h="780415">
                <a:moveTo>
                  <a:pt x="1860467" y="780221"/>
                </a:moveTo>
                <a:lnTo>
                  <a:pt x="521804" y="780221"/>
                </a:lnTo>
                <a:lnTo>
                  <a:pt x="0" y="0"/>
                </a:lnTo>
                <a:lnTo>
                  <a:pt x="1860467" y="0"/>
                </a:lnTo>
                <a:lnTo>
                  <a:pt x="1860467" y="780221"/>
                </a:lnTo>
                <a:close/>
              </a:path>
            </a:pathLst>
          </a:custGeom>
          <a:solidFill>
            <a:srgbClr val="FFFFFF"/>
          </a:solidFill>
        </p:spPr>
        <p:txBody>
          <a:bodyPr wrap="square" lIns="0" tIns="0" rIns="0" bIns="0" rtlCol="0"/>
          <a:lstStyle/>
          <a:p>
            <a:endParaRPr/>
          </a:p>
        </p:txBody>
      </p:sp>
      <p:pic>
        <p:nvPicPr>
          <p:cNvPr id="22" name="bg object 22"/>
          <p:cNvPicPr/>
          <p:nvPr/>
        </p:nvPicPr>
        <p:blipFill>
          <a:blip r:embed="rId8" cstate="print"/>
          <a:stretch>
            <a:fillRect/>
          </a:stretch>
        </p:blipFill>
        <p:spPr>
          <a:xfrm>
            <a:off x="10742685" y="161364"/>
            <a:ext cx="1344352" cy="454145"/>
          </a:xfrm>
          <a:prstGeom prst="rect">
            <a:avLst/>
          </a:prstGeom>
        </p:spPr>
      </p:pic>
      <p:sp>
        <p:nvSpPr>
          <p:cNvPr id="2" name="Holder 2"/>
          <p:cNvSpPr>
            <a:spLocks noGrp="1"/>
          </p:cNvSpPr>
          <p:nvPr>
            <p:ph type="title"/>
          </p:nvPr>
        </p:nvSpPr>
        <p:spPr>
          <a:xfrm>
            <a:off x="1211851" y="395032"/>
            <a:ext cx="9413427" cy="885214"/>
          </a:xfrm>
          <a:prstGeom prst="rect">
            <a:avLst/>
          </a:prstGeom>
        </p:spPr>
        <p:txBody>
          <a:bodyPr wrap="square" lIns="0" tIns="0" rIns="0" bIns="0">
            <a:spAutoFit/>
          </a:bodyPr>
          <a:lstStyle>
            <a:lvl1pPr>
              <a:defRPr sz="3600" b="1" i="0">
                <a:solidFill>
                  <a:srgbClr val="3E3E3E"/>
                </a:solidFill>
                <a:latin typeface="Tahoma"/>
                <a:cs typeface="Tahoma"/>
              </a:defRPr>
            </a:lvl1pPr>
          </a:lstStyle>
          <a:p>
            <a:endParaRPr/>
          </a:p>
        </p:txBody>
      </p:sp>
      <p:sp>
        <p:nvSpPr>
          <p:cNvPr id="3" name="Holder 3"/>
          <p:cNvSpPr>
            <a:spLocks noGrp="1"/>
          </p:cNvSpPr>
          <p:nvPr>
            <p:ph type="body" idx="1"/>
          </p:nvPr>
        </p:nvSpPr>
        <p:spPr>
          <a:xfrm>
            <a:off x="5256424" y="1855925"/>
            <a:ext cx="5804534" cy="3804285"/>
          </a:xfrm>
          <a:prstGeom prst="rect">
            <a:avLst/>
          </a:prstGeom>
        </p:spPr>
        <p:txBody>
          <a:bodyPr wrap="square" lIns="0" tIns="0" rIns="0" bIns="0">
            <a:spAutoFit/>
          </a:bodyPr>
          <a:lstStyle>
            <a:lvl1pPr>
              <a:defRPr sz="2500" b="1" i="0">
                <a:solidFill>
                  <a:srgbClr val="3E3E3E"/>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a:xfrm>
            <a:off x="10891533" y="6494011"/>
            <a:ext cx="260350" cy="204470"/>
          </a:xfrm>
          <a:prstGeom prst="rect">
            <a:avLst/>
          </a:prstGeom>
        </p:spPr>
        <p:txBody>
          <a:bodyPr wrap="square" lIns="0" tIns="0" rIns="0" bIns="0">
            <a:spAutoFit/>
          </a:bodyPr>
          <a:lstStyle>
            <a:lvl1pPr>
              <a:defRPr sz="1200" b="0" i="0">
                <a:solidFill>
                  <a:srgbClr val="83233E"/>
                </a:solidFill>
                <a:latin typeface="Arial"/>
                <a:cs typeface="Arial"/>
              </a:defRPr>
            </a:lvl1pPr>
          </a:lstStyle>
          <a:p>
            <a:pPr marL="38100">
              <a:lnSpc>
                <a:spcPct val="100000"/>
              </a:lnSpc>
              <a:spcBef>
                <a:spcPts val="1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png"/><Relationship Id="rId7" Type="http://schemas.openxmlformats.org/officeDocument/2006/relationships/image" Target="../media/image46.png"/><Relationship Id="rId12" Type="http://schemas.openxmlformats.org/officeDocument/2006/relationships/hyperlink" Target="http://www.utm.my/"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jp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257808"/>
            <a:ext cx="130810" cy="2600325"/>
          </a:xfrm>
          <a:custGeom>
            <a:avLst/>
            <a:gdLst/>
            <a:ahLst/>
            <a:cxnLst/>
            <a:rect l="l" t="t" r="r" b="b"/>
            <a:pathLst>
              <a:path w="130810" h="2600325">
                <a:moveTo>
                  <a:pt x="0" y="2600191"/>
                </a:moveTo>
                <a:lnTo>
                  <a:pt x="130675" y="2600191"/>
                </a:lnTo>
                <a:lnTo>
                  <a:pt x="130675" y="0"/>
                </a:lnTo>
                <a:lnTo>
                  <a:pt x="0" y="0"/>
                </a:lnTo>
                <a:lnTo>
                  <a:pt x="0" y="2600191"/>
                </a:lnTo>
                <a:close/>
              </a:path>
            </a:pathLst>
          </a:custGeom>
          <a:solidFill>
            <a:srgbClr val="F1F1F1">
              <a:alpha val="32548"/>
            </a:srgbClr>
          </a:solidFill>
        </p:spPr>
        <p:txBody>
          <a:bodyPr wrap="square" lIns="0" tIns="0" rIns="0" bIns="0" rtlCol="0"/>
          <a:lstStyle/>
          <a:p>
            <a:endParaRPr/>
          </a:p>
        </p:txBody>
      </p:sp>
      <p:sp>
        <p:nvSpPr>
          <p:cNvPr id="3" name="object 3"/>
          <p:cNvSpPr/>
          <p:nvPr/>
        </p:nvSpPr>
        <p:spPr>
          <a:xfrm>
            <a:off x="0" y="0"/>
            <a:ext cx="130810" cy="2595880"/>
          </a:xfrm>
          <a:custGeom>
            <a:avLst/>
            <a:gdLst/>
            <a:ahLst/>
            <a:cxnLst/>
            <a:rect l="l" t="t" r="r" b="b"/>
            <a:pathLst>
              <a:path w="130810" h="2595880">
                <a:moveTo>
                  <a:pt x="0" y="2595695"/>
                </a:moveTo>
                <a:lnTo>
                  <a:pt x="130675" y="2595695"/>
                </a:lnTo>
                <a:lnTo>
                  <a:pt x="130675" y="0"/>
                </a:lnTo>
                <a:lnTo>
                  <a:pt x="0" y="0"/>
                </a:lnTo>
                <a:lnTo>
                  <a:pt x="0" y="2595695"/>
                </a:lnTo>
                <a:close/>
              </a:path>
            </a:pathLst>
          </a:custGeom>
          <a:solidFill>
            <a:srgbClr val="F1F1F1">
              <a:alpha val="32548"/>
            </a:srgbClr>
          </a:solidFill>
        </p:spPr>
        <p:txBody>
          <a:bodyPr wrap="square" lIns="0" tIns="0" rIns="0" bIns="0" rtlCol="0"/>
          <a:lstStyle/>
          <a:p>
            <a:endParaRPr/>
          </a:p>
        </p:txBody>
      </p:sp>
      <p:grpSp>
        <p:nvGrpSpPr>
          <p:cNvPr id="4" name="object 4"/>
          <p:cNvGrpSpPr/>
          <p:nvPr/>
        </p:nvGrpSpPr>
        <p:grpSpPr>
          <a:xfrm>
            <a:off x="0" y="0"/>
            <a:ext cx="12192000" cy="6858000"/>
            <a:chOff x="0" y="0"/>
            <a:chExt cx="12192000" cy="6858000"/>
          </a:xfrm>
        </p:grpSpPr>
        <p:pic>
          <p:nvPicPr>
            <p:cNvPr id="5" name="object 5"/>
            <p:cNvPicPr/>
            <p:nvPr/>
          </p:nvPicPr>
          <p:blipFill>
            <a:blip r:embed="rId2" cstate="print"/>
            <a:stretch>
              <a:fillRect/>
            </a:stretch>
          </p:blipFill>
          <p:spPr>
            <a:xfrm>
              <a:off x="1390488" y="0"/>
              <a:ext cx="10801511" cy="6857999"/>
            </a:xfrm>
            <a:prstGeom prst="rect">
              <a:avLst/>
            </a:prstGeom>
          </p:spPr>
        </p:pic>
        <p:pic>
          <p:nvPicPr>
            <p:cNvPr id="6" name="object 6"/>
            <p:cNvPicPr/>
            <p:nvPr/>
          </p:nvPicPr>
          <p:blipFill>
            <a:blip r:embed="rId3" cstate="print"/>
            <a:stretch>
              <a:fillRect/>
            </a:stretch>
          </p:blipFill>
          <p:spPr>
            <a:xfrm>
              <a:off x="130675" y="0"/>
              <a:ext cx="7107694" cy="6857999"/>
            </a:xfrm>
            <a:prstGeom prst="rect">
              <a:avLst/>
            </a:prstGeom>
          </p:spPr>
        </p:pic>
        <p:sp>
          <p:nvSpPr>
            <p:cNvPr id="7" name="object 7"/>
            <p:cNvSpPr/>
            <p:nvPr/>
          </p:nvSpPr>
          <p:spPr>
            <a:xfrm>
              <a:off x="0" y="2595695"/>
              <a:ext cx="130810" cy="1662430"/>
            </a:xfrm>
            <a:custGeom>
              <a:avLst/>
              <a:gdLst/>
              <a:ahLst/>
              <a:cxnLst/>
              <a:rect l="l" t="t" r="r" b="b"/>
              <a:pathLst>
                <a:path w="130810" h="1662429">
                  <a:moveTo>
                    <a:pt x="130675" y="1662112"/>
                  </a:moveTo>
                  <a:lnTo>
                    <a:pt x="0" y="1662112"/>
                  </a:lnTo>
                  <a:lnTo>
                    <a:pt x="0" y="0"/>
                  </a:lnTo>
                  <a:lnTo>
                    <a:pt x="130675" y="0"/>
                  </a:lnTo>
                  <a:lnTo>
                    <a:pt x="130675" y="1662112"/>
                  </a:lnTo>
                  <a:close/>
                </a:path>
              </a:pathLst>
            </a:custGeom>
            <a:solidFill>
              <a:srgbClr val="83233E"/>
            </a:solidFill>
          </p:spPr>
          <p:txBody>
            <a:bodyPr wrap="square" lIns="0" tIns="0" rIns="0" bIns="0" rtlCol="0"/>
            <a:lstStyle/>
            <a:p>
              <a:endParaRPr/>
            </a:p>
          </p:txBody>
        </p:sp>
        <p:pic>
          <p:nvPicPr>
            <p:cNvPr id="8" name="object 8"/>
            <p:cNvPicPr/>
            <p:nvPr/>
          </p:nvPicPr>
          <p:blipFill>
            <a:blip r:embed="rId4" cstate="print"/>
            <a:stretch>
              <a:fillRect/>
            </a:stretch>
          </p:blipFill>
          <p:spPr>
            <a:xfrm>
              <a:off x="9371467" y="404628"/>
              <a:ext cx="2133839" cy="720848"/>
            </a:xfrm>
            <a:prstGeom prst="rect">
              <a:avLst/>
            </a:prstGeom>
          </p:spPr>
        </p:pic>
        <p:pic>
          <p:nvPicPr>
            <p:cNvPr id="9" name="object 9"/>
            <p:cNvPicPr/>
            <p:nvPr/>
          </p:nvPicPr>
          <p:blipFill>
            <a:blip r:embed="rId5" cstate="print"/>
            <a:stretch>
              <a:fillRect/>
            </a:stretch>
          </p:blipFill>
          <p:spPr>
            <a:xfrm>
              <a:off x="8044256" y="6511235"/>
              <a:ext cx="3922821" cy="219812"/>
            </a:xfrm>
            <a:prstGeom prst="rect">
              <a:avLst/>
            </a:prstGeom>
          </p:spPr>
        </p:pic>
      </p:grpSp>
      <p:sp>
        <p:nvSpPr>
          <p:cNvPr id="10" name="object 10" descr="$PPTXTitle"/>
          <p:cNvSpPr txBox="1">
            <a:spLocks noGrp="1"/>
          </p:cNvSpPr>
          <p:nvPr>
            <p:ph type="title"/>
          </p:nvPr>
        </p:nvSpPr>
        <p:spPr>
          <a:xfrm>
            <a:off x="657848" y="2789296"/>
            <a:ext cx="4633595" cy="756920"/>
          </a:xfrm>
          <a:prstGeom prst="rect">
            <a:avLst/>
          </a:prstGeom>
        </p:spPr>
        <p:txBody>
          <a:bodyPr vert="horz" wrap="square" lIns="0" tIns="12700" rIns="0" bIns="0" rtlCol="0">
            <a:spAutoFit/>
          </a:bodyPr>
          <a:lstStyle/>
          <a:p>
            <a:pPr marL="12700">
              <a:lnSpc>
                <a:spcPct val="100000"/>
              </a:lnSpc>
              <a:spcBef>
                <a:spcPts val="100"/>
              </a:spcBef>
            </a:pPr>
            <a:r>
              <a:rPr lang="en-MY" sz="4800" spc="-310" dirty="0" err="1">
                <a:solidFill>
                  <a:srgbClr val="FFFFFF"/>
                </a:solidFill>
              </a:rPr>
              <a:t>Enterpreneurial</a:t>
            </a:r>
            <a:endParaRPr sz="4800" dirty="0"/>
          </a:p>
        </p:txBody>
      </p:sp>
      <p:sp>
        <p:nvSpPr>
          <p:cNvPr id="11" name="object 11"/>
          <p:cNvSpPr txBox="1"/>
          <p:nvPr/>
        </p:nvSpPr>
        <p:spPr>
          <a:xfrm>
            <a:off x="657848" y="3520816"/>
            <a:ext cx="2966085" cy="756920"/>
          </a:xfrm>
          <a:prstGeom prst="rect">
            <a:avLst/>
          </a:prstGeom>
        </p:spPr>
        <p:txBody>
          <a:bodyPr vert="horz" wrap="square" lIns="0" tIns="12700" rIns="0" bIns="0" rtlCol="0">
            <a:spAutoFit/>
          </a:bodyPr>
          <a:lstStyle/>
          <a:p>
            <a:pPr marL="12700">
              <a:lnSpc>
                <a:spcPct val="100000"/>
              </a:lnSpc>
              <a:spcBef>
                <a:spcPts val="100"/>
              </a:spcBef>
            </a:pPr>
            <a:r>
              <a:rPr lang="en-MY" sz="4800" b="1" spc="-300" dirty="0">
                <a:solidFill>
                  <a:srgbClr val="FFFFFF"/>
                </a:solidFill>
                <a:latin typeface="Tahoma"/>
                <a:cs typeface="Tahoma"/>
              </a:rPr>
              <a:t>Mindset</a:t>
            </a:r>
            <a:endParaRPr sz="4800" dirty="0">
              <a:latin typeface="Tahoma"/>
              <a:cs typeface="Tahoma"/>
            </a:endParaRPr>
          </a:p>
        </p:txBody>
      </p:sp>
      <p:sp>
        <p:nvSpPr>
          <p:cNvPr id="12" name="TextBox 11">
            <a:extLst>
              <a:ext uri="{FF2B5EF4-FFF2-40B4-BE49-F238E27FC236}">
                <a16:creationId xmlns:a16="http://schemas.microsoft.com/office/drawing/2014/main" id="{26F74C5A-D48A-4552-47AD-885CE8D16C1B}"/>
              </a:ext>
            </a:extLst>
          </p:cNvPr>
          <p:cNvSpPr txBox="1"/>
          <p:nvPr/>
        </p:nvSpPr>
        <p:spPr>
          <a:xfrm>
            <a:off x="8836960" y="2965076"/>
            <a:ext cx="3225052" cy="31393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100" dirty="0">
                <a:latin typeface="Cambria"/>
                <a:ea typeface="Cambria"/>
                <a:cs typeface="Calibri"/>
              </a:rPr>
              <a:t>This slide contains material that is copied from the book Agile Project Manager_v2_handbook by Agile Business Consortium. All rights reserved. No part of this material may be reproduced or transmitted in any form or by any means without the prior written permission of the copyright owner. This material is used here for educational purposes under the doctrine of fair use, with the intention to support learning and teaching.</a:t>
            </a:r>
            <a:endParaRPr lang="en-US" dirty="0">
              <a:latin typeface="Cambria"/>
              <a:ea typeface="Cambria"/>
            </a:endParaRPr>
          </a:p>
          <a:p>
            <a:pPr algn="just"/>
            <a:endParaRPr lang="en-US" sz="1100" dirty="0">
              <a:latin typeface="Cambria"/>
              <a:ea typeface="Cambria"/>
              <a:cs typeface="Calibri"/>
            </a:endParaRPr>
          </a:p>
          <a:p>
            <a:pPr algn="just"/>
            <a:r>
              <a:rPr lang="en-US" sz="1100" dirty="0">
                <a:latin typeface="Cambria"/>
                <a:ea typeface="Cambria"/>
                <a:cs typeface="Calibri"/>
              </a:rPr>
              <a:t>For more information, please refer to the original source: </a:t>
            </a:r>
            <a:endParaRPr lang="en-US">
              <a:latin typeface="Cambria"/>
              <a:ea typeface="Cambria"/>
              <a:cs typeface="Calibri" panose="020F0502020204030204" pitchFamily="34" charset="0"/>
            </a:endParaRPr>
          </a:p>
          <a:p>
            <a:pPr algn="just"/>
            <a:r>
              <a:rPr lang="en-US" sz="1100" b="1" dirty="0">
                <a:latin typeface="Cambria"/>
                <a:ea typeface="Cambria"/>
                <a:cs typeface="Calibri"/>
              </a:rPr>
              <a:t>Book Title: </a:t>
            </a:r>
            <a:r>
              <a:rPr lang="en-US" sz="1100" dirty="0">
                <a:latin typeface="Cambria"/>
                <a:ea typeface="Cambria"/>
                <a:cs typeface="Calibri"/>
              </a:rPr>
              <a:t>Agile Project Manager_v2_handbook</a:t>
            </a:r>
            <a:r>
              <a:rPr lang="en-US" sz="1100" b="1" dirty="0">
                <a:latin typeface="Cambria"/>
                <a:ea typeface="Cambria"/>
                <a:cs typeface="Calibri"/>
              </a:rPr>
              <a:t> Author: </a:t>
            </a:r>
            <a:r>
              <a:rPr lang="en-US" sz="1100" dirty="0">
                <a:latin typeface="Cambria"/>
                <a:ea typeface="Cambria"/>
                <a:cs typeface="Calibri"/>
              </a:rPr>
              <a:t>Agile Business Consortium</a:t>
            </a:r>
            <a:r>
              <a:rPr lang="en-US" sz="1100" b="1" dirty="0">
                <a:latin typeface="Cambria"/>
                <a:ea typeface="Cambria"/>
                <a:cs typeface="Calibri"/>
              </a:rPr>
              <a:t> </a:t>
            </a:r>
            <a:endParaRPr lang="en-US" b="1">
              <a:latin typeface="Cambria"/>
              <a:ea typeface="Cambria"/>
              <a:cs typeface="Calibri" panose="020F0502020204030204" pitchFamily="34" charset="0"/>
            </a:endParaRPr>
          </a:p>
          <a:p>
            <a:pPr algn="just"/>
            <a:r>
              <a:rPr lang="en-US" sz="1100" b="1" dirty="0">
                <a:latin typeface="Cambria"/>
                <a:ea typeface="Cambria"/>
                <a:cs typeface="Calibri"/>
              </a:rPr>
              <a:t>Publisher: </a:t>
            </a:r>
            <a:r>
              <a:rPr lang="en-US" sz="1100" dirty="0">
                <a:latin typeface="Cambria"/>
                <a:ea typeface="Cambria"/>
                <a:cs typeface="Calibri"/>
              </a:rPr>
              <a:t>Buckland Media Group Limited </a:t>
            </a:r>
            <a:endParaRPr lang="en-US">
              <a:latin typeface="Cambria"/>
              <a:ea typeface="Cambria"/>
              <a:cs typeface="Calibri" panose="020F0502020204030204" pitchFamily="34" charset="0"/>
            </a:endParaRPr>
          </a:p>
          <a:p>
            <a:pPr algn="just"/>
            <a:r>
              <a:rPr lang="en-US" sz="1100" b="1" dirty="0">
                <a:latin typeface="Cambria"/>
                <a:ea typeface="Cambria"/>
                <a:cs typeface="Calibri"/>
              </a:rPr>
              <a:t>Year of Publication: </a:t>
            </a:r>
            <a:r>
              <a:rPr lang="en-US" sz="1100" dirty="0">
                <a:latin typeface="Cambria"/>
                <a:ea typeface="Cambria"/>
                <a:cs typeface="Calibri"/>
              </a:rPr>
              <a:t>2017 </a:t>
            </a:r>
            <a:endParaRPr lang="en-US">
              <a:latin typeface="Cambria"/>
              <a:ea typeface="Cambria"/>
              <a:cs typeface="Calibri" panose="020F0502020204030204" pitchFamily="34" charset="0"/>
            </a:endParaRPr>
          </a:p>
          <a:p>
            <a:pPr algn="just"/>
            <a:r>
              <a:rPr lang="en-US" sz="1100" b="1" dirty="0">
                <a:latin typeface="Cambria"/>
                <a:ea typeface="Cambria"/>
                <a:cs typeface="Calibri"/>
              </a:rPr>
              <a:t>Please consult the book for further details and complete content.</a:t>
            </a:r>
            <a:endParaRPr lang="en-US" b="1">
              <a:latin typeface="Cambria"/>
              <a:ea typeface="Cambria"/>
              <a:cs typeface="Calibri" panose="020F0502020204030204" pitchFamily="34" charset="0"/>
            </a:endParaRPr>
          </a:p>
        </p:txBody>
      </p:sp>
      <p:sp>
        <p:nvSpPr>
          <p:cNvPr id="13" name="TextBox 12">
            <a:extLst>
              <a:ext uri="{FF2B5EF4-FFF2-40B4-BE49-F238E27FC236}">
                <a16:creationId xmlns:a16="http://schemas.microsoft.com/office/drawing/2014/main" id="{D70FA8D5-6A01-67A2-190A-E8884F1F56C5}"/>
              </a:ext>
            </a:extLst>
          </p:cNvPr>
          <p:cNvSpPr txBox="1"/>
          <p:nvPr/>
        </p:nvSpPr>
        <p:spPr>
          <a:xfrm>
            <a:off x="8748966" y="1505415"/>
            <a:ext cx="3509294" cy="1015663"/>
          </a:xfrm>
          <a:prstGeom prst="rect">
            <a:avLst/>
          </a:prstGeom>
          <a:noFill/>
        </p:spPr>
        <p:txBody>
          <a:bodyPr wrap="none" rtlCol="0">
            <a:spAutoFit/>
          </a:bodyPr>
          <a:lstStyle/>
          <a:p>
            <a:r>
              <a:rPr lang="en-MY" sz="2000" dirty="0"/>
              <a:t>Rohayanti Hassan</a:t>
            </a:r>
          </a:p>
          <a:p>
            <a:r>
              <a:rPr lang="en-MY" sz="2000" dirty="0"/>
              <a:t>Faculty of Computing</a:t>
            </a:r>
          </a:p>
          <a:p>
            <a:r>
              <a:rPr lang="en-MY" sz="2000" dirty="0" err="1"/>
              <a:t>Universiti</a:t>
            </a:r>
            <a:r>
              <a:rPr lang="en-MY" sz="2000" dirty="0"/>
              <a:t> </a:t>
            </a:r>
            <a:r>
              <a:rPr lang="en-MY" sz="2000" dirty="0" err="1"/>
              <a:t>Teknologi</a:t>
            </a:r>
            <a:r>
              <a:rPr lang="en-MY" sz="20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383280"/>
            <a:ext cx="12192000" cy="166370"/>
            <a:chOff x="0" y="1383280"/>
            <a:chExt cx="12192000" cy="166370"/>
          </a:xfrm>
        </p:grpSpPr>
        <p:sp>
          <p:nvSpPr>
            <p:cNvPr id="3" name="object 3"/>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p:cNvSpPr txBox="1">
            <a:spLocks noGrp="1"/>
          </p:cNvSpPr>
          <p:nvPr>
            <p:ph type="title"/>
          </p:nvPr>
        </p:nvSpPr>
        <p:spPr>
          <a:xfrm>
            <a:off x="5180332" y="453567"/>
            <a:ext cx="1578610" cy="574040"/>
          </a:xfrm>
          <a:prstGeom prst="rect">
            <a:avLst/>
          </a:prstGeom>
        </p:spPr>
        <p:txBody>
          <a:bodyPr vert="horz" wrap="square" lIns="0" tIns="12700" rIns="0" bIns="0" rtlCol="0">
            <a:spAutoFit/>
          </a:bodyPr>
          <a:lstStyle/>
          <a:p>
            <a:pPr marL="12700">
              <a:lnSpc>
                <a:spcPct val="100000"/>
              </a:lnSpc>
              <a:spcBef>
                <a:spcPts val="100"/>
              </a:spcBef>
            </a:pPr>
            <a:r>
              <a:rPr spc="-135" dirty="0"/>
              <a:t>Outline</a:t>
            </a:r>
          </a:p>
        </p:txBody>
      </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3</a:t>
            </a:r>
          </a:p>
        </p:txBody>
      </p:sp>
      <p:sp>
        <p:nvSpPr>
          <p:cNvPr id="6" name="object 6"/>
          <p:cNvSpPr txBox="1"/>
          <p:nvPr/>
        </p:nvSpPr>
        <p:spPr>
          <a:xfrm>
            <a:off x="1771946" y="2168818"/>
            <a:ext cx="9810454" cy="2487861"/>
          </a:xfrm>
          <a:prstGeom prst="rect">
            <a:avLst/>
          </a:prstGeom>
        </p:spPr>
        <p:txBody>
          <a:bodyPr vert="horz" wrap="square" lIns="0" tIns="76200" rIns="0" bIns="0" rtlCol="0">
            <a:spAutoFit/>
          </a:bodyPr>
          <a:lstStyle/>
          <a:p>
            <a:pPr marL="455930" indent="-443230">
              <a:lnSpc>
                <a:spcPct val="100000"/>
              </a:lnSpc>
              <a:spcBef>
                <a:spcPts val="600"/>
              </a:spcBef>
              <a:buFont typeface="Arial"/>
              <a:buChar char="●"/>
              <a:tabLst>
                <a:tab pos="455930" algn="l"/>
              </a:tabLst>
            </a:pPr>
            <a:r>
              <a:rPr lang="en-MY" sz="2800" dirty="0">
                <a:solidFill>
                  <a:srgbClr val="595959"/>
                </a:solidFill>
                <a:latin typeface="Tahoma"/>
                <a:cs typeface="Tahoma"/>
              </a:rPr>
              <a:t>Entrepreneurial Mindset in Agile Projects (DSDM Context)</a:t>
            </a:r>
          </a:p>
          <a:p>
            <a:pPr marL="455930" indent="-443230">
              <a:lnSpc>
                <a:spcPct val="100000"/>
              </a:lnSpc>
              <a:spcBef>
                <a:spcPts val="505"/>
              </a:spcBef>
              <a:buFont typeface="Arial"/>
              <a:buChar char="●"/>
              <a:tabLst>
                <a:tab pos="455930" algn="l"/>
              </a:tabLst>
            </a:pPr>
            <a:r>
              <a:rPr sz="2800" dirty="0">
                <a:solidFill>
                  <a:srgbClr val="595959"/>
                </a:solidFill>
                <a:latin typeface="Tahoma"/>
                <a:cs typeface="Tahoma"/>
              </a:rPr>
              <a:t>Factors</a:t>
            </a:r>
            <a:r>
              <a:rPr sz="2800" spc="-75" dirty="0">
                <a:solidFill>
                  <a:srgbClr val="595959"/>
                </a:solidFill>
                <a:latin typeface="Tahoma"/>
                <a:cs typeface="Tahoma"/>
              </a:rPr>
              <a:t> </a:t>
            </a:r>
            <a:r>
              <a:rPr sz="2800" dirty="0">
                <a:solidFill>
                  <a:srgbClr val="595959"/>
                </a:solidFill>
                <a:latin typeface="Tahoma"/>
                <a:cs typeface="Tahoma"/>
              </a:rPr>
              <a:t>Affecting</a:t>
            </a:r>
            <a:r>
              <a:rPr sz="2800" spc="-75" dirty="0">
                <a:solidFill>
                  <a:srgbClr val="595959"/>
                </a:solidFill>
                <a:latin typeface="Tahoma"/>
                <a:cs typeface="Tahoma"/>
              </a:rPr>
              <a:t> </a:t>
            </a:r>
            <a:r>
              <a:rPr sz="2800" dirty="0">
                <a:solidFill>
                  <a:srgbClr val="595959"/>
                </a:solidFill>
                <a:latin typeface="Tahoma"/>
                <a:cs typeface="Tahoma"/>
              </a:rPr>
              <a:t>Software</a:t>
            </a:r>
            <a:r>
              <a:rPr sz="2800" spc="-75" dirty="0">
                <a:solidFill>
                  <a:srgbClr val="595959"/>
                </a:solidFill>
                <a:latin typeface="Tahoma"/>
                <a:cs typeface="Tahoma"/>
              </a:rPr>
              <a:t> </a:t>
            </a:r>
            <a:r>
              <a:rPr sz="2800" dirty="0">
                <a:solidFill>
                  <a:srgbClr val="595959"/>
                </a:solidFill>
                <a:latin typeface="Tahoma"/>
                <a:cs typeface="Tahoma"/>
              </a:rPr>
              <a:t>Development</a:t>
            </a:r>
            <a:r>
              <a:rPr sz="2800" spc="-70" dirty="0">
                <a:solidFill>
                  <a:srgbClr val="595959"/>
                </a:solidFill>
                <a:latin typeface="Tahoma"/>
                <a:cs typeface="Tahoma"/>
              </a:rPr>
              <a:t> </a:t>
            </a:r>
            <a:r>
              <a:rPr sz="2800" spc="30" dirty="0">
                <a:solidFill>
                  <a:srgbClr val="595959"/>
                </a:solidFill>
                <a:latin typeface="Tahoma"/>
                <a:cs typeface="Tahoma"/>
              </a:rPr>
              <a:t>Costs</a:t>
            </a:r>
            <a:endParaRPr sz="2800" dirty="0">
              <a:latin typeface="Tahoma"/>
              <a:cs typeface="Tahoma"/>
            </a:endParaRPr>
          </a:p>
          <a:p>
            <a:pPr marL="455930" indent="-443230">
              <a:lnSpc>
                <a:spcPct val="100000"/>
              </a:lnSpc>
              <a:spcBef>
                <a:spcPts val="505"/>
              </a:spcBef>
              <a:buFont typeface="Arial"/>
              <a:buChar char="●"/>
              <a:tabLst>
                <a:tab pos="455930" algn="l"/>
              </a:tabLst>
            </a:pPr>
            <a:r>
              <a:rPr sz="2800" dirty="0">
                <a:solidFill>
                  <a:srgbClr val="595959"/>
                </a:solidFill>
                <a:latin typeface="Tahoma"/>
                <a:cs typeface="Tahoma"/>
              </a:rPr>
              <a:t>Proven</a:t>
            </a:r>
            <a:r>
              <a:rPr sz="2800" spc="-185" dirty="0">
                <a:solidFill>
                  <a:srgbClr val="595959"/>
                </a:solidFill>
                <a:latin typeface="Tahoma"/>
                <a:cs typeface="Tahoma"/>
              </a:rPr>
              <a:t> </a:t>
            </a:r>
            <a:r>
              <a:rPr sz="2800" spc="-40" dirty="0">
                <a:solidFill>
                  <a:srgbClr val="595959"/>
                </a:solidFill>
                <a:latin typeface="Tahoma"/>
                <a:cs typeface="Tahoma"/>
              </a:rPr>
              <a:t>Techniques</a:t>
            </a:r>
            <a:r>
              <a:rPr sz="2800" spc="-180" dirty="0">
                <a:solidFill>
                  <a:srgbClr val="595959"/>
                </a:solidFill>
                <a:latin typeface="Tahoma"/>
                <a:cs typeface="Tahoma"/>
              </a:rPr>
              <a:t> </a:t>
            </a:r>
            <a:r>
              <a:rPr sz="2800" spc="55" dirty="0">
                <a:solidFill>
                  <a:srgbClr val="595959"/>
                </a:solidFill>
                <a:latin typeface="Tahoma"/>
                <a:cs typeface="Tahoma"/>
              </a:rPr>
              <a:t>for</a:t>
            </a:r>
            <a:r>
              <a:rPr sz="2800" spc="-180" dirty="0">
                <a:solidFill>
                  <a:srgbClr val="595959"/>
                </a:solidFill>
                <a:latin typeface="Tahoma"/>
                <a:cs typeface="Tahoma"/>
              </a:rPr>
              <a:t> </a:t>
            </a:r>
            <a:r>
              <a:rPr sz="2800" dirty="0">
                <a:solidFill>
                  <a:srgbClr val="595959"/>
                </a:solidFill>
                <a:latin typeface="Tahoma"/>
                <a:cs typeface="Tahoma"/>
              </a:rPr>
              <a:t>Estimating</a:t>
            </a:r>
            <a:r>
              <a:rPr sz="2800" spc="-180" dirty="0">
                <a:solidFill>
                  <a:srgbClr val="595959"/>
                </a:solidFill>
                <a:latin typeface="Tahoma"/>
                <a:cs typeface="Tahoma"/>
              </a:rPr>
              <a:t> </a:t>
            </a:r>
            <a:r>
              <a:rPr sz="2800" dirty="0">
                <a:solidFill>
                  <a:srgbClr val="595959"/>
                </a:solidFill>
                <a:latin typeface="Tahoma"/>
                <a:cs typeface="Tahoma"/>
              </a:rPr>
              <a:t>Project</a:t>
            </a:r>
            <a:r>
              <a:rPr sz="2800" spc="-180" dirty="0">
                <a:solidFill>
                  <a:srgbClr val="595959"/>
                </a:solidFill>
                <a:latin typeface="Tahoma"/>
                <a:cs typeface="Tahoma"/>
              </a:rPr>
              <a:t> </a:t>
            </a:r>
            <a:r>
              <a:rPr sz="2800" spc="-10" dirty="0">
                <a:solidFill>
                  <a:srgbClr val="595959"/>
                </a:solidFill>
                <a:latin typeface="Tahoma"/>
                <a:cs typeface="Tahoma"/>
              </a:rPr>
              <a:t>Budgets</a:t>
            </a:r>
            <a:endParaRPr sz="2800" dirty="0">
              <a:latin typeface="Tahoma"/>
              <a:cs typeface="Tahoma"/>
            </a:endParaRPr>
          </a:p>
          <a:p>
            <a:pPr marL="455930" indent="-443230">
              <a:lnSpc>
                <a:spcPct val="100000"/>
              </a:lnSpc>
              <a:spcBef>
                <a:spcPts val="505"/>
              </a:spcBef>
              <a:buFont typeface="Arial"/>
              <a:buChar char="●"/>
              <a:tabLst>
                <a:tab pos="455930" algn="l"/>
              </a:tabLst>
            </a:pPr>
            <a:r>
              <a:rPr sz="2800" spc="-60" dirty="0">
                <a:solidFill>
                  <a:srgbClr val="595959"/>
                </a:solidFill>
                <a:latin typeface="Tahoma"/>
                <a:cs typeface="Tahoma"/>
              </a:rPr>
              <a:t>Top-</a:t>
            </a:r>
            <a:r>
              <a:rPr sz="2800" dirty="0">
                <a:solidFill>
                  <a:srgbClr val="595959"/>
                </a:solidFill>
                <a:latin typeface="Tahoma"/>
                <a:cs typeface="Tahoma"/>
              </a:rPr>
              <a:t>Down</a:t>
            </a:r>
            <a:r>
              <a:rPr sz="2800" spc="-170" dirty="0">
                <a:solidFill>
                  <a:srgbClr val="595959"/>
                </a:solidFill>
                <a:latin typeface="Tahoma"/>
                <a:cs typeface="Tahoma"/>
              </a:rPr>
              <a:t> </a:t>
            </a:r>
            <a:r>
              <a:rPr sz="2800" spc="-10" dirty="0">
                <a:solidFill>
                  <a:srgbClr val="595959"/>
                </a:solidFill>
                <a:latin typeface="Tahoma"/>
                <a:cs typeface="Tahoma"/>
              </a:rPr>
              <a:t>Estimation</a:t>
            </a:r>
            <a:endParaRPr sz="2800" dirty="0">
              <a:latin typeface="Tahoma"/>
              <a:cs typeface="Tahoma"/>
            </a:endParaRPr>
          </a:p>
          <a:p>
            <a:pPr marL="455930" indent="-443230">
              <a:lnSpc>
                <a:spcPct val="100000"/>
              </a:lnSpc>
              <a:spcBef>
                <a:spcPts val="505"/>
              </a:spcBef>
              <a:buFont typeface="Arial"/>
              <a:buChar char="●"/>
              <a:tabLst>
                <a:tab pos="455930" algn="l"/>
              </a:tabLst>
            </a:pPr>
            <a:r>
              <a:rPr sz="2800" spc="55" dirty="0">
                <a:solidFill>
                  <a:srgbClr val="595959"/>
                </a:solidFill>
                <a:latin typeface="Tahoma"/>
                <a:cs typeface="Tahoma"/>
              </a:rPr>
              <a:t>Bottom-</a:t>
            </a:r>
            <a:r>
              <a:rPr sz="2800" spc="65" dirty="0">
                <a:solidFill>
                  <a:srgbClr val="595959"/>
                </a:solidFill>
                <a:latin typeface="Tahoma"/>
                <a:cs typeface="Tahoma"/>
              </a:rPr>
              <a:t>Up</a:t>
            </a:r>
            <a:r>
              <a:rPr sz="2800" spc="-320" dirty="0">
                <a:solidFill>
                  <a:srgbClr val="595959"/>
                </a:solidFill>
                <a:latin typeface="Tahoma"/>
                <a:cs typeface="Tahoma"/>
              </a:rPr>
              <a:t> </a:t>
            </a:r>
            <a:r>
              <a:rPr sz="2800" spc="-10" dirty="0">
                <a:solidFill>
                  <a:srgbClr val="595959"/>
                </a:solidFill>
                <a:latin typeface="Tahoma"/>
                <a:cs typeface="Tahoma"/>
              </a:rPr>
              <a:t>Estimation</a:t>
            </a:r>
            <a:endParaRPr sz="2800" dirty="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61351" y="2613464"/>
            <a:ext cx="3877449" cy="2152512"/>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Entrepreneurial Mindset in Agile Projects </a:t>
            </a:r>
          </a:p>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(DSDM Context)</a:t>
            </a:r>
            <a:endParaRPr lang="en-US" sz="3600" b="1" spc="-185"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1026" name="Picture 2" descr="What is Entrepreneurship? Entrepreneur Meaning and it types - Speak loud  with your Brand">
            <a:extLst>
              <a:ext uri="{FF2B5EF4-FFF2-40B4-BE49-F238E27FC236}">
                <a16:creationId xmlns:a16="http://schemas.microsoft.com/office/drawing/2014/main" id="{D26E91E4-941B-6D3B-AE7B-5C30E75E2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2057400"/>
            <a:ext cx="3912883" cy="30155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383280"/>
            <a:ext cx="12192000" cy="166370"/>
            <a:chOff x="0" y="1383280"/>
            <a:chExt cx="12192000" cy="166370"/>
          </a:xfrm>
        </p:grpSpPr>
        <p:sp>
          <p:nvSpPr>
            <p:cNvPr id="3" name="object 3"/>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p:cNvSpPr txBox="1">
            <a:spLocks noGrp="1"/>
          </p:cNvSpPr>
          <p:nvPr>
            <p:ph type="title"/>
          </p:nvPr>
        </p:nvSpPr>
        <p:spPr>
          <a:xfrm>
            <a:off x="1211851" y="395032"/>
            <a:ext cx="9413427" cy="625868"/>
          </a:xfrm>
          <a:prstGeom prst="rect">
            <a:avLst/>
          </a:prstGeom>
        </p:spPr>
        <p:txBody>
          <a:bodyPr vert="horz" wrap="square" lIns="0" tIns="71175" rIns="0" bIns="0" rtlCol="0">
            <a:spAutoFit/>
          </a:bodyPr>
          <a:lstStyle/>
          <a:p>
            <a:r>
              <a:rPr lang="en-US" dirty="0"/>
              <a:t>What is an Entrepreneurial Mindset?</a:t>
            </a:r>
            <a:endParaRPr dirty="0"/>
          </a:p>
        </p:txBody>
      </p:sp>
      <p:sp>
        <p:nvSpPr>
          <p:cNvPr id="6" name="object 6"/>
          <p:cNvSpPr txBox="1"/>
          <p:nvPr/>
        </p:nvSpPr>
        <p:spPr>
          <a:xfrm>
            <a:off x="381000" y="1225092"/>
            <a:ext cx="6903720" cy="4629472"/>
          </a:xfrm>
          <a:prstGeom prst="rect">
            <a:avLst/>
          </a:prstGeom>
          <a:solidFill>
            <a:schemeClr val="bg1"/>
          </a:solidFill>
        </p:spPr>
        <p:txBody>
          <a:bodyPr vert="horz" wrap="square" lIns="0" tIns="12700" rIns="0" bIns="0" rtlCol="0">
            <a:spAutoFit/>
          </a:bodyPr>
          <a:lstStyle/>
          <a:p>
            <a:r>
              <a:rPr lang="en-US" sz="2000" dirty="0"/>
              <a:t>An </a:t>
            </a:r>
            <a:r>
              <a:rPr lang="en-US" sz="2000" b="1" dirty="0"/>
              <a:t>entrepreneurial mindset </a:t>
            </a:r>
            <a:r>
              <a:rPr lang="en-US" sz="2000" dirty="0"/>
              <a:t>in Agile software projects focuses on creating real business value, understanding the market and users, managing risk proactively, and ensuring long-term viability of the product. </a:t>
            </a:r>
          </a:p>
          <a:p>
            <a:r>
              <a:rPr lang="en-US" sz="2000" dirty="0"/>
              <a:t>Rather than measuring success only by technical completion, </a:t>
            </a:r>
            <a:r>
              <a:rPr lang="en-US" sz="2000" b="1" dirty="0"/>
              <a:t>success</a:t>
            </a:r>
            <a:r>
              <a:rPr lang="en-US" sz="2000" dirty="0"/>
              <a:t> is measured by whether </a:t>
            </a:r>
            <a:r>
              <a:rPr lang="en-US" sz="2000" b="1" dirty="0"/>
              <a:t>the system delivers benefits that stakeholders are willing to support, fund, and use.</a:t>
            </a:r>
            <a:endParaRPr sz="2000" b="1" dirty="0"/>
          </a:p>
          <a:p>
            <a:endParaRPr lang="en-MY" sz="2000" dirty="0"/>
          </a:p>
          <a:p>
            <a:r>
              <a:rPr sz="2000" b="1" dirty="0"/>
              <a:t>Key Characteristics</a:t>
            </a:r>
            <a:r>
              <a:rPr sz="2000" dirty="0"/>
              <a:t>:</a:t>
            </a:r>
          </a:p>
          <a:p>
            <a:r>
              <a:rPr sz="2000" dirty="0"/>
              <a:t>• Value-driven decision making</a:t>
            </a:r>
          </a:p>
          <a:p>
            <a:r>
              <a:rPr sz="2000" dirty="0"/>
              <a:t>• Customer and market awareness</a:t>
            </a:r>
          </a:p>
          <a:p>
            <a:r>
              <a:rPr sz="2000" dirty="0"/>
              <a:t>• Risk-aware and opportunity-focused</a:t>
            </a:r>
          </a:p>
          <a:p>
            <a:r>
              <a:rPr sz="2000" dirty="0"/>
              <a:t>• Balancing innovation with control</a:t>
            </a:r>
          </a:p>
          <a:p>
            <a:endParaRPr sz="2000" dirty="0"/>
          </a:p>
        </p:txBody>
      </p:sp>
      <p:sp>
        <p:nvSpPr>
          <p:cNvPr id="8" name="object 8"/>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1026" name="Picture 2">
            <a:extLst>
              <a:ext uri="{FF2B5EF4-FFF2-40B4-BE49-F238E27FC236}">
                <a16:creationId xmlns:a16="http://schemas.microsoft.com/office/drawing/2014/main" id="{B2718808-A2A8-6538-64E7-DE52F65A81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78" r="15069"/>
          <a:stretch>
            <a:fillRect/>
          </a:stretch>
        </p:blipFill>
        <p:spPr bwMode="auto">
          <a:xfrm>
            <a:off x="7391400" y="2263653"/>
            <a:ext cx="4419600" cy="37808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71A2-5054-12FE-B378-4B65949FF0AF}"/>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C1A2ADF-F94C-3369-C260-9AFC49C4870B}"/>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75085FFB-0867-32C2-2A40-75578AD88B07}"/>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CEF7EFFA-4211-D69F-9930-B18349B3DC83}"/>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B6E880DC-6154-7F6E-9A22-19634218C82E}"/>
              </a:ext>
            </a:extLst>
          </p:cNvPr>
          <p:cNvSpPr txBox="1">
            <a:spLocks noGrp="1"/>
          </p:cNvSpPr>
          <p:nvPr>
            <p:ph type="title"/>
          </p:nvPr>
        </p:nvSpPr>
        <p:spPr>
          <a:xfrm>
            <a:off x="381000" y="395032"/>
            <a:ext cx="10244278" cy="502757"/>
          </a:xfrm>
          <a:prstGeom prst="rect">
            <a:avLst/>
          </a:prstGeom>
        </p:spPr>
        <p:txBody>
          <a:bodyPr vert="horz" wrap="square" lIns="0" tIns="71175" rIns="0" bIns="0" rtlCol="0">
            <a:spAutoFit/>
          </a:bodyPr>
          <a:lstStyle/>
          <a:p>
            <a:r>
              <a:rPr lang="en-US" sz="2800" dirty="0"/>
              <a:t>Entrepreneurial Mindset in Example of </a:t>
            </a:r>
            <a:r>
              <a:rPr lang="en-MY" sz="2800" dirty="0"/>
              <a:t>Software Project </a:t>
            </a:r>
            <a:endParaRPr sz="2800" dirty="0"/>
          </a:p>
        </p:txBody>
      </p:sp>
      <p:sp>
        <p:nvSpPr>
          <p:cNvPr id="6" name="object 6">
            <a:extLst>
              <a:ext uri="{FF2B5EF4-FFF2-40B4-BE49-F238E27FC236}">
                <a16:creationId xmlns:a16="http://schemas.microsoft.com/office/drawing/2014/main" id="{0078FE38-53CF-5364-42DB-C4E1486307B4}"/>
              </a:ext>
            </a:extLst>
          </p:cNvPr>
          <p:cNvSpPr txBox="1"/>
          <p:nvPr/>
        </p:nvSpPr>
        <p:spPr>
          <a:xfrm>
            <a:off x="380999" y="1176848"/>
            <a:ext cx="10770883" cy="1243930"/>
          </a:xfrm>
          <a:prstGeom prst="rect">
            <a:avLst/>
          </a:prstGeom>
          <a:solidFill>
            <a:schemeClr val="bg1"/>
          </a:solidFill>
        </p:spPr>
        <p:txBody>
          <a:bodyPr vert="horz" wrap="square" lIns="0" tIns="12700" rIns="0" bIns="0" rtlCol="0">
            <a:spAutoFit/>
          </a:bodyPr>
          <a:lstStyle/>
          <a:p>
            <a:r>
              <a:rPr lang="en-US" sz="2000" b="1" dirty="0"/>
              <a:t>Case:</a:t>
            </a:r>
            <a:r>
              <a:rPr lang="en-US" sz="2000" dirty="0"/>
              <a:t> </a:t>
            </a:r>
            <a:r>
              <a:rPr lang="en-US" sz="2000" i="1" dirty="0"/>
              <a:t>University Smart Attendance &amp; Analytics System</a:t>
            </a:r>
            <a:br>
              <a:rPr lang="en-US" sz="2000" dirty="0"/>
            </a:br>
            <a:r>
              <a:rPr lang="en-US" sz="2000" dirty="0"/>
              <a:t>A web-based system used by universities to manage attendance, generate analytics, and provide compliance reports for management.</a:t>
            </a:r>
          </a:p>
          <a:p>
            <a:endParaRPr lang="en-US" sz="2000" b="1" dirty="0"/>
          </a:p>
        </p:txBody>
      </p:sp>
      <p:sp>
        <p:nvSpPr>
          <p:cNvPr id="8" name="object 8">
            <a:extLst>
              <a:ext uri="{FF2B5EF4-FFF2-40B4-BE49-F238E27FC236}">
                <a16:creationId xmlns:a16="http://schemas.microsoft.com/office/drawing/2014/main" id="{988EBD0D-175B-FDE6-DED9-F2FFDB19EE5A}"/>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EB9D5B8F-1B90-A55C-7033-7E10E2437403}"/>
              </a:ext>
            </a:extLst>
          </p:cNvPr>
          <p:cNvPicPr>
            <a:picLocks noChangeAspect="1"/>
          </p:cNvPicPr>
          <p:nvPr/>
        </p:nvPicPr>
        <p:blipFill>
          <a:blip r:embed="rId3"/>
          <a:stretch>
            <a:fillRect/>
          </a:stretch>
        </p:blipFill>
        <p:spPr>
          <a:xfrm>
            <a:off x="380999" y="2590800"/>
            <a:ext cx="7586587" cy="4066153"/>
          </a:xfrm>
          <a:prstGeom prst="rect">
            <a:avLst/>
          </a:prstGeom>
        </p:spPr>
      </p:pic>
    </p:spTree>
    <p:extLst>
      <p:ext uri="{BB962C8B-B14F-4D97-AF65-F5344CB8AC3E}">
        <p14:creationId xmlns:p14="http://schemas.microsoft.com/office/powerpoint/2010/main" val="3788641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1A93D-D79F-511B-89F6-EAB315EBB32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979929C-40C3-02AB-3902-11144DBE24A1}"/>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E948C330-F96B-6F95-D66B-1EC847D7ADB4}"/>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C79A3C5B-AEDF-72BD-F44A-04CD52E64D54}"/>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9E15D136-6FE3-2BDB-FB7D-40ECAF8C0470}"/>
              </a:ext>
            </a:extLst>
          </p:cNvPr>
          <p:cNvSpPr txBox="1">
            <a:spLocks noGrp="1"/>
          </p:cNvSpPr>
          <p:nvPr>
            <p:ph type="title"/>
          </p:nvPr>
        </p:nvSpPr>
        <p:spPr>
          <a:xfrm>
            <a:off x="381000" y="395032"/>
            <a:ext cx="10244278" cy="502757"/>
          </a:xfrm>
          <a:prstGeom prst="rect">
            <a:avLst/>
          </a:prstGeom>
        </p:spPr>
        <p:txBody>
          <a:bodyPr vert="horz" wrap="square" lIns="0" tIns="71175" rIns="0" bIns="0" rtlCol="0">
            <a:spAutoFit/>
          </a:bodyPr>
          <a:lstStyle/>
          <a:p>
            <a:r>
              <a:rPr lang="en-US" sz="2800" dirty="0"/>
              <a:t>Entrepreneurial Mindset in Example of </a:t>
            </a:r>
            <a:r>
              <a:rPr lang="en-MY" sz="2800" dirty="0"/>
              <a:t>Software Project </a:t>
            </a:r>
            <a:endParaRPr sz="2800" dirty="0"/>
          </a:p>
        </p:txBody>
      </p:sp>
      <p:sp>
        <p:nvSpPr>
          <p:cNvPr id="6" name="object 6">
            <a:extLst>
              <a:ext uri="{FF2B5EF4-FFF2-40B4-BE49-F238E27FC236}">
                <a16:creationId xmlns:a16="http://schemas.microsoft.com/office/drawing/2014/main" id="{3B911907-00E4-2902-D1F4-39EC89D742AF}"/>
              </a:ext>
            </a:extLst>
          </p:cNvPr>
          <p:cNvSpPr txBox="1"/>
          <p:nvPr/>
        </p:nvSpPr>
        <p:spPr>
          <a:xfrm>
            <a:off x="380999" y="1176848"/>
            <a:ext cx="10770883" cy="1243930"/>
          </a:xfrm>
          <a:prstGeom prst="rect">
            <a:avLst/>
          </a:prstGeom>
          <a:solidFill>
            <a:schemeClr val="bg1"/>
          </a:solidFill>
        </p:spPr>
        <p:txBody>
          <a:bodyPr vert="horz" wrap="square" lIns="0" tIns="12700" rIns="0" bIns="0" rtlCol="0">
            <a:spAutoFit/>
          </a:bodyPr>
          <a:lstStyle/>
          <a:p>
            <a:r>
              <a:rPr lang="en-US" sz="2000" b="1" dirty="0"/>
              <a:t>Case:</a:t>
            </a:r>
            <a:r>
              <a:rPr lang="en-US" sz="2000" dirty="0"/>
              <a:t> </a:t>
            </a:r>
            <a:r>
              <a:rPr lang="en-US" sz="2000" i="1" dirty="0"/>
              <a:t>University Smart Attendance &amp; Analytics System</a:t>
            </a:r>
            <a:br>
              <a:rPr lang="en-US" sz="2000" dirty="0"/>
            </a:br>
            <a:r>
              <a:rPr lang="en-US" sz="2000" dirty="0"/>
              <a:t>A web-based system used by universities to manage attendance, generate analytics, and provide compliance reports for management.</a:t>
            </a:r>
          </a:p>
          <a:p>
            <a:endParaRPr lang="en-US" sz="2000" b="1" dirty="0"/>
          </a:p>
        </p:txBody>
      </p:sp>
      <p:sp>
        <p:nvSpPr>
          <p:cNvPr id="8" name="object 8">
            <a:extLst>
              <a:ext uri="{FF2B5EF4-FFF2-40B4-BE49-F238E27FC236}">
                <a16:creationId xmlns:a16="http://schemas.microsoft.com/office/drawing/2014/main" id="{3902811D-51F4-E448-D6B3-E20D11B763AE}"/>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10" name="Picture 9">
            <a:extLst>
              <a:ext uri="{FF2B5EF4-FFF2-40B4-BE49-F238E27FC236}">
                <a16:creationId xmlns:a16="http://schemas.microsoft.com/office/drawing/2014/main" id="{C83D7964-F1AF-2278-D885-2A1EB3CB9A66}"/>
              </a:ext>
            </a:extLst>
          </p:cNvPr>
          <p:cNvPicPr>
            <a:picLocks noChangeAspect="1"/>
          </p:cNvPicPr>
          <p:nvPr/>
        </p:nvPicPr>
        <p:blipFill>
          <a:blip r:embed="rId3"/>
          <a:stretch>
            <a:fillRect/>
          </a:stretch>
        </p:blipFill>
        <p:spPr>
          <a:xfrm>
            <a:off x="380999" y="2471155"/>
            <a:ext cx="7410493" cy="4227326"/>
          </a:xfrm>
          <a:prstGeom prst="rect">
            <a:avLst/>
          </a:prstGeom>
        </p:spPr>
      </p:pic>
    </p:spTree>
    <p:extLst>
      <p:ext uri="{BB962C8B-B14F-4D97-AF65-F5344CB8AC3E}">
        <p14:creationId xmlns:p14="http://schemas.microsoft.com/office/powerpoint/2010/main" val="404256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EBAC6-0AB2-BB89-2D08-0722AC6D0D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51327C69-2A6A-0BF4-8C1D-1643646FA901}"/>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F6F1D43F-E289-844C-C755-612620FA1E2D}"/>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8362B28B-EC7A-5F54-DE0B-74649919913C}"/>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2FF2E9C4-A04F-DE66-DEFC-0FA485FFE592}"/>
              </a:ext>
            </a:extLst>
          </p:cNvPr>
          <p:cNvSpPr txBox="1">
            <a:spLocks noGrp="1"/>
          </p:cNvSpPr>
          <p:nvPr>
            <p:ph type="title"/>
          </p:nvPr>
        </p:nvSpPr>
        <p:spPr>
          <a:xfrm>
            <a:off x="381000" y="395032"/>
            <a:ext cx="10244278" cy="502757"/>
          </a:xfrm>
          <a:prstGeom prst="rect">
            <a:avLst/>
          </a:prstGeom>
        </p:spPr>
        <p:txBody>
          <a:bodyPr vert="horz" wrap="square" lIns="0" tIns="71175" rIns="0" bIns="0" rtlCol="0">
            <a:spAutoFit/>
          </a:bodyPr>
          <a:lstStyle/>
          <a:p>
            <a:r>
              <a:rPr lang="en-US" sz="2800" dirty="0"/>
              <a:t>Entrepreneurial Mindset in Example of </a:t>
            </a:r>
            <a:r>
              <a:rPr lang="en-MY" sz="2800" dirty="0"/>
              <a:t>Software Project </a:t>
            </a:r>
            <a:endParaRPr sz="2800" dirty="0"/>
          </a:p>
        </p:txBody>
      </p:sp>
      <p:sp>
        <p:nvSpPr>
          <p:cNvPr id="6" name="object 6">
            <a:extLst>
              <a:ext uri="{FF2B5EF4-FFF2-40B4-BE49-F238E27FC236}">
                <a16:creationId xmlns:a16="http://schemas.microsoft.com/office/drawing/2014/main" id="{23C51DE4-E740-54F8-5AF4-EA7B286F5433}"/>
              </a:ext>
            </a:extLst>
          </p:cNvPr>
          <p:cNvSpPr txBox="1"/>
          <p:nvPr/>
        </p:nvSpPr>
        <p:spPr>
          <a:xfrm>
            <a:off x="380999" y="1176848"/>
            <a:ext cx="10770883" cy="1243930"/>
          </a:xfrm>
          <a:prstGeom prst="rect">
            <a:avLst/>
          </a:prstGeom>
          <a:solidFill>
            <a:schemeClr val="bg1"/>
          </a:solidFill>
        </p:spPr>
        <p:txBody>
          <a:bodyPr vert="horz" wrap="square" lIns="0" tIns="12700" rIns="0" bIns="0" rtlCol="0">
            <a:spAutoFit/>
          </a:bodyPr>
          <a:lstStyle/>
          <a:p>
            <a:r>
              <a:rPr lang="en-US" sz="2000" b="1" dirty="0"/>
              <a:t>Case:</a:t>
            </a:r>
            <a:r>
              <a:rPr lang="en-US" sz="2000" dirty="0"/>
              <a:t> </a:t>
            </a:r>
            <a:r>
              <a:rPr lang="en-US" sz="2000" i="1" dirty="0"/>
              <a:t>University Smart Attendance &amp; Analytics System</a:t>
            </a:r>
            <a:br>
              <a:rPr lang="en-US" sz="2000" dirty="0"/>
            </a:br>
            <a:r>
              <a:rPr lang="en-US" sz="2000" dirty="0"/>
              <a:t>A web-based system used by universities to manage attendance, generate analytics, and provide compliance reports for management.</a:t>
            </a:r>
          </a:p>
          <a:p>
            <a:endParaRPr lang="en-US" sz="2000" b="1" dirty="0"/>
          </a:p>
        </p:txBody>
      </p:sp>
      <p:sp>
        <p:nvSpPr>
          <p:cNvPr id="8" name="object 8">
            <a:extLst>
              <a:ext uri="{FF2B5EF4-FFF2-40B4-BE49-F238E27FC236}">
                <a16:creationId xmlns:a16="http://schemas.microsoft.com/office/drawing/2014/main" id="{A4980982-68FA-65E1-7F46-367934B02B7A}"/>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E559E3D1-AF73-A1F8-50B1-5814806A97F7}"/>
              </a:ext>
            </a:extLst>
          </p:cNvPr>
          <p:cNvPicPr>
            <a:picLocks noChangeAspect="1"/>
          </p:cNvPicPr>
          <p:nvPr/>
        </p:nvPicPr>
        <p:blipFill>
          <a:blip r:embed="rId3"/>
          <a:stretch>
            <a:fillRect/>
          </a:stretch>
        </p:blipFill>
        <p:spPr>
          <a:xfrm>
            <a:off x="360990" y="2485425"/>
            <a:ext cx="6878010" cy="4296375"/>
          </a:xfrm>
          <a:prstGeom prst="rect">
            <a:avLst/>
          </a:prstGeom>
        </p:spPr>
      </p:pic>
    </p:spTree>
    <p:extLst>
      <p:ext uri="{BB962C8B-B14F-4D97-AF65-F5344CB8AC3E}">
        <p14:creationId xmlns:p14="http://schemas.microsoft.com/office/powerpoint/2010/main" val="3108012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B80CE-4018-46A9-1C95-F0DE2B9E8AA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49A4244-D19B-FD1B-6413-FB68E29DB5B9}"/>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979F7A7C-6535-A558-1966-8BB36B1EBDCD}"/>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CA8D5054-993A-3201-F470-C8E06EEAF0A8}"/>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4F990533-45E6-040B-F36E-CE99F8766125}"/>
              </a:ext>
            </a:extLst>
          </p:cNvPr>
          <p:cNvSpPr txBox="1">
            <a:spLocks noGrp="1"/>
          </p:cNvSpPr>
          <p:nvPr>
            <p:ph type="title"/>
          </p:nvPr>
        </p:nvSpPr>
        <p:spPr>
          <a:xfrm>
            <a:off x="381000" y="395032"/>
            <a:ext cx="10244278" cy="502757"/>
          </a:xfrm>
          <a:prstGeom prst="rect">
            <a:avLst/>
          </a:prstGeom>
        </p:spPr>
        <p:txBody>
          <a:bodyPr vert="horz" wrap="square" lIns="0" tIns="71175" rIns="0" bIns="0" rtlCol="0">
            <a:spAutoFit/>
          </a:bodyPr>
          <a:lstStyle/>
          <a:p>
            <a:r>
              <a:rPr lang="en-US" sz="2800" dirty="0"/>
              <a:t>Entrepreneurial Mindset in Example of </a:t>
            </a:r>
            <a:r>
              <a:rPr lang="en-MY" sz="2800" dirty="0"/>
              <a:t>Software Project </a:t>
            </a:r>
            <a:endParaRPr sz="2800" dirty="0"/>
          </a:p>
        </p:txBody>
      </p:sp>
      <p:sp>
        <p:nvSpPr>
          <p:cNvPr id="6" name="object 6">
            <a:extLst>
              <a:ext uri="{FF2B5EF4-FFF2-40B4-BE49-F238E27FC236}">
                <a16:creationId xmlns:a16="http://schemas.microsoft.com/office/drawing/2014/main" id="{F2082FEB-6701-31D2-B379-A73B8570628C}"/>
              </a:ext>
            </a:extLst>
          </p:cNvPr>
          <p:cNvSpPr txBox="1"/>
          <p:nvPr/>
        </p:nvSpPr>
        <p:spPr>
          <a:xfrm>
            <a:off x="380999" y="1176848"/>
            <a:ext cx="10770883" cy="936154"/>
          </a:xfrm>
          <a:prstGeom prst="rect">
            <a:avLst/>
          </a:prstGeom>
          <a:solidFill>
            <a:schemeClr val="bg1"/>
          </a:solidFill>
        </p:spPr>
        <p:txBody>
          <a:bodyPr vert="horz" wrap="square" lIns="0" tIns="12700" rIns="0" bIns="0" rtlCol="0">
            <a:spAutoFit/>
          </a:bodyPr>
          <a:lstStyle/>
          <a:p>
            <a:r>
              <a:rPr lang="en-US" sz="2000" b="1" dirty="0"/>
              <a:t>Case:</a:t>
            </a:r>
            <a:r>
              <a:rPr lang="en-US" sz="2000" dirty="0"/>
              <a:t> </a:t>
            </a:r>
            <a:r>
              <a:rPr lang="en-US" sz="2000" i="1" dirty="0"/>
              <a:t>University Smart Attendance &amp; Analytics System</a:t>
            </a:r>
            <a:br>
              <a:rPr lang="en-US" sz="2000" dirty="0"/>
            </a:br>
            <a:r>
              <a:rPr lang="en-US" sz="2000" dirty="0"/>
              <a:t>A web-based system used by universities to manage attendance, generate analytics, and provide compliance reports for management.</a:t>
            </a:r>
          </a:p>
        </p:txBody>
      </p:sp>
      <p:sp>
        <p:nvSpPr>
          <p:cNvPr id="8" name="object 8">
            <a:extLst>
              <a:ext uri="{FF2B5EF4-FFF2-40B4-BE49-F238E27FC236}">
                <a16:creationId xmlns:a16="http://schemas.microsoft.com/office/drawing/2014/main" id="{23EF8DE5-4E9D-E8F3-13C2-186C49F638C3}"/>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CD693762-2493-FE10-6D26-071C2E4AFFC5}"/>
              </a:ext>
            </a:extLst>
          </p:cNvPr>
          <p:cNvPicPr>
            <a:picLocks noChangeAspect="1"/>
          </p:cNvPicPr>
          <p:nvPr/>
        </p:nvPicPr>
        <p:blipFill>
          <a:blip r:embed="rId3"/>
          <a:stretch>
            <a:fillRect/>
          </a:stretch>
        </p:blipFill>
        <p:spPr>
          <a:xfrm>
            <a:off x="364066" y="2219284"/>
            <a:ext cx="6354062" cy="4629796"/>
          </a:xfrm>
          <a:prstGeom prst="rect">
            <a:avLst/>
          </a:prstGeom>
        </p:spPr>
      </p:pic>
    </p:spTree>
    <p:extLst>
      <p:ext uri="{BB962C8B-B14F-4D97-AF65-F5344CB8AC3E}">
        <p14:creationId xmlns:p14="http://schemas.microsoft.com/office/powerpoint/2010/main" val="345730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124C-1F17-CAFF-090F-3AC2FB4CA6B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5444A2C-55CF-34AC-F9D4-A61A19DABE04}"/>
              </a:ext>
            </a:extLst>
          </p:cNvPr>
          <p:cNvSpPr txBox="1"/>
          <p:nvPr/>
        </p:nvSpPr>
        <p:spPr>
          <a:xfrm>
            <a:off x="1957470" y="2613464"/>
            <a:ext cx="3597910" cy="1075294"/>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spc="-145" dirty="0">
                <a:solidFill>
                  <a:srgbClr val="FFFFFF"/>
                </a:solidFill>
                <a:latin typeface="Tahoma"/>
                <a:cs typeface="Tahoma"/>
              </a:rPr>
              <a:t>Monetization Strategies</a:t>
            </a:r>
            <a:endParaRPr sz="3600" dirty="0">
              <a:latin typeface="Tahoma"/>
              <a:cs typeface="Tahoma"/>
            </a:endParaRPr>
          </a:p>
        </p:txBody>
      </p:sp>
      <p:sp>
        <p:nvSpPr>
          <p:cNvPr id="4" name="object 4">
            <a:extLst>
              <a:ext uri="{FF2B5EF4-FFF2-40B4-BE49-F238E27FC236}">
                <a16:creationId xmlns:a16="http://schemas.microsoft.com/office/drawing/2014/main" id="{4840678C-C332-62B7-A688-923A21840C5A}"/>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1026" name="Picture 2" descr="Software Monetization: 6 strategies - Academy SMART">
            <a:extLst>
              <a:ext uri="{FF2B5EF4-FFF2-40B4-BE49-F238E27FC236}">
                <a16:creationId xmlns:a16="http://schemas.microsoft.com/office/drawing/2014/main" id="{40EA47E5-8B0D-564E-61EE-03755AE21C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2821046"/>
            <a:ext cx="4260321" cy="2559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381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28D70-1DD3-B771-FD79-AF97712A555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21D0579-C8BA-C3BF-1B2D-A332849577BE}"/>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A7FA660B-462A-D43B-5B1F-08B26F480F95}"/>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917AB91D-29D3-F71F-52DD-ED9554CF3383}"/>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CFBC572D-9852-A991-4104-87806F383CCB}"/>
              </a:ext>
            </a:extLst>
          </p:cNvPr>
          <p:cNvSpPr txBox="1">
            <a:spLocks noGrp="1"/>
          </p:cNvSpPr>
          <p:nvPr>
            <p:ph type="title"/>
          </p:nvPr>
        </p:nvSpPr>
        <p:spPr>
          <a:xfrm>
            <a:off x="1211851" y="395032"/>
            <a:ext cx="9413427" cy="625868"/>
          </a:xfrm>
          <a:prstGeom prst="rect">
            <a:avLst/>
          </a:prstGeom>
        </p:spPr>
        <p:txBody>
          <a:bodyPr vert="horz" wrap="square" lIns="0" tIns="71175" rIns="0" bIns="0" rtlCol="0">
            <a:spAutoFit/>
          </a:bodyPr>
          <a:lstStyle/>
          <a:p>
            <a:r>
              <a:rPr lang="en-US" dirty="0"/>
              <a:t>Why Monetization Matters?</a:t>
            </a:r>
          </a:p>
        </p:txBody>
      </p:sp>
      <p:sp>
        <p:nvSpPr>
          <p:cNvPr id="6" name="object 6">
            <a:extLst>
              <a:ext uri="{FF2B5EF4-FFF2-40B4-BE49-F238E27FC236}">
                <a16:creationId xmlns:a16="http://schemas.microsoft.com/office/drawing/2014/main" id="{672CC6F4-4101-6CC0-5E53-7CA6098F518D}"/>
              </a:ext>
            </a:extLst>
          </p:cNvPr>
          <p:cNvSpPr txBox="1"/>
          <p:nvPr/>
        </p:nvSpPr>
        <p:spPr>
          <a:xfrm>
            <a:off x="609600" y="1752600"/>
            <a:ext cx="9601200" cy="4075475"/>
          </a:xfrm>
          <a:prstGeom prst="rect">
            <a:avLst/>
          </a:prstGeom>
        </p:spPr>
        <p:txBody>
          <a:bodyPr vert="horz" wrap="square" lIns="0" tIns="12700" rIns="0" bIns="0" rtlCol="0">
            <a:spAutoFit/>
          </a:bodyPr>
          <a:lstStyle/>
          <a:p>
            <a:r>
              <a:rPr sz="2400" dirty="0"/>
              <a:t>Software projects must generate business value.</a:t>
            </a:r>
          </a:p>
          <a:p>
            <a:endParaRPr sz="2400" dirty="0"/>
          </a:p>
          <a:p>
            <a:r>
              <a:rPr lang="en-US" sz="2400" b="1" dirty="0"/>
              <a:t>Common Monetization Strategies:</a:t>
            </a:r>
          </a:p>
          <a:p>
            <a:r>
              <a:rPr lang="en-US" sz="2400" b="1" dirty="0"/>
              <a:t>Subscription model</a:t>
            </a:r>
            <a:r>
              <a:rPr lang="en-US" sz="2400" dirty="0"/>
              <a:t> – Monthly / yearly SaaS fees</a:t>
            </a:r>
          </a:p>
          <a:p>
            <a:r>
              <a:rPr lang="en-US" sz="2400" b="1" dirty="0"/>
              <a:t>Usage-based pricing</a:t>
            </a:r>
            <a:r>
              <a:rPr lang="en-US" sz="2400" dirty="0"/>
              <a:t> – Per user, per transaction, or per API call</a:t>
            </a:r>
          </a:p>
          <a:p>
            <a:r>
              <a:rPr lang="en-US" sz="2400" b="1" dirty="0"/>
              <a:t>Licensing model</a:t>
            </a:r>
            <a:r>
              <a:rPr lang="en-US" sz="2400" dirty="0"/>
              <a:t> – One-time or periodic </a:t>
            </a:r>
            <a:r>
              <a:rPr lang="en-US" sz="2400" dirty="0" err="1"/>
              <a:t>licence</a:t>
            </a:r>
            <a:r>
              <a:rPr lang="en-US" sz="2400" dirty="0"/>
              <a:t> fees</a:t>
            </a:r>
          </a:p>
          <a:p>
            <a:r>
              <a:rPr lang="en-US" sz="2400" b="1" dirty="0"/>
              <a:t>Freemium model</a:t>
            </a:r>
            <a:r>
              <a:rPr lang="en-US" sz="2400" dirty="0"/>
              <a:t> – Free core features, paid premium services</a:t>
            </a:r>
          </a:p>
          <a:p>
            <a:r>
              <a:rPr lang="en-US" sz="2400" b="1" dirty="0"/>
              <a:t>Enterprise contracts</a:t>
            </a:r>
            <a:r>
              <a:rPr lang="en-US" sz="2400" dirty="0"/>
              <a:t> – </a:t>
            </a:r>
            <a:r>
              <a:rPr lang="en-US" sz="2400" dirty="0" err="1"/>
              <a:t>Customised</a:t>
            </a:r>
            <a:r>
              <a:rPr lang="en-US" sz="2400" dirty="0"/>
              <a:t> solutions with SLA commitments</a:t>
            </a:r>
          </a:p>
          <a:p>
            <a:endParaRPr lang="en-US" sz="2400" dirty="0"/>
          </a:p>
          <a:p>
            <a:r>
              <a:rPr sz="2400" dirty="0"/>
              <a:t>Agile / DSDM Link:</a:t>
            </a:r>
          </a:p>
          <a:p>
            <a:r>
              <a:rPr sz="2400" dirty="0"/>
              <a:t>Influences </a:t>
            </a:r>
            <a:r>
              <a:rPr sz="2400" dirty="0" err="1"/>
              <a:t>MoSCoW</a:t>
            </a:r>
            <a:r>
              <a:rPr sz="2400" dirty="0"/>
              <a:t> </a:t>
            </a:r>
            <a:r>
              <a:rPr sz="2400" dirty="0" err="1"/>
              <a:t>prioritisation</a:t>
            </a:r>
            <a:r>
              <a:rPr sz="2400" dirty="0"/>
              <a:t> and cost–benefit decisions.</a:t>
            </a:r>
          </a:p>
        </p:txBody>
      </p:sp>
      <p:sp>
        <p:nvSpPr>
          <p:cNvPr id="8" name="object 8">
            <a:extLst>
              <a:ext uri="{FF2B5EF4-FFF2-40B4-BE49-F238E27FC236}">
                <a16:creationId xmlns:a16="http://schemas.microsoft.com/office/drawing/2014/main" id="{66362B64-4EC4-D44B-E0AE-A590859F16DD}"/>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spTree>
    <p:extLst>
      <p:ext uri="{BB962C8B-B14F-4D97-AF65-F5344CB8AC3E}">
        <p14:creationId xmlns:p14="http://schemas.microsoft.com/office/powerpoint/2010/main" val="855583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C4771-A235-C765-1C31-B00192A82365}"/>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5A866C8-4D12-1CA7-3BBF-C76CA52E283E}"/>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5D718E1A-94F4-9B0D-E4D9-9669DD9BF697}"/>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D4C73295-E62D-D510-E56C-47C355A8EC0A}"/>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EE5EB551-38AB-D06A-BC5A-0C5730206ED2}"/>
              </a:ext>
            </a:extLst>
          </p:cNvPr>
          <p:cNvSpPr txBox="1">
            <a:spLocks noGrp="1"/>
          </p:cNvSpPr>
          <p:nvPr>
            <p:ph type="title"/>
          </p:nvPr>
        </p:nvSpPr>
        <p:spPr>
          <a:xfrm>
            <a:off x="609600" y="447761"/>
            <a:ext cx="9413427" cy="625868"/>
          </a:xfrm>
          <a:prstGeom prst="rect">
            <a:avLst/>
          </a:prstGeom>
        </p:spPr>
        <p:txBody>
          <a:bodyPr vert="horz" wrap="square" lIns="0" tIns="71175" rIns="0" bIns="0" rtlCol="0">
            <a:spAutoFit/>
          </a:bodyPr>
          <a:lstStyle/>
          <a:p>
            <a:r>
              <a:rPr lang="en-US" dirty="0"/>
              <a:t>Monetization Strategies</a:t>
            </a:r>
          </a:p>
        </p:txBody>
      </p:sp>
      <p:sp>
        <p:nvSpPr>
          <p:cNvPr id="8" name="object 8">
            <a:extLst>
              <a:ext uri="{FF2B5EF4-FFF2-40B4-BE49-F238E27FC236}">
                <a16:creationId xmlns:a16="http://schemas.microsoft.com/office/drawing/2014/main" id="{4E008BEA-6E25-FDCE-767F-490C35706A0C}"/>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86D91E42-A241-DFB3-EC83-939502A92B24}"/>
              </a:ext>
            </a:extLst>
          </p:cNvPr>
          <p:cNvPicPr>
            <a:picLocks noChangeAspect="1"/>
          </p:cNvPicPr>
          <p:nvPr/>
        </p:nvPicPr>
        <p:blipFill>
          <a:blip r:embed="rId3"/>
          <a:stretch>
            <a:fillRect/>
          </a:stretch>
        </p:blipFill>
        <p:spPr>
          <a:xfrm>
            <a:off x="304800" y="1569000"/>
            <a:ext cx="5628503" cy="5129481"/>
          </a:xfrm>
          <a:prstGeom prst="rect">
            <a:avLst/>
          </a:prstGeom>
        </p:spPr>
      </p:pic>
      <p:pic>
        <p:nvPicPr>
          <p:cNvPr id="11" name="Picture 10">
            <a:extLst>
              <a:ext uri="{FF2B5EF4-FFF2-40B4-BE49-F238E27FC236}">
                <a16:creationId xmlns:a16="http://schemas.microsoft.com/office/drawing/2014/main" id="{A7574A14-4532-6E32-0653-2E0314F5D1C9}"/>
              </a:ext>
            </a:extLst>
          </p:cNvPr>
          <p:cNvPicPr>
            <a:picLocks noChangeAspect="1"/>
          </p:cNvPicPr>
          <p:nvPr/>
        </p:nvPicPr>
        <p:blipFill>
          <a:blip r:embed="rId4"/>
          <a:stretch>
            <a:fillRect/>
          </a:stretch>
        </p:blipFill>
        <p:spPr>
          <a:xfrm>
            <a:off x="6096000" y="1575486"/>
            <a:ext cx="6096000" cy="4463683"/>
          </a:xfrm>
          <a:prstGeom prst="rect">
            <a:avLst/>
          </a:prstGeom>
        </p:spPr>
      </p:pic>
    </p:spTree>
    <p:extLst>
      <p:ext uri="{BB962C8B-B14F-4D97-AF65-F5344CB8AC3E}">
        <p14:creationId xmlns:p14="http://schemas.microsoft.com/office/powerpoint/2010/main" val="3550772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D673-D3DD-F56D-1116-3544674D5BE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A2B6FC7-1E3B-5BC7-4387-2472CCAFA1A1}"/>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D8C2BE50-5813-6722-D415-11374E87629E}"/>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C56B762E-03F2-D558-3588-915655DF3591}"/>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E1B1777F-AC70-F3E4-5A95-1640946CAA48}"/>
              </a:ext>
            </a:extLst>
          </p:cNvPr>
          <p:cNvSpPr txBox="1">
            <a:spLocks noGrp="1"/>
          </p:cNvSpPr>
          <p:nvPr>
            <p:ph type="title"/>
          </p:nvPr>
        </p:nvSpPr>
        <p:spPr>
          <a:xfrm>
            <a:off x="609600" y="447761"/>
            <a:ext cx="9413427" cy="625868"/>
          </a:xfrm>
          <a:prstGeom prst="rect">
            <a:avLst/>
          </a:prstGeom>
        </p:spPr>
        <p:txBody>
          <a:bodyPr vert="horz" wrap="square" lIns="0" tIns="71175" rIns="0" bIns="0" rtlCol="0">
            <a:spAutoFit/>
          </a:bodyPr>
          <a:lstStyle/>
          <a:p>
            <a:r>
              <a:rPr lang="en-US" dirty="0"/>
              <a:t>Monetization Strategies</a:t>
            </a:r>
          </a:p>
        </p:txBody>
      </p:sp>
      <p:sp>
        <p:nvSpPr>
          <p:cNvPr id="8" name="object 8">
            <a:extLst>
              <a:ext uri="{FF2B5EF4-FFF2-40B4-BE49-F238E27FC236}">
                <a16:creationId xmlns:a16="http://schemas.microsoft.com/office/drawing/2014/main" id="{F880EA55-5D31-B21B-4FD9-66F7DC695457}"/>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7" name="Picture 6">
            <a:extLst>
              <a:ext uri="{FF2B5EF4-FFF2-40B4-BE49-F238E27FC236}">
                <a16:creationId xmlns:a16="http://schemas.microsoft.com/office/drawing/2014/main" id="{63427718-F341-294A-2260-FD16BEA2FA3F}"/>
              </a:ext>
            </a:extLst>
          </p:cNvPr>
          <p:cNvPicPr>
            <a:picLocks noChangeAspect="1"/>
          </p:cNvPicPr>
          <p:nvPr/>
        </p:nvPicPr>
        <p:blipFill>
          <a:blip r:embed="rId3"/>
          <a:stretch>
            <a:fillRect/>
          </a:stretch>
        </p:blipFill>
        <p:spPr>
          <a:xfrm>
            <a:off x="228600" y="1631754"/>
            <a:ext cx="5515745" cy="3982006"/>
          </a:xfrm>
          <a:prstGeom prst="rect">
            <a:avLst/>
          </a:prstGeom>
        </p:spPr>
      </p:pic>
      <p:pic>
        <p:nvPicPr>
          <p:cNvPr id="12" name="Picture 11">
            <a:extLst>
              <a:ext uri="{FF2B5EF4-FFF2-40B4-BE49-F238E27FC236}">
                <a16:creationId xmlns:a16="http://schemas.microsoft.com/office/drawing/2014/main" id="{D98F0A0B-64E5-B1CC-F92D-CD3A163F409A}"/>
              </a:ext>
            </a:extLst>
          </p:cNvPr>
          <p:cNvPicPr>
            <a:picLocks noChangeAspect="1"/>
          </p:cNvPicPr>
          <p:nvPr/>
        </p:nvPicPr>
        <p:blipFill>
          <a:blip r:embed="rId4"/>
          <a:stretch>
            <a:fillRect/>
          </a:stretch>
        </p:blipFill>
        <p:spPr>
          <a:xfrm>
            <a:off x="6120714" y="1631754"/>
            <a:ext cx="5277587" cy="3982006"/>
          </a:xfrm>
          <a:prstGeom prst="rect">
            <a:avLst/>
          </a:prstGeom>
        </p:spPr>
      </p:pic>
    </p:spTree>
    <p:extLst>
      <p:ext uri="{BB962C8B-B14F-4D97-AF65-F5344CB8AC3E}">
        <p14:creationId xmlns:p14="http://schemas.microsoft.com/office/powerpoint/2010/main" val="247782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6BDA6-0EC5-111C-67E2-2BA82DD4FCD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18608D59-EFC7-C6BA-A2E2-7D0EA56806AA}"/>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460647E0-7C4A-B103-4123-A7DEB1840F1F}"/>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1CA362F2-38B7-0008-9BEC-0D994954D52C}"/>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0210BA06-4F0E-A250-770B-3E1B473BF96A}"/>
              </a:ext>
            </a:extLst>
          </p:cNvPr>
          <p:cNvSpPr txBox="1">
            <a:spLocks noGrp="1"/>
          </p:cNvSpPr>
          <p:nvPr>
            <p:ph type="title"/>
          </p:nvPr>
        </p:nvSpPr>
        <p:spPr>
          <a:xfrm>
            <a:off x="609600" y="447761"/>
            <a:ext cx="9413427" cy="625868"/>
          </a:xfrm>
          <a:prstGeom prst="rect">
            <a:avLst/>
          </a:prstGeom>
        </p:spPr>
        <p:txBody>
          <a:bodyPr vert="horz" wrap="square" lIns="0" tIns="71175" rIns="0" bIns="0" rtlCol="0">
            <a:spAutoFit/>
          </a:bodyPr>
          <a:lstStyle/>
          <a:p>
            <a:r>
              <a:rPr lang="en-US" dirty="0"/>
              <a:t>Monetization Strategies</a:t>
            </a:r>
          </a:p>
        </p:txBody>
      </p:sp>
      <p:sp>
        <p:nvSpPr>
          <p:cNvPr id="8" name="object 8">
            <a:extLst>
              <a:ext uri="{FF2B5EF4-FFF2-40B4-BE49-F238E27FC236}">
                <a16:creationId xmlns:a16="http://schemas.microsoft.com/office/drawing/2014/main" id="{285D786F-49D9-7ED2-8E94-8CEB80203B34}"/>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4141BB40-4D90-9DDA-3887-35B4E1D9E0DA}"/>
              </a:ext>
            </a:extLst>
          </p:cNvPr>
          <p:cNvPicPr>
            <a:picLocks noChangeAspect="1"/>
          </p:cNvPicPr>
          <p:nvPr/>
        </p:nvPicPr>
        <p:blipFill>
          <a:blip r:embed="rId3"/>
          <a:stretch>
            <a:fillRect/>
          </a:stretch>
        </p:blipFill>
        <p:spPr>
          <a:xfrm>
            <a:off x="609600" y="1561905"/>
            <a:ext cx="5667278" cy="5226245"/>
          </a:xfrm>
          <a:prstGeom prst="rect">
            <a:avLst/>
          </a:prstGeom>
        </p:spPr>
      </p:pic>
    </p:spTree>
    <p:extLst>
      <p:ext uri="{BB962C8B-B14F-4D97-AF65-F5344CB8AC3E}">
        <p14:creationId xmlns:p14="http://schemas.microsoft.com/office/powerpoint/2010/main" val="503864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FADFC-F1D1-23BA-EBF3-FE925D92EA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728A32C-BDE9-327B-A2D7-810A6FD96CF0}"/>
              </a:ext>
            </a:extLst>
          </p:cNvPr>
          <p:cNvSpPr txBox="1"/>
          <p:nvPr/>
        </p:nvSpPr>
        <p:spPr>
          <a:xfrm>
            <a:off x="1957470" y="2613464"/>
            <a:ext cx="3597910" cy="1575431"/>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spc="-145" dirty="0">
                <a:solidFill>
                  <a:srgbClr val="FFFFFF"/>
                </a:solidFill>
                <a:latin typeface="Tahoma"/>
                <a:cs typeface="Tahoma"/>
              </a:rPr>
              <a:t>Market Research &amp; Target Audience</a:t>
            </a:r>
            <a:endParaRPr sz="3600" dirty="0">
              <a:latin typeface="Tahoma"/>
              <a:cs typeface="Tahoma"/>
            </a:endParaRPr>
          </a:p>
        </p:txBody>
      </p:sp>
      <p:sp>
        <p:nvSpPr>
          <p:cNvPr id="4" name="object 4">
            <a:extLst>
              <a:ext uri="{FF2B5EF4-FFF2-40B4-BE49-F238E27FC236}">
                <a16:creationId xmlns:a16="http://schemas.microsoft.com/office/drawing/2014/main" id="{11077822-2F95-1E2D-026F-2D912CB768D8}"/>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3" name="Picture 2" descr="Step by Step Guide to the Market Research Process - Relevant ...">
            <a:extLst>
              <a:ext uri="{FF2B5EF4-FFF2-40B4-BE49-F238E27FC236}">
                <a16:creationId xmlns:a16="http://schemas.microsoft.com/office/drawing/2014/main" id="{0D124EDD-A18A-31BC-3787-087C5883F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723068"/>
            <a:ext cx="6248400" cy="351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486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83DD-F0B3-36E1-FC84-B2FA40512E20}"/>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B0378F5-C827-D36E-E507-B2ADAF9248BC}"/>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E1AF4559-A619-BAA0-8429-3E1B6EA7EF3A}"/>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DFBEEAE5-7312-9C2C-B5A3-02B7F36E3671}"/>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5F61ACCE-48C4-0B27-A793-E95FB675189D}"/>
              </a:ext>
            </a:extLst>
          </p:cNvPr>
          <p:cNvSpPr txBox="1">
            <a:spLocks noGrp="1"/>
          </p:cNvSpPr>
          <p:nvPr>
            <p:ph type="title"/>
          </p:nvPr>
        </p:nvSpPr>
        <p:spPr>
          <a:xfrm>
            <a:off x="838200" y="403426"/>
            <a:ext cx="9413427" cy="625868"/>
          </a:xfrm>
          <a:prstGeom prst="rect">
            <a:avLst/>
          </a:prstGeom>
        </p:spPr>
        <p:txBody>
          <a:bodyPr vert="horz" wrap="square" lIns="0" tIns="71175" rIns="0" bIns="0" rtlCol="0">
            <a:spAutoFit/>
          </a:bodyPr>
          <a:lstStyle/>
          <a:p>
            <a:r>
              <a:rPr lang="en-US" dirty="0"/>
              <a:t>Purpose of Market Research</a:t>
            </a:r>
          </a:p>
        </p:txBody>
      </p:sp>
      <p:sp>
        <p:nvSpPr>
          <p:cNvPr id="6" name="object 6">
            <a:extLst>
              <a:ext uri="{FF2B5EF4-FFF2-40B4-BE49-F238E27FC236}">
                <a16:creationId xmlns:a16="http://schemas.microsoft.com/office/drawing/2014/main" id="{CE96CED8-2629-26CB-F8CE-E3268B1F969F}"/>
              </a:ext>
            </a:extLst>
          </p:cNvPr>
          <p:cNvSpPr txBox="1"/>
          <p:nvPr/>
        </p:nvSpPr>
        <p:spPr>
          <a:xfrm>
            <a:off x="838200" y="1383280"/>
            <a:ext cx="8955021" cy="4567917"/>
          </a:xfrm>
          <a:prstGeom prst="rect">
            <a:avLst/>
          </a:prstGeom>
          <a:solidFill>
            <a:schemeClr val="bg1"/>
          </a:solidFill>
        </p:spPr>
        <p:txBody>
          <a:bodyPr vert="horz" wrap="square" lIns="0" tIns="12700" rIns="0" bIns="0" rtlCol="0">
            <a:spAutoFit/>
          </a:bodyPr>
          <a:lstStyle/>
          <a:p>
            <a:r>
              <a:rPr lang="en-US" sz="2400" dirty="0"/>
              <a:t>To understand who the system is for, what problems it solves, and why users will adopt it.</a:t>
            </a:r>
            <a:endParaRPr sz="2400" dirty="0"/>
          </a:p>
          <a:p>
            <a:endParaRPr lang="en-MY" sz="2400" dirty="0"/>
          </a:p>
          <a:p>
            <a:r>
              <a:rPr sz="2400" b="1" dirty="0"/>
              <a:t>Key Activities</a:t>
            </a:r>
            <a:r>
              <a:rPr sz="2400" dirty="0"/>
              <a:t>:</a:t>
            </a:r>
          </a:p>
          <a:p>
            <a:pPr marL="342900" indent="-342900">
              <a:buFont typeface="Arial" panose="020B0604020202020204" pitchFamily="34" charset="0"/>
              <a:buChar char="•"/>
            </a:pPr>
            <a:r>
              <a:rPr lang="en-US" sz="2000" dirty="0"/>
              <a:t>Identify target users (students, lecturers, administrators, enterprises)</a:t>
            </a:r>
          </a:p>
          <a:p>
            <a:pPr marL="342900" indent="-342900">
              <a:buFont typeface="Arial" panose="020B0604020202020204" pitchFamily="34" charset="0"/>
              <a:buChar char="•"/>
            </a:pPr>
            <a:r>
              <a:rPr lang="en-US" sz="2000" dirty="0" err="1"/>
              <a:t>Analyse</a:t>
            </a:r>
            <a:r>
              <a:rPr lang="en-US" sz="2000" dirty="0"/>
              <a:t> user pain points and expectations</a:t>
            </a:r>
          </a:p>
          <a:p>
            <a:pPr marL="342900" indent="-342900">
              <a:buFont typeface="Arial" panose="020B0604020202020204" pitchFamily="34" charset="0"/>
              <a:buChar char="•"/>
            </a:pPr>
            <a:r>
              <a:rPr lang="en-US" sz="2000" dirty="0"/>
              <a:t>Study competitors and alternative solutions</a:t>
            </a:r>
          </a:p>
          <a:p>
            <a:pPr marL="342900" indent="-342900">
              <a:buFont typeface="Arial" panose="020B0604020202020204" pitchFamily="34" charset="0"/>
              <a:buChar char="•"/>
            </a:pPr>
            <a:r>
              <a:rPr lang="en-US" sz="2000" dirty="0"/>
              <a:t>Validate product–market fit early</a:t>
            </a:r>
          </a:p>
          <a:p>
            <a:endParaRPr sz="2400" dirty="0"/>
          </a:p>
          <a:p>
            <a:r>
              <a:rPr sz="2400" b="1" dirty="0"/>
              <a:t>Agile / DSDM Link:</a:t>
            </a:r>
          </a:p>
          <a:p>
            <a:r>
              <a:rPr lang="en-US" sz="2400" dirty="0"/>
              <a:t>Drives user stories and acceptance criteria</a:t>
            </a:r>
          </a:p>
          <a:p>
            <a:r>
              <a:rPr lang="en-US" sz="2400" dirty="0"/>
              <a:t>Supports iterative feedback and refinement</a:t>
            </a:r>
          </a:p>
          <a:p>
            <a:r>
              <a:rPr lang="en-US" sz="2400" dirty="0"/>
              <a:t>Reduces risk of delivering low-value features</a:t>
            </a:r>
            <a:endParaRPr sz="2400" dirty="0"/>
          </a:p>
        </p:txBody>
      </p:sp>
      <p:sp>
        <p:nvSpPr>
          <p:cNvPr id="8" name="object 8">
            <a:extLst>
              <a:ext uri="{FF2B5EF4-FFF2-40B4-BE49-F238E27FC236}">
                <a16:creationId xmlns:a16="http://schemas.microsoft.com/office/drawing/2014/main" id="{97F82141-12B9-92E2-AB9E-4C07E318D07D}"/>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spTree>
    <p:extLst>
      <p:ext uri="{BB962C8B-B14F-4D97-AF65-F5344CB8AC3E}">
        <p14:creationId xmlns:p14="http://schemas.microsoft.com/office/powerpoint/2010/main" val="2266967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F3786-AD51-C7D5-4F40-50631B35A9EF}"/>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6E9EB63E-2792-458C-892F-CB03AC2833E2}"/>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3E192C4A-1768-1E97-DCD4-C0931A5DFD65}"/>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4F935C86-098F-9428-8706-764EB9330BCA}"/>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CD824FF4-36A7-7733-A220-8F15F244AB78}"/>
              </a:ext>
            </a:extLst>
          </p:cNvPr>
          <p:cNvSpPr txBox="1">
            <a:spLocks noGrp="1"/>
          </p:cNvSpPr>
          <p:nvPr>
            <p:ph type="title"/>
          </p:nvPr>
        </p:nvSpPr>
        <p:spPr>
          <a:xfrm>
            <a:off x="838200" y="403426"/>
            <a:ext cx="9413427" cy="625868"/>
          </a:xfrm>
          <a:prstGeom prst="rect">
            <a:avLst/>
          </a:prstGeom>
        </p:spPr>
        <p:txBody>
          <a:bodyPr vert="horz" wrap="square" lIns="0" tIns="71175" rIns="0" bIns="0" rtlCol="0">
            <a:spAutoFit/>
          </a:bodyPr>
          <a:lstStyle/>
          <a:p>
            <a:r>
              <a:rPr lang="en-US" dirty="0"/>
              <a:t>Purpose of Market Research</a:t>
            </a:r>
          </a:p>
        </p:txBody>
      </p:sp>
      <p:sp>
        <p:nvSpPr>
          <p:cNvPr id="8" name="object 8">
            <a:extLst>
              <a:ext uri="{FF2B5EF4-FFF2-40B4-BE49-F238E27FC236}">
                <a16:creationId xmlns:a16="http://schemas.microsoft.com/office/drawing/2014/main" id="{6D787791-0ED4-EBB8-A8FE-8AA95853F430}"/>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C1CFD8E0-3E10-33DC-29E7-783B5F1A890B}"/>
              </a:ext>
            </a:extLst>
          </p:cNvPr>
          <p:cNvPicPr>
            <a:picLocks noChangeAspect="1"/>
          </p:cNvPicPr>
          <p:nvPr/>
        </p:nvPicPr>
        <p:blipFill>
          <a:blip r:embed="rId2"/>
          <a:stretch>
            <a:fillRect/>
          </a:stretch>
        </p:blipFill>
        <p:spPr>
          <a:xfrm>
            <a:off x="228600" y="1631754"/>
            <a:ext cx="6001588" cy="3877216"/>
          </a:xfrm>
          <a:prstGeom prst="rect">
            <a:avLst/>
          </a:prstGeom>
        </p:spPr>
      </p:pic>
      <p:pic>
        <p:nvPicPr>
          <p:cNvPr id="11" name="Picture 10">
            <a:extLst>
              <a:ext uri="{FF2B5EF4-FFF2-40B4-BE49-F238E27FC236}">
                <a16:creationId xmlns:a16="http://schemas.microsoft.com/office/drawing/2014/main" id="{D939E93C-58C7-2ADA-5567-7A52D6EEC9B1}"/>
              </a:ext>
            </a:extLst>
          </p:cNvPr>
          <p:cNvPicPr>
            <a:picLocks noChangeAspect="1"/>
          </p:cNvPicPr>
          <p:nvPr/>
        </p:nvPicPr>
        <p:blipFill>
          <a:blip r:embed="rId3"/>
          <a:stretch>
            <a:fillRect/>
          </a:stretch>
        </p:blipFill>
        <p:spPr>
          <a:xfrm>
            <a:off x="6477000" y="1617168"/>
            <a:ext cx="5715000" cy="4506582"/>
          </a:xfrm>
          <a:prstGeom prst="rect">
            <a:avLst/>
          </a:prstGeom>
        </p:spPr>
      </p:pic>
    </p:spTree>
    <p:extLst>
      <p:ext uri="{BB962C8B-B14F-4D97-AF65-F5344CB8AC3E}">
        <p14:creationId xmlns:p14="http://schemas.microsoft.com/office/powerpoint/2010/main" val="3052969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5DD8-E242-559C-0C20-B709F537717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1BF4BB4-2065-082C-D5C7-553AD3493C11}"/>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3BA3F8F6-8C01-E6E1-BAC1-DA7331DDA08E}"/>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97BBCEDE-66FC-23E7-B434-B5151F5092FD}"/>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B5FEE84D-992B-8EF0-2655-3478408EB11A}"/>
              </a:ext>
            </a:extLst>
          </p:cNvPr>
          <p:cNvSpPr txBox="1">
            <a:spLocks noGrp="1"/>
          </p:cNvSpPr>
          <p:nvPr>
            <p:ph type="title"/>
          </p:nvPr>
        </p:nvSpPr>
        <p:spPr>
          <a:xfrm>
            <a:off x="838200" y="403426"/>
            <a:ext cx="9413427" cy="625868"/>
          </a:xfrm>
          <a:prstGeom prst="rect">
            <a:avLst/>
          </a:prstGeom>
        </p:spPr>
        <p:txBody>
          <a:bodyPr vert="horz" wrap="square" lIns="0" tIns="71175" rIns="0" bIns="0" rtlCol="0">
            <a:spAutoFit/>
          </a:bodyPr>
          <a:lstStyle/>
          <a:p>
            <a:r>
              <a:rPr lang="en-US" dirty="0"/>
              <a:t>Purpose of Market Research</a:t>
            </a:r>
          </a:p>
        </p:txBody>
      </p:sp>
      <p:sp>
        <p:nvSpPr>
          <p:cNvPr id="8" name="object 8">
            <a:extLst>
              <a:ext uri="{FF2B5EF4-FFF2-40B4-BE49-F238E27FC236}">
                <a16:creationId xmlns:a16="http://schemas.microsoft.com/office/drawing/2014/main" id="{86C9B552-9277-A6FD-6DD6-0014E830FE2C}"/>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7" name="Picture 6">
            <a:extLst>
              <a:ext uri="{FF2B5EF4-FFF2-40B4-BE49-F238E27FC236}">
                <a16:creationId xmlns:a16="http://schemas.microsoft.com/office/drawing/2014/main" id="{31569E40-CB0B-6039-8922-CA7D141E2635}"/>
              </a:ext>
            </a:extLst>
          </p:cNvPr>
          <p:cNvPicPr>
            <a:picLocks noChangeAspect="1"/>
          </p:cNvPicPr>
          <p:nvPr/>
        </p:nvPicPr>
        <p:blipFill>
          <a:blip r:embed="rId2"/>
          <a:stretch>
            <a:fillRect/>
          </a:stretch>
        </p:blipFill>
        <p:spPr>
          <a:xfrm>
            <a:off x="609600" y="1631754"/>
            <a:ext cx="5410955" cy="5153744"/>
          </a:xfrm>
          <a:prstGeom prst="rect">
            <a:avLst/>
          </a:prstGeom>
        </p:spPr>
      </p:pic>
      <p:pic>
        <p:nvPicPr>
          <p:cNvPr id="12" name="Picture 11">
            <a:extLst>
              <a:ext uri="{FF2B5EF4-FFF2-40B4-BE49-F238E27FC236}">
                <a16:creationId xmlns:a16="http://schemas.microsoft.com/office/drawing/2014/main" id="{6D851BFE-04DE-BA33-5FF7-6561C2D1E056}"/>
              </a:ext>
            </a:extLst>
          </p:cNvPr>
          <p:cNvPicPr>
            <a:picLocks noChangeAspect="1"/>
          </p:cNvPicPr>
          <p:nvPr/>
        </p:nvPicPr>
        <p:blipFill>
          <a:blip r:embed="rId3"/>
          <a:stretch>
            <a:fillRect/>
          </a:stretch>
        </p:blipFill>
        <p:spPr>
          <a:xfrm>
            <a:off x="6171447" y="1633813"/>
            <a:ext cx="5668166" cy="4001058"/>
          </a:xfrm>
          <a:prstGeom prst="rect">
            <a:avLst/>
          </a:prstGeom>
        </p:spPr>
      </p:pic>
    </p:spTree>
    <p:extLst>
      <p:ext uri="{BB962C8B-B14F-4D97-AF65-F5344CB8AC3E}">
        <p14:creationId xmlns:p14="http://schemas.microsoft.com/office/powerpoint/2010/main" val="3168321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196C3-5251-A898-EE28-FC352968227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1DEF45-39CE-4E78-1CA6-8AA0DBB98FA6}"/>
              </a:ext>
            </a:extLst>
          </p:cNvPr>
          <p:cNvSpPr txBox="1"/>
          <p:nvPr/>
        </p:nvSpPr>
        <p:spPr>
          <a:xfrm>
            <a:off x="1957470" y="2613464"/>
            <a:ext cx="3597910" cy="1075294"/>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Scalability and Growth</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62D67AA2-C4E5-B97E-07BE-D6F709905F08}"/>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4098" name="Picture 2" descr="What Are the Key Drivers of Scalability?">
            <a:extLst>
              <a:ext uri="{FF2B5EF4-FFF2-40B4-BE49-F238E27FC236}">
                <a16:creationId xmlns:a16="http://schemas.microsoft.com/office/drawing/2014/main" id="{FE611D61-03C8-99A1-A9CA-E2E96BB108C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0" y="2209800"/>
            <a:ext cx="4179887" cy="3251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557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F6DE7-90E7-76CE-DCB9-52C472C0483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DBDEF18-6FC1-C063-EE2D-1262182ECB1E}"/>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93745A93-B40D-2FA4-55D7-92361AFF263D}"/>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54FD653D-ED92-6B61-0F5A-762D1AF21D80}"/>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0C216270-2C38-3528-00DF-15187C1D22CC}"/>
              </a:ext>
            </a:extLst>
          </p:cNvPr>
          <p:cNvSpPr txBox="1">
            <a:spLocks noGrp="1"/>
          </p:cNvSpPr>
          <p:nvPr>
            <p:ph type="title"/>
          </p:nvPr>
        </p:nvSpPr>
        <p:spPr>
          <a:prstGeom prst="rect">
            <a:avLst/>
          </a:prstGeom>
        </p:spPr>
        <p:txBody>
          <a:bodyPr vert="horz" wrap="square" lIns="0" tIns="71175" rIns="0" bIns="0" rtlCol="0">
            <a:spAutoFit/>
          </a:bodyPr>
          <a:lstStyle/>
          <a:p>
            <a:r>
              <a:rPr dirty="0"/>
              <a:t>Scalability and Growth</a:t>
            </a:r>
          </a:p>
        </p:txBody>
      </p:sp>
      <p:sp>
        <p:nvSpPr>
          <p:cNvPr id="6" name="object 6">
            <a:extLst>
              <a:ext uri="{FF2B5EF4-FFF2-40B4-BE49-F238E27FC236}">
                <a16:creationId xmlns:a16="http://schemas.microsoft.com/office/drawing/2014/main" id="{23BD9F1C-D971-FEA0-28E0-76AD42C02E8A}"/>
              </a:ext>
            </a:extLst>
          </p:cNvPr>
          <p:cNvSpPr txBox="1"/>
          <p:nvPr/>
        </p:nvSpPr>
        <p:spPr>
          <a:xfrm>
            <a:off x="786856" y="1769957"/>
            <a:ext cx="6903720" cy="4444807"/>
          </a:xfrm>
          <a:prstGeom prst="rect">
            <a:avLst/>
          </a:prstGeom>
        </p:spPr>
        <p:txBody>
          <a:bodyPr vert="horz" wrap="square" lIns="0" tIns="12700" rIns="0" bIns="0" rtlCol="0">
            <a:spAutoFit/>
          </a:bodyPr>
          <a:lstStyle/>
          <a:p>
            <a:r>
              <a:rPr sz="2400" dirty="0"/>
              <a:t>Why Scalability Matters:</a:t>
            </a:r>
          </a:p>
          <a:p>
            <a:r>
              <a:rPr sz="2400" dirty="0"/>
              <a:t>Entrepreneurial systems are designed for future growth.</a:t>
            </a:r>
          </a:p>
          <a:p>
            <a:endParaRPr sz="2400" dirty="0"/>
          </a:p>
          <a:p>
            <a:r>
              <a:rPr sz="2400" dirty="0"/>
              <a:t>Scalability Considerations:</a:t>
            </a:r>
          </a:p>
          <a:p>
            <a:r>
              <a:rPr sz="2400" dirty="0"/>
              <a:t>• Increasing number of users</a:t>
            </a:r>
          </a:p>
          <a:p>
            <a:r>
              <a:rPr sz="2400" dirty="0"/>
              <a:t>• Growing data volume</a:t>
            </a:r>
          </a:p>
          <a:p>
            <a:r>
              <a:rPr sz="2400" dirty="0"/>
              <a:t>• Performance under peak load</a:t>
            </a:r>
          </a:p>
          <a:p>
            <a:r>
              <a:rPr sz="2400" dirty="0"/>
              <a:t>• Modular and extensible architecture</a:t>
            </a:r>
          </a:p>
          <a:p>
            <a:endParaRPr sz="2400" dirty="0"/>
          </a:p>
          <a:p>
            <a:r>
              <a:rPr sz="2400" dirty="0"/>
              <a:t>Agile / DSDM Link:</a:t>
            </a:r>
          </a:p>
          <a:p>
            <a:r>
              <a:rPr sz="2400" dirty="0"/>
              <a:t>Captured through Non-Functional Requirements.</a:t>
            </a:r>
          </a:p>
        </p:txBody>
      </p:sp>
      <p:sp>
        <p:nvSpPr>
          <p:cNvPr id="8" name="object 8">
            <a:extLst>
              <a:ext uri="{FF2B5EF4-FFF2-40B4-BE49-F238E27FC236}">
                <a16:creationId xmlns:a16="http://schemas.microsoft.com/office/drawing/2014/main" id="{B303158D-E40B-FDE1-D950-FC3857C05254}"/>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4098" name="Picture 2" descr="10 Key Principles for Building Scalable Software Architecture and ...">
            <a:extLst>
              <a:ext uri="{FF2B5EF4-FFF2-40B4-BE49-F238E27FC236}">
                <a16:creationId xmlns:a16="http://schemas.microsoft.com/office/drawing/2014/main" id="{A8B17547-03E6-2D30-5882-9ADF3A7780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2514600"/>
            <a:ext cx="4949873" cy="3148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729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7915A-63EB-5AB4-F614-83153192FC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F91DC2C-115B-7C42-73DD-E23731E71559}"/>
              </a:ext>
            </a:extLst>
          </p:cNvPr>
          <p:cNvSpPr txBox="1"/>
          <p:nvPr/>
        </p:nvSpPr>
        <p:spPr>
          <a:xfrm>
            <a:off x="1957470" y="2613464"/>
            <a:ext cx="3597910" cy="2075568"/>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Security in Software Project Management</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C7E57C28-BAB2-5928-4EC7-0B8E87411744}"/>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5126" name="Picture 6" descr="What does it mean building a secure software ? | by Den B | Medium">
            <a:extLst>
              <a:ext uri="{FF2B5EF4-FFF2-40B4-BE49-F238E27FC236}">
                <a16:creationId xmlns:a16="http://schemas.microsoft.com/office/drawing/2014/main" id="{96553D78-F650-1B39-6705-AF9B4A8428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2362200"/>
            <a:ext cx="4407511" cy="2582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86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02118-0F4D-8C63-7ABB-DDA77B36295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0CFE99F-ACA5-3919-A1CE-1DAAFFC306BF}"/>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573CAEFF-4625-C624-4CA2-9E4AEA11DE82}"/>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C8AF06CF-25B6-AB29-2EC8-4A11B8048224}"/>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2FF83BB2-2D13-0222-A1FC-964FF7F8FF03}"/>
              </a:ext>
            </a:extLst>
          </p:cNvPr>
          <p:cNvSpPr txBox="1">
            <a:spLocks noGrp="1"/>
          </p:cNvSpPr>
          <p:nvPr>
            <p:ph type="title"/>
          </p:nvPr>
        </p:nvSpPr>
        <p:spPr>
          <a:xfrm>
            <a:off x="762000" y="403426"/>
            <a:ext cx="9679682" cy="625868"/>
          </a:xfrm>
          <a:prstGeom prst="rect">
            <a:avLst/>
          </a:prstGeom>
        </p:spPr>
        <p:txBody>
          <a:bodyPr vert="horz" wrap="square" lIns="0" tIns="71175" rIns="0" bIns="0" rtlCol="0">
            <a:spAutoFit/>
          </a:bodyPr>
          <a:lstStyle/>
          <a:p>
            <a:r>
              <a:rPr lang="en-US" dirty="0"/>
              <a:t>Security in Software Project Management</a:t>
            </a:r>
          </a:p>
        </p:txBody>
      </p:sp>
      <p:sp>
        <p:nvSpPr>
          <p:cNvPr id="6" name="object 6">
            <a:extLst>
              <a:ext uri="{FF2B5EF4-FFF2-40B4-BE49-F238E27FC236}">
                <a16:creationId xmlns:a16="http://schemas.microsoft.com/office/drawing/2014/main" id="{90B66320-A641-F4DA-4278-7B3E943D76D8}"/>
              </a:ext>
            </a:extLst>
          </p:cNvPr>
          <p:cNvSpPr txBox="1"/>
          <p:nvPr/>
        </p:nvSpPr>
        <p:spPr>
          <a:xfrm>
            <a:off x="762000" y="1631754"/>
            <a:ext cx="6903720" cy="4321696"/>
          </a:xfrm>
          <a:prstGeom prst="rect">
            <a:avLst/>
          </a:prstGeom>
        </p:spPr>
        <p:txBody>
          <a:bodyPr vert="horz" wrap="square" lIns="0" tIns="12700" rIns="0" bIns="0" rtlCol="0">
            <a:spAutoFit/>
          </a:bodyPr>
          <a:lstStyle/>
          <a:p>
            <a:r>
              <a:rPr sz="2400" dirty="0"/>
              <a:t>Security as a Business Enabler:</a:t>
            </a:r>
          </a:p>
          <a:p>
            <a:r>
              <a:rPr sz="2400" dirty="0"/>
              <a:t>Security protects reputation, trust, and revenue.</a:t>
            </a:r>
          </a:p>
          <a:p>
            <a:endParaRPr sz="2400" dirty="0"/>
          </a:p>
          <a:p>
            <a:r>
              <a:rPr sz="2400" b="1" dirty="0"/>
              <a:t>Security Considerations</a:t>
            </a:r>
            <a:r>
              <a:rPr sz="2400" dirty="0"/>
              <a:t>:</a:t>
            </a:r>
          </a:p>
          <a:p>
            <a:pPr marL="342900" indent="-342900">
              <a:buFont typeface="Arial" panose="020B0604020202020204" pitchFamily="34" charset="0"/>
              <a:buChar char="•"/>
            </a:pPr>
            <a:r>
              <a:rPr lang="en-US" sz="2400" dirty="0"/>
              <a:t>Data confidentiality and privacy</a:t>
            </a:r>
          </a:p>
          <a:p>
            <a:pPr marL="342900" indent="-342900">
              <a:buFont typeface="Arial" panose="020B0604020202020204" pitchFamily="34" charset="0"/>
              <a:buChar char="•"/>
            </a:pPr>
            <a:r>
              <a:rPr lang="en-US" sz="2400" dirty="0"/>
              <a:t>Access control and authentication</a:t>
            </a:r>
          </a:p>
          <a:p>
            <a:pPr marL="342900" indent="-342900">
              <a:buFont typeface="Arial" panose="020B0604020202020204" pitchFamily="34" charset="0"/>
              <a:buChar char="•"/>
            </a:pPr>
            <a:r>
              <a:rPr lang="en-US" sz="2400" dirty="0"/>
              <a:t>Regulatory compliance (e.g. GDPR, PDPA)</a:t>
            </a:r>
          </a:p>
          <a:p>
            <a:pPr marL="342900" indent="-342900">
              <a:buFont typeface="Arial" panose="020B0604020202020204" pitchFamily="34" charset="0"/>
              <a:buChar char="•"/>
            </a:pPr>
            <a:r>
              <a:rPr lang="en-US" sz="2400" dirty="0"/>
              <a:t>Risk assessment and mitigation</a:t>
            </a:r>
          </a:p>
          <a:p>
            <a:endParaRPr lang="en-US" sz="2400" dirty="0"/>
          </a:p>
          <a:p>
            <a:r>
              <a:rPr sz="2400" dirty="0"/>
              <a:t>Agile / DSDM Link:</a:t>
            </a:r>
          </a:p>
          <a:p>
            <a:pPr marL="342900" indent="-342900">
              <a:buFont typeface="Arial" panose="020B0604020202020204" pitchFamily="34" charset="0"/>
              <a:buChar char="•"/>
            </a:pPr>
            <a:r>
              <a:rPr lang="en-US" sz="2000" dirty="0"/>
              <a:t>Security requirements treated as Must Have NFRs</a:t>
            </a:r>
          </a:p>
          <a:p>
            <a:pPr marL="342900" indent="-342900">
              <a:buFont typeface="Arial" panose="020B0604020202020204" pitchFamily="34" charset="0"/>
              <a:buChar char="•"/>
            </a:pPr>
            <a:r>
              <a:rPr lang="en-US" sz="2000" dirty="0"/>
              <a:t>Managed continuously throughout the lifecycle</a:t>
            </a:r>
            <a:endParaRPr sz="2000" dirty="0"/>
          </a:p>
        </p:txBody>
      </p:sp>
      <p:sp>
        <p:nvSpPr>
          <p:cNvPr id="8" name="object 8">
            <a:extLst>
              <a:ext uri="{FF2B5EF4-FFF2-40B4-BE49-F238E27FC236}">
                <a16:creationId xmlns:a16="http://schemas.microsoft.com/office/drawing/2014/main" id="{367FF5A3-5359-79F5-9591-292B95FB08EA}"/>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5122" name="Picture 2" descr="Top 11 Project Risk Management Software to Try in 2025">
            <a:extLst>
              <a:ext uri="{FF2B5EF4-FFF2-40B4-BE49-F238E27FC236}">
                <a16:creationId xmlns:a16="http://schemas.microsoft.com/office/drawing/2014/main" id="{FA211098-68B2-512D-3D1D-CC429EB8C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630710"/>
            <a:ext cx="4465637" cy="3550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718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657B-1739-F381-B596-ED7A3F5D79F0}"/>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4343639-0FD2-0C43-3DC9-C4AC5889B09D}"/>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89CEDBD4-FC63-2850-5186-1EC54C2673D0}"/>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E9677CF8-8948-5265-21BE-E8D4E336714D}"/>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2D5BFD6F-330D-6E70-D384-E35D858ADA9F}"/>
              </a:ext>
            </a:extLst>
          </p:cNvPr>
          <p:cNvSpPr txBox="1">
            <a:spLocks noGrp="1"/>
          </p:cNvSpPr>
          <p:nvPr>
            <p:ph type="title"/>
          </p:nvPr>
        </p:nvSpPr>
        <p:spPr>
          <a:xfrm>
            <a:off x="762000" y="403426"/>
            <a:ext cx="9679682" cy="625868"/>
          </a:xfrm>
          <a:prstGeom prst="rect">
            <a:avLst/>
          </a:prstGeom>
        </p:spPr>
        <p:txBody>
          <a:bodyPr vert="horz" wrap="square" lIns="0" tIns="71175" rIns="0" bIns="0" rtlCol="0">
            <a:spAutoFit/>
          </a:bodyPr>
          <a:lstStyle/>
          <a:p>
            <a:r>
              <a:rPr lang="en-US" dirty="0"/>
              <a:t>Security Considerations</a:t>
            </a:r>
          </a:p>
        </p:txBody>
      </p:sp>
      <p:sp>
        <p:nvSpPr>
          <p:cNvPr id="8" name="object 8">
            <a:extLst>
              <a:ext uri="{FF2B5EF4-FFF2-40B4-BE49-F238E27FC236}">
                <a16:creationId xmlns:a16="http://schemas.microsoft.com/office/drawing/2014/main" id="{8E9EFC5C-93B5-80EA-77FB-837F6346BA73}"/>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366DAFAB-22FC-FEAE-9A0D-CF1321095DB3}"/>
              </a:ext>
            </a:extLst>
          </p:cNvPr>
          <p:cNvPicPr>
            <a:picLocks noChangeAspect="1"/>
          </p:cNvPicPr>
          <p:nvPr/>
        </p:nvPicPr>
        <p:blipFill>
          <a:blip r:embed="rId2"/>
          <a:stretch>
            <a:fillRect/>
          </a:stretch>
        </p:blipFill>
        <p:spPr>
          <a:xfrm>
            <a:off x="762000" y="1621316"/>
            <a:ext cx="5039428" cy="4610743"/>
          </a:xfrm>
          <a:prstGeom prst="rect">
            <a:avLst/>
          </a:prstGeom>
        </p:spPr>
      </p:pic>
      <p:pic>
        <p:nvPicPr>
          <p:cNvPr id="11" name="Picture 10">
            <a:extLst>
              <a:ext uri="{FF2B5EF4-FFF2-40B4-BE49-F238E27FC236}">
                <a16:creationId xmlns:a16="http://schemas.microsoft.com/office/drawing/2014/main" id="{0CEB1CF4-8D72-EEEF-21B1-BA49BF4B6A3B}"/>
              </a:ext>
            </a:extLst>
          </p:cNvPr>
          <p:cNvPicPr>
            <a:picLocks noChangeAspect="1"/>
          </p:cNvPicPr>
          <p:nvPr/>
        </p:nvPicPr>
        <p:blipFill>
          <a:blip r:embed="rId3"/>
          <a:stretch>
            <a:fillRect/>
          </a:stretch>
        </p:blipFill>
        <p:spPr>
          <a:xfrm>
            <a:off x="5943600" y="1594175"/>
            <a:ext cx="5082059" cy="4610739"/>
          </a:xfrm>
          <a:prstGeom prst="rect">
            <a:avLst/>
          </a:prstGeom>
        </p:spPr>
      </p:pic>
    </p:spTree>
    <p:extLst>
      <p:ext uri="{BB962C8B-B14F-4D97-AF65-F5344CB8AC3E}">
        <p14:creationId xmlns:p14="http://schemas.microsoft.com/office/powerpoint/2010/main" val="3507515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C932-7FB4-D7A6-9994-FC519A1FD15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8D05684-BE58-4142-BE1A-979AE84ABBBF}"/>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31B36887-8BE2-22E2-D68D-5567C10A18AB}"/>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31F77A6B-C726-D0F5-C9B5-B755225AD038}"/>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059D70A9-380B-7771-95CE-511ABA255383}"/>
              </a:ext>
            </a:extLst>
          </p:cNvPr>
          <p:cNvSpPr txBox="1">
            <a:spLocks noGrp="1"/>
          </p:cNvSpPr>
          <p:nvPr>
            <p:ph type="title"/>
          </p:nvPr>
        </p:nvSpPr>
        <p:spPr>
          <a:xfrm>
            <a:off x="762000" y="403426"/>
            <a:ext cx="9679682" cy="625868"/>
          </a:xfrm>
          <a:prstGeom prst="rect">
            <a:avLst/>
          </a:prstGeom>
        </p:spPr>
        <p:txBody>
          <a:bodyPr vert="horz" wrap="square" lIns="0" tIns="71175" rIns="0" bIns="0" rtlCol="0">
            <a:spAutoFit/>
          </a:bodyPr>
          <a:lstStyle/>
          <a:p>
            <a:r>
              <a:rPr lang="en-US" dirty="0"/>
              <a:t>Security Considerations</a:t>
            </a:r>
          </a:p>
        </p:txBody>
      </p:sp>
      <p:sp>
        <p:nvSpPr>
          <p:cNvPr id="8" name="object 8">
            <a:extLst>
              <a:ext uri="{FF2B5EF4-FFF2-40B4-BE49-F238E27FC236}">
                <a16:creationId xmlns:a16="http://schemas.microsoft.com/office/drawing/2014/main" id="{4D1A9FAB-2AD7-F94E-7599-0B4922ABB19D}"/>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7" name="Picture 6">
            <a:extLst>
              <a:ext uri="{FF2B5EF4-FFF2-40B4-BE49-F238E27FC236}">
                <a16:creationId xmlns:a16="http://schemas.microsoft.com/office/drawing/2014/main" id="{C35C1669-D2A7-6C6B-26D0-A0DCDFD20FE1}"/>
              </a:ext>
            </a:extLst>
          </p:cNvPr>
          <p:cNvPicPr>
            <a:picLocks noChangeAspect="1"/>
          </p:cNvPicPr>
          <p:nvPr/>
        </p:nvPicPr>
        <p:blipFill>
          <a:blip r:embed="rId2"/>
          <a:stretch>
            <a:fillRect/>
          </a:stretch>
        </p:blipFill>
        <p:spPr>
          <a:xfrm>
            <a:off x="381000" y="1675211"/>
            <a:ext cx="5976354" cy="3520318"/>
          </a:xfrm>
          <a:prstGeom prst="rect">
            <a:avLst/>
          </a:prstGeom>
        </p:spPr>
      </p:pic>
      <p:pic>
        <p:nvPicPr>
          <p:cNvPr id="12" name="Picture 11">
            <a:extLst>
              <a:ext uri="{FF2B5EF4-FFF2-40B4-BE49-F238E27FC236}">
                <a16:creationId xmlns:a16="http://schemas.microsoft.com/office/drawing/2014/main" id="{AC4244B9-2B5D-DAB5-BCF0-E70AC058D39D}"/>
              </a:ext>
            </a:extLst>
          </p:cNvPr>
          <p:cNvPicPr>
            <a:picLocks noChangeAspect="1"/>
          </p:cNvPicPr>
          <p:nvPr/>
        </p:nvPicPr>
        <p:blipFill>
          <a:blip r:embed="rId3"/>
          <a:stretch>
            <a:fillRect/>
          </a:stretch>
        </p:blipFill>
        <p:spPr>
          <a:xfrm>
            <a:off x="6553200" y="1675211"/>
            <a:ext cx="5509133" cy="3686688"/>
          </a:xfrm>
          <a:prstGeom prst="rect">
            <a:avLst/>
          </a:prstGeom>
        </p:spPr>
      </p:pic>
    </p:spTree>
    <p:extLst>
      <p:ext uri="{BB962C8B-B14F-4D97-AF65-F5344CB8AC3E}">
        <p14:creationId xmlns:p14="http://schemas.microsoft.com/office/powerpoint/2010/main" val="3812229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FAA0F-A134-C767-65DA-A5B1FEB335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9B1E9A-F450-6956-7FE0-1671784A7D28}"/>
              </a:ext>
            </a:extLst>
          </p:cNvPr>
          <p:cNvSpPr txBox="1"/>
          <p:nvPr/>
        </p:nvSpPr>
        <p:spPr>
          <a:xfrm>
            <a:off x="1957470" y="2613464"/>
            <a:ext cx="3597910" cy="1575431"/>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Service Level Agreement (SLA)</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E4C41138-8007-7443-3077-A795BB23BE41}"/>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6146" name="Picture 2" descr="What is a Service Level Agreement(SLA)? | by Patrick Mutabazi | Medium">
            <a:extLst>
              <a:ext uri="{FF2B5EF4-FFF2-40B4-BE49-F238E27FC236}">
                <a16:creationId xmlns:a16="http://schemas.microsoft.com/office/drawing/2014/main" id="{0BD81FB1-7C1E-075B-361D-21B28C14A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3657600"/>
            <a:ext cx="4572000" cy="2536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730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8584-F5EA-7DE3-AD52-2F1CB6A3ACF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9D0E2BF-983F-F221-7BDA-7088110A5713}"/>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84037F4A-40CE-CC5C-B10E-9C90CF25303C}"/>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11473F81-91D1-F8E1-B05F-09424C248BF6}"/>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3F0A1B86-0C5B-31DF-8E39-D8E24D5F5BDF}"/>
              </a:ext>
            </a:extLst>
          </p:cNvPr>
          <p:cNvSpPr txBox="1">
            <a:spLocks noGrp="1"/>
          </p:cNvSpPr>
          <p:nvPr>
            <p:ph type="title"/>
          </p:nvPr>
        </p:nvSpPr>
        <p:spPr>
          <a:xfrm>
            <a:off x="1211851" y="395032"/>
            <a:ext cx="9413427" cy="625868"/>
          </a:xfrm>
          <a:prstGeom prst="rect">
            <a:avLst/>
          </a:prstGeom>
        </p:spPr>
        <p:txBody>
          <a:bodyPr vert="horz" wrap="square" lIns="0" tIns="71175" rIns="0" bIns="0" rtlCol="0">
            <a:spAutoFit/>
          </a:bodyPr>
          <a:lstStyle/>
          <a:p>
            <a:r>
              <a:rPr lang="en-US" dirty="0"/>
              <a:t>Service Level Agreement (SLA)</a:t>
            </a:r>
          </a:p>
        </p:txBody>
      </p:sp>
      <p:sp>
        <p:nvSpPr>
          <p:cNvPr id="6" name="object 6">
            <a:extLst>
              <a:ext uri="{FF2B5EF4-FFF2-40B4-BE49-F238E27FC236}">
                <a16:creationId xmlns:a16="http://schemas.microsoft.com/office/drawing/2014/main" id="{C6D875CC-1443-897F-870F-877203015168}"/>
              </a:ext>
            </a:extLst>
          </p:cNvPr>
          <p:cNvSpPr txBox="1"/>
          <p:nvPr/>
        </p:nvSpPr>
        <p:spPr>
          <a:xfrm>
            <a:off x="769271" y="1828800"/>
            <a:ext cx="6903720" cy="4444807"/>
          </a:xfrm>
          <a:prstGeom prst="rect">
            <a:avLst/>
          </a:prstGeom>
        </p:spPr>
        <p:txBody>
          <a:bodyPr vert="horz" wrap="square" lIns="0" tIns="12700" rIns="0" bIns="0" rtlCol="0">
            <a:spAutoFit/>
          </a:bodyPr>
          <a:lstStyle/>
          <a:p>
            <a:r>
              <a:rPr sz="2400" dirty="0"/>
              <a:t>What is an SLA?</a:t>
            </a:r>
          </a:p>
          <a:p>
            <a:r>
              <a:rPr sz="2400" dirty="0"/>
              <a:t>A formal agreement defining service expectations.</a:t>
            </a:r>
          </a:p>
          <a:p>
            <a:endParaRPr sz="2400" dirty="0"/>
          </a:p>
          <a:p>
            <a:r>
              <a:rPr sz="2400" dirty="0"/>
              <a:t>Typical SLA Elements:</a:t>
            </a:r>
          </a:p>
          <a:p>
            <a:r>
              <a:rPr sz="2400" dirty="0"/>
              <a:t>• System availability</a:t>
            </a:r>
          </a:p>
          <a:p>
            <a:r>
              <a:rPr sz="2400" dirty="0"/>
              <a:t>• Response and resolution times</a:t>
            </a:r>
          </a:p>
          <a:p>
            <a:r>
              <a:rPr sz="2400" dirty="0"/>
              <a:t>• Performance benchmarks</a:t>
            </a:r>
          </a:p>
          <a:p>
            <a:r>
              <a:rPr sz="2400" dirty="0"/>
              <a:t>• Security clauses</a:t>
            </a:r>
          </a:p>
          <a:p>
            <a:r>
              <a:rPr sz="2400" dirty="0"/>
              <a:t>• Penalties for non-compliance</a:t>
            </a:r>
          </a:p>
          <a:p>
            <a:endParaRPr sz="2400" dirty="0"/>
          </a:p>
          <a:p>
            <a:r>
              <a:rPr sz="2400" dirty="0"/>
              <a:t>Agile / DSDM Link:</a:t>
            </a:r>
          </a:p>
          <a:p>
            <a:r>
              <a:rPr sz="2400" dirty="0"/>
              <a:t>Influences estimation and </a:t>
            </a:r>
            <a:r>
              <a:rPr sz="2400" dirty="0" err="1"/>
              <a:t>prioritisation</a:t>
            </a:r>
            <a:r>
              <a:rPr sz="2400" dirty="0"/>
              <a:t>.</a:t>
            </a:r>
          </a:p>
        </p:txBody>
      </p:sp>
      <p:sp>
        <p:nvSpPr>
          <p:cNvPr id="8" name="object 8">
            <a:extLst>
              <a:ext uri="{FF2B5EF4-FFF2-40B4-BE49-F238E27FC236}">
                <a16:creationId xmlns:a16="http://schemas.microsoft.com/office/drawing/2014/main" id="{94A81E87-35E7-302D-7F45-8D2B6231658D}"/>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6146" name="Picture 2" descr="6 SLA Best Practices for Service Management Success – BMC Software ...">
            <a:extLst>
              <a:ext uri="{FF2B5EF4-FFF2-40B4-BE49-F238E27FC236}">
                <a16:creationId xmlns:a16="http://schemas.microsoft.com/office/drawing/2014/main" id="{B08F7A2D-2232-AE3A-FFE7-AF79B2F4E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1921592"/>
            <a:ext cx="3612000" cy="4189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34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A7F4E-F023-050B-8FEF-904CE214E42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E4B2A21-CB7A-F3A7-7910-738E9241849B}"/>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429014DB-B506-959B-77A5-7DEEBBCD7483}"/>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23B56288-9964-96F3-39EE-9875920C9407}"/>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8" name="object 8">
            <a:extLst>
              <a:ext uri="{FF2B5EF4-FFF2-40B4-BE49-F238E27FC236}">
                <a16:creationId xmlns:a16="http://schemas.microsoft.com/office/drawing/2014/main" id="{9E97406C-4EEF-E800-A6E5-B04EF6F8E5C2}"/>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 name="Picture 8">
            <a:extLst>
              <a:ext uri="{FF2B5EF4-FFF2-40B4-BE49-F238E27FC236}">
                <a16:creationId xmlns:a16="http://schemas.microsoft.com/office/drawing/2014/main" id="{9892A9D2-0BE8-6EE5-720D-E0C2F8C5EE71}"/>
              </a:ext>
            </a:extLst>
          </p:cNvPr>
          <p:cNvPicPr>
            <a:picLocks noChangeAspect="1"/>
          </p:cNvPicPr>
          <p:nvPr/>
        </p:nvPicPr>
        <p:blipFill>
          <a:blip r:embed="rId2"/>
          <a:stretch>
            <a:fillRect/>
          </a:stretch>
        </p:blipFill>
        <p:spPr>
          <a:xfrm>
            <a:off x="304800" y="123363"/>
            <a:ext cx="10012172" cy="6611273"/>
          </a:xfrm>
          <a:prstGeom prst="rect">
            <a:avLst/>
          </a:prstGeom>
        </p:spPr>
      </p:pic>
    </p:spTree>
    <p:extLst>
      <p:ext uri="{BB962C8B-B14F-4D97-AF65-F5344CB8AC3E}">
        <p14:creationId xmlns:p14="http://schemas.microsoft.com/office/powerpoint/2010/main" val="49103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8F670-CE3A-73F1-5808-B6BC198DB20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25F3EC-5DB4-7C5C-2EED-94A85CF832DA}"/>
              </a:ext>
            </a:extLst>
          </p:cNvPr>
          <p:cNvSpPr txBox="1"/>
          <p:nvPr/>
        </p:nvSpPr>
        <p:spPr>
          <a:xfrm>
            <a:off x="1957470" y="2613464"/>
            <a:ext cx="3597910" cy="1575431"/>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Integration of Information Security</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7712CC63-CFA9-423E-3F66-01C1C0CB5570}"/>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7170" name="Picture 2" descr="Integration Security: Safeguarding Connected Data">
            <a:extLst>
              <a:ext uri="{FF2B5EF4-FFF2-40B4-BE49-F238E27FC236}">
                <a16:creationId xmlns:a16="http://schemas.microsoft.com/office/drawing/2014/main" id="{6ED7CB1E-22D9-2831-A9FF-B8E8F67DC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2281121"/>
            <a:ext cx="421821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238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47766-F8E9-F368-7D44-6FBAC277665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6AA439A-7E39-147E-DE8E-1ABE79B3A66F}"/>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099097F5-4C6F-A574-9A0E-CF6FB3032C0C}"/>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6FEBB1FB-B5D7-EC1A-93F1-6F1C61F26E52}"/>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486E7392-70D8-7239-C889-0FB4F3CD5FA3}"/>
              </a:ext>
            </a:extLst>
          </p:cNvPr>
          <p:cNvSpPr txBox="1">
            <a:spLocks noGrp="1"/>
          </p:cNvSpPr>
          <p:nvPr>
            <p:ph type="title"/>
          </p:nvPr>
        </p:nvSpPr>
        <p:spPr>
          <a:prstGeom prst="rect">
            <a:avLst/>
          </a:prstGeom>
        </p:spPr>
        <p:txBody>
          <a:bodyPr vert="horz" wrap="square" lIns="0" tIns="71175" rIns="0" bIns="0" rtlCol="0">
            <a:spAutoFit/>
          </a:bodyPr>
          <a:lstStyle/>
          <a:p>
            <a:r>
              <a:t>Integration of Information Security</a:t>
            </a:r>
          </a:p>
        </p:txBody>
      </p:sp>
      <p:sp>
        <p:nvSpPr>
          <p:cNvPr id="6" name="object 6">
            <a:extLst>
              <a:ext uri="{FF2B5EF4-FFF2-40B4-BE49-F238E27FC236}">
                <a16:creationId xmlns:a16="http://schemas.microsoft.com/office/drawing/2014/main" id="{0E796E7A-2562-CDC2-560A-367755E5D6E5}"/>
              </a:ext>
            </a:extLst>
          </p:cNvPr>
          <p:cNvSpPr txBox="1"/>
          <p:nvPr/>
        </p:nvSpPr>
        <p:spPr>
          <a:xfrm>
            <a:off x="951701" y="2109081"/>
            <a:ext cx="6903720" cy="4075475"/>
          </a:xfrm>
          <a:prstGeom prst="rect">
            <a:avLst/>
          </a:prstGeom>
        </p:spPr>
        <p:txBody>
          <a:bodyPr vert="horz" wrap="square" lIns="0" tIns="12700" rIns="0" bIns="0" rtlCol="0">
            <a:spAutoFit/>
          </a:bodyPr>
          <a:lstStyle/>
          <a:p>
            <a:r>
              <a:rPr sz="2400" dirty="0"/>
              <a:t>Security by Design:</a:t>
            </a:r>
          </a:p>
          <a:p>
            <a:r>
              <a:rPr sz="2400" dirty="0"/>
              <a:t>Security embedded throughout the lifecycle.</a:t>
            </a:r>
          </a:p>
          <a:p>
            <a:endParaRPr sz="2400" dirty="0"/>
          </a:p>
          <a:p>
            <a:r>
              <a:rPr sz="2400" dirty="0"/>
              <a:t>Key Practices:</a:t>
            </a:r>
          </a:p>
          <a:p>
            <a:r>
              <a:rPr sz="2400" dirty="0"/>
              <a:t>• Secure architecture design</a:t>
            </a:r>
          </a:p>
          <a:p>
            <a:r>
              <a:rPr sz="2400" dirty="0"/>
              <a:t>• Data encryption</a:t>
            </a:r>
          </a:p>
          <a:p>
            <a:r>
              <a:rPr sz="2400" dirty="0"/>
              <a:t>• Secure APIs</a:t>
            </a:r>
          </a:p>
          <a:p>
            <a:r>
              <a:rPr sz="2400" dirty="0"/>
              <a:t>• Regular security testing</a:t>
            </a:r>
          </a:p>
          <a:p>
            <a:endParaRPr sz="2400" dirty="0"/>
          </a:p>
          <a:p>
            <a:r>
              <a:rPr sz="2400" dirty="0"/>
              <a:t>Agile / DSDM Link:</a:t>
            </a:r>
          </a:p>
          <a:p>
            <a:r>
              <a:rPr sz="2400" dirty="0"/>
              <a:t>Integrated into every Timebox.</a:t>
            </a:r>
          </a:p>
        </p:txBody>
      </p:sp>
      <p:sp>
        <p:nvSpPr>
          <p:cNvPr id="8" name="object 8">
            <a:extLst>
              <a:ext uri="{FF2B5EF4-FFF2-40B4-BE49-F238E27FC236}">
                <a16:creationId xmlns:a16="http://schemas.microsoft.com/office/drawing/2014/main" id="{028AD4C6-B465-7F90-BAFA-BE794A540EDC}"/>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7170" name="Picture 2" descr="The Secure Software Development Lifecycle Explained - Digital Maelstrom">
            <a:extLst>
              <a:ext uri="{FF2B5EF4-FFF2-40B4-BE49-F238E27FC236}">
                <a16:creationId xmlns:a16="http://schemas.microsoft.com/office/drawing/2014/main" id="{64C6AEBE-E881-0AD3-1C7B-C148F21A6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1749383"/>
            <a:ext cx="4333452"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904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31E32-7427-48F5-CC23-A7503D5890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5F423A-200D-3242-6518-EFE843EA719A}"/>
              </a:ext>
            </a:extLst>
          </p:cNvPr>
          <p:cNvSpPr txBox="1"/>
          <p:nvPr/>
        </p:nvSpPr>
        <p:spPr>
          <a:xfrm>
            <a:off x="1957470" y="2613464"/>
            <a:ext cx="3597910" cy="1575431"/>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Educating Team Members on Security</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B5B222B4-9F1A-D804-7C10-6D55B00D17D7}"/>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sp>
        <p:nvSpPr>
          <p:cNvPr id="6" name="AutoShape 6" descr="10 Steps to Train Employees on Cybersecurity">
            <a:extLst>
              <a:ext uri="{FF2B5EF4-FFF2-40B4-BE49-F238E27FC236}">
                <a16:creationId xmlns:a16="http://schemas.microsoft.com/office/drawing/2014/main" id="{747C6A34-7668-79B2-B8A7-1BED44213C0A}"/>
              </a:ext>
            </a:extLst>
          </p:cNvPr>
          <p:cNvSpPr>
            <a:spLocks noChangeAspect="1" noChangeArrowheads="1"/>
          </p:cNvSpPr>
          <p:nvPr/>
        </p:nvSpPr>
        <p:spPr bwMode="auto">
          <a:xfrm>
            <a:off x="7070090" y="3276600"/>
            <a:ext cx="3597910" cy="35979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200" name="Picture 8" descr="Cyber Security Awareness Training for SMBs | Louisville Geek MSP Solutions">
            <a:extLst>
              <a:ext uri="{FF2B5EF4-FFF2-40B4-BE49-F238E27FC236}">
                <a16:creationId xmlns:a16="http://schemas.microsoft.com/office/drawing/2014/main" id="{B9AAC9D4-9BAC-CF8E-D9DD-CCED47279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2286000"/>
            <a:ext cx="4121907"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418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F359E-6F69-FD0C-ECFE-25E225F9A53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956B1295-C432-A8FF-015D-5AE40A62959E}"/>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C4B8941D-DCB5-4BA9-BB36-2FD1A4F319C0}"/>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F685BFD8-B10A-AE92-6023-7E3B9A8DDA21}"/>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549C6C0F-77FD-4714-B75A-8159BC773EA8}"/>
              </a:ext>
            </a:extLst>
          </p:cNvPr>
          <p:cNvSpPr txBox="1">
            <a:spLocks noGrp="1"/>
          </p:cNvSpPr>
          <p:nvPr>
            <p:ph type="title"/>
          </p:nvPr>
        </p:nvSpPr>
        <p:spPr>
          <a:prstGeom prst="rect">
            <a:avLst/>
          </a:prstGeom>
        </p:spPr>
        <p:txBody>
          <a:bodyPr vert="horz" wrap="square" lIns="0" tIns="71175" rIns="0" bIns="0" rtlCol="0">
            <a:spAutoFit/>
          </a:bodyPr>
          <a:lstStyle/>
          <a:p>
            <a:r>
              <a:t>Educating Team Members on Security</a:t>
            </a:r>
          </a:p>
        </p:txBody>
      </p:sp>
      <p:sp>
        <p:nvSpPr>
          <p:cNvPr id="6" name="object 6">
            <a:extLst>
              <a:ext uri="{FF2B5EF4-FFF2-40B4-BE49-F238E27FC236}">
                <a16:creationId xmlns:a16="http://schemas.microsoft.com/office/drawing/2014/main" id="{E73B523B-9D71-0777-F978-17B9D24437FD}"/>
              </a:ext>
            </a:extLst>
          </p:cNvPr>
          <p:cNvSpPr txBox="1"/>
          <p:nvPr/>
        </p:nvSpPr>
        <p:spPr>
          <a:xfrm>
            <a:off x="951701" y="2109081"/>
            <a:ext cx="6903720" cy="4075475"/>
          </a:xfrm>
          <a:prstGeom prst="rect">
            <a:avLst/>
          </a:prstGeom>
        </p:spPr>
        <p:txBody>
          <a:bodyPr vert="horz" wrap="square" lIns="0" tIns="12700" rIns="0" bIns="0" rtlCol="0">
            <a:spAutoFit/>
          </a:bodyPr>
          <a:lstStyle/>
          <a:p>
            <a:r>
              <a:rPr sz="2400" dirty="0"/>
              <a:t>Why Team Education Matters:</a:t>
            </a:r>
          </a:p>
          <a:p>
            <a:r>
              <a:rPr sz="2400" dirty="0"/>
              <a:t>Human error is one of the largest security risks.</a:t>
            </a:r>
          </a:p>
          <a:p>
            <a:endParaRPr sz="2400" dirty="0"/>
          </a:p>
          <a:p>
            <a:r>
              <a:rPr sz="2400" dirty="0"/>
              <a:t>Education &amp; Awareness Activities:</a:t>
            </a:r>
          </a:p>
          <a:p>
            <a:r>
              <a:rPr sz="2400" dirty="0"/>
              <a:t>• Secure coding practices</a:t>
            </a:r>
          </a:p>
          <a:p>
            <a:r>
              <a:rPr sz="2400" dirty="0"/>
              <a:t>• Awareness of common attacks</a:t>
            </a:r>
          </a:p>
          <a:p>
            <a:r>
              <a:rPr sz="2400" dirty="0"/>
              <a:t>• Incident response procedures</a:t>
            </a:r>
          </a:p>
          <a:p>
            <a:r>
              <a:rPr sz="2400" dirty="0"/>
              <a:t>• Compliance and ethics</a:t>
            </a:r>
          </a:p>
          <a:p>
            <a:endParaRPr sz="2400" dirty="0"/>
          </a:p>
          <a:p>
            <a:r>
              <a:rPr sz="2400" dirty="0"/>
              <a:t>Agile / DSDM Link:</a:t>
            </a:r>
          </a:p>
          <a:p>
            <a:r>
              <a:rPr sz="2400" dirty="0"/>
              <a:t>Supports empowered, self-</a:t>
            </a:r>
            <a:r>
              <a:rPr sz="2400" dirty="0" err="1"/>
              <a:t>organising</a:t>
            </a:r>
            <a:r>
              <a:rPr sz="2400" dirty="0"/>
              <a:t> teams.</a:t>
            </a:r>
          </a:p>
        </p:txBody>
      </p:sp>
      <p:sp>
        <p:nvSpPr>
          <p:cNvPr id="8" name="object 8">
            <a:extLst>
              <a:ext uri="{FF2B5EF4-FFF2-40B4-BE49-F238E27FC236}">
                <a16:creationId xmlns:a16="http://schemas.microsoft.com/office/drawing/2014/main" id="{631A84D5-E71A-7E7F-2ACC-736B65BDEEF3}"/>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8194" name="Picture 2" descr="Developing a Software Training Strategy That Rocks - 3Pillar">
            <a:extLst>
              <a:ext uri="{FF2B5EF4-FFF2-40B4-BE49-F238E27FC236}">
                <a16:creationId xmlns:a16="http://schemas.microsoft.com/office/drawing/2014/main" id="{BE08EBE8-4C2D-9D2C-C147-707713C4B9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713" y="2024816"/>
            <a:ext cx="4595287" cy="407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677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D442-0389-A983-5824-7FA43BC8D5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AF74964-9AC3-CFBF-E80A-01CA9DCB7ACA}"/>
              </a:ext>
            </a:extLst>
          </p:cNvPr>
          <p:cNvSpPr txBox="1"/>
          <p:nvPr/>
        </p:nvSpPr>
        <p:spPr>
          <a:xfrm>
            <a:off x="1957470" y="2613464"/>
            <a:ext cx="3597910" cy="1075294"/>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Use of Security Tools</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CAA38FB9-618E-2D73-EB9C-74CEE4A1C339}"/>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sp>
        <p:nvSpPr>
          <p:cNvPr id="5" name="AutoShape 4" descr="Top 10 Cybersecurity Tools You Should Be Aware of in 2025 | SISA">
            <a:extLst>
              <a:ext uri="{FF2B5EF4-FFF2-40B4-BE49-F238E27FC236}">
                <a16:creationId xmlns:a16="http://schemas.microsoft.com/office/drawing/2014/main" id="{4BC52C90-1734-1899-E1C0-644D045A78CF}"/>
              </a:ext>
            </a:extLst>
          </p:cNvPr>
          <p:cNvSpPr>
            <a:spLocks noChangeAspect="1" noChangeArrowheads="1"/>
          </p:cNvSpPr>
          <p:nvPr/>
        </p:nvSpPr>
        <p:spPr bwMode="auto">
          <a:xfrm>
            <a:off x="12153900" y="2498140"/>
            <a:ext cx="137770" cy="1377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22" name="Picture 6" descr="Lock Up Your Data with These Cybersecurity Tools">
            <a:extLst>
              <a:ext uri="{FF2B5EF4-FFF2-40B4-BE49-F238E27FC236}">
                <a16:creationId xmlns:a16="http://schemas.microsoft.com/office/drawing/2014/main" id="{2CB1BC11-A56C-3B15-A190-6453121CF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2743200"/>
            <a:ext cx="4305300" cy="2445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633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6E5DA-449D-757B-21DB-75E281EDE8A8}"/>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7B9F744-9B5D-D645-53DC-33704891135E}"/>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ECCD9FE6-49C3-1E50-6836-DBE5F2F2D6FB}"/>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2CC0DA86-CB92-75D9-7FF1-FA8794BBD636}"/>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C8FE19EA-E181-74E5-9FF7-AB0A68113240}"/>
              </a:ext>
            </a:extLst>
          </p:cNvPr>
          <p:cNvSpPr txBox="1">
            <a:spLocks noGrp="1"/>
          </p:cNvSpPr>
          <p:nvPr>
            <p:ph type="title"/>
          </p:nvPr>
        </p:nvSpPr>
        <p:spPr>
          <a:prstGeom prst="rect">
            <a:avLst/>
          </a:prstGeom>
        </p:spPr>
        <p:txBody>
          <a:bodyPr vert="horz" wrap="square" lIns="0" tIns="71175" rIns="0" bIns="0" rtlCol="0">
            <a:spAutoFit/>
          </a:bodyPr>
          <a:lstStyle/>
          <a:p>
            <a:r>
              <a:t>Use of Security Tools</a:t>
            </a:r>
          </a:p>
        </p:txBody>
      </p:sp>
      <p:sp>
        <p:nvSpPr>
          <p:cNvPr id="6" name="object 6">
            <a:extLst>
              <a:ext uri="{FF2B5EF4-FFF2-40B4-BE49-F238E27FC236}">
                <a16:creationId xmlns:a16="http://schemas.microsoft.com/office/drawing/2014/main" id="{F15244B6-8077-70CC-378C-27752E9DFE47}"/>
              </a:ext>
            </a:extLst>
          </p:cNvPr>
          <p:cNvSpPr txBox="1"/>
          <p:nvPr/>
        </p:nvSpPr>
        <p:spPr>
          <a:xfrm>
            <a:off x="951701" y="2109081"/>
            <a:ext cx="6903720" cy="4075475"/>
          </a:xfrm>
          <a:prstGeom prst="rect">
            <a:avLst/>
          </a:prstGeom>
        </p:spPr>
        <p:txBody>
          <a:bodyPr vert="horz" wrap="square" lIns="0" tIns="12700" rIns="0" bIns="0" rtlCol="0">
            <a:spAutoFit/>
          </a:bodyPr>
          <a:lstStyle/>
          <a:p>
            <a:r>
              <a:rPr sz="2400" dirty="0"/>
              <a:t>Role of Security Tools:</a:t>
            </a:r>
          </a:p>
          <a:p>
            <a:r>
              <a:rPr sz="2400" dirty="0"/>
              <a:t>Support automation and detection.</a:t>
            </a:r>
          </a:p>
          <a:p>
            <a:endParaRPr sz="2400" dirty="0"/>
          </a:p>
          <a:p>
            <a:r>
              <a:rPr sz="2400" dirty="0"/>
              <a:t>Examples of Security Tools:</a:t>
            </a:r>
          </a:p>
          <a:p>
            <a:r>
              <a:rPr sz="2400" dirty="0"/>
              <a:t>• Static and dynamic code analysis</a:t>
            </a:r>
          </a:p>
          <a:p>
            <a:r>
              <a:rPr sz="2400" dirty="0"/>
              <a:t>• Vulnerability scanners</a:t>
            </a:r>
          </a:p>
          <a:p>
            <a:r>
              <a:rPr sz="2400" dirty="0"/>
              <a:t>• Identity and access management</a:t>
            </a:r>
          </a:p>
          <a:p>
            <a:r>
              <a:rPr sz="2400" dirty="0"/>
              <a:t>• Logging and monitoring systems</a:t>
            </a:r>
          </a:p>
          <a:p>
            <a:endParaRPr sz="2400" dirty="0"/>
          </a:p>
          <a:p>
            <a:r>
              <a:rPr sz="2400" dirty="0"/>
              <a:t>Agile / DSDM Link:</a:t>
            </a:r>
          </a:p>
          <a:p>
            <a:r>
              <a:rPr sz="2400" dirty="0"/>
              <a:t>Integrated into CI/CD pipelines.</a:t>
            </a:r>
          </a:p>
        </p:txBody>
      </p:sp>
      <p:sp>
        <p:nvSpPr>
          <p:cNvPr id="8" name="object 8">
            <a:extLst>
              <a:ext uri="{FF2B5EF4-FFF2-40B4-BE49-F238E27FC236}">
                <a16:creationId xmlns:a16="http://schemas.microsoft.com/office/drawing/2014/main" id="{6EDD7FCF-2545-790C-6970-48D469C880BC}"/>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9218" name="Picture 2" descr="Top 10 Vulnerability Scanning Tools">
            <a:extLst>
              <a:ext uri="{FF2B5EF4-FFF2-40B4-BE49-F238E27FC236}">
                <a16:creationId xmlns:a16="http://schemas.microsoft.com/office/drawing/2014/main" id="{FC17F11F-B7C5-6A4C-1B67-3A021CF593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807998"/>
            <a:ext cx="579120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2203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23CF6-A76D-098D-F973-D2C0262361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00C251F-0646-C220-F796-ED6065C8E0C0}"/>
              </a:ext>
            </a:extLst>
          </p:cNvPr>
          <p:cNvSpPr txBox="1"/>
          <p:nvPr/>
        </p:nvSpPr>
        <p:spPr>
          <a:xfrm>
            <a:off x="1957470" y="2613464"/>
            <a:ext cx="3757530" cy="2075568"/>
          </a:xfrm>
          <a:prstGeom prst="rect">
            <a:avLst/>
          </a:prstGeom>
        </p:spPr>
        <p:txBody>
          <a:bodyPr vert="horz" wrap="square" lIns="0" tIns="74295" rIns="0" bIns="0" rtlCol="0">
            <a:spAutoFit/>
          </a:bodyPr>
          <a:lstStyle/>
          <a:p>
            <a:pPr marL="12065" marR="5080" indent="-1270" algn="ctr">
              <a:lnSpc>
                <a:spcPts val="3890"/>
              </a:lnSpc>
              <a:spcBef>
                <a:spcPts val="585"/>
              </a:spcBef>
            </a:pPr>
            <a:r>
              <a:rPr lang="en-US" sz="3600" b="1" dirty="0">
                <a:solidFill>
                  <a:schemeClr val="bg1"/>
                </a:solidFill>
                <a:latin typeface="Tahoma" panose="020B0604030504040204" pitchFamily="34" charset="0"/>
                <a:ea typeface="Tahoma" panose="020B0604030504040204" pitchFamily="34" charset="0"/>
                <a:cs typeface="Tahoma" panose="020B0604030504040204" pitchFamily="34" charset="0"/>
              </a:rPr>
              <a:t>Summary: Entrepreneurial Mindset in Agile DSDM</a:t>
            </a:r>
            <a:endParaRPr sz="36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object 4">
            <a:extLst>
              <a:ext uri="{FF2B5EF4-FFF2-40B4-BE49-F238E27FC236}">
                <a16:creationId xmlns:a16="http://schemas.microsoft.com/office/drawing/2014/main" id="{EC5FFA9B-ECEA-DECB-4259-B074C07B992A}"/>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5</a:t>
            </a:r>
          </a:p>
        </p:txBody>
      </p:sp>
      <p:pic>
        <p:nvPicPr>
          <p:cNvPr id="10242" name="Picture 2" descr="Dweck's Mindset Theory: How to Develop a Growth Mindset - Growth Engineering">
            <a:extLst>
              <a:ext uri="{FF2B5EF4-FFF2-40B4-BE49-F238E27FC236}">
                <a16:creationId xmlns:a16="http://schemas.microsoft.com/office/drawing/2014/main" id="{0E010C2A-1D00-2C7C-C96C-9495795463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2591005"/>
            <a:ext cx="4455636"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7319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8109-2CB0-4AFA-2CED-BD1BCF517AB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62D04C3-8656-D94C-95A6-E91F7FF7ACD0}"/>
              </a:ext>
            </a:extLst>
          </p:cNvPr>
          <p:cNvGrpSpPr/>
          <p:nvPr/>
        </p:nvGrpSpPr>
        <p:grpSpPr>
          <a:xfrm>
            <a:off x="0" y="1383280"/>
            <a:ext cx="12192000" cy="166370"/>
            <a:chOff x="0" y="1383280"/>
            <a:chExt cx="12192000" cy="166370"/>
          </a:xfrm>
        </p:grpSpPr>
        <p:sp>
          <p:nvSpPr>
            <p:cNvPr id="3" name="object 3">
              <a:extLst>
                <a:ext uri="{FF2B5EF4-FFF2-40B4-BE49-F238E27FC236}">
                  <a16:creationId xmlns:a16="http://schemas.microsoft.com/office/drawing/2014/main" id="{518D2F6B-E0E0-6718-D3C0-A1506C8D09DC}"/>
                </a:ext>
              </a:extLst>
            </p:cNvPr>
            <p:cNvSpPr/>
            <p:nvPr/>
          </p:nvSpPr>
          <p:spPr>
            <a:xfrm>
              <a:off x="2128057" y="1465384"/>
              <a:ext cx="10064115" cy="0"/>
            </a:xfrm>
            <a:custGeom>
              <a:avLst/>
              <a:gdLst/>
              <a:ahLst/>
              <a:cxnLst/>
              <a:rect l="l" t="t" r="r" b="b"/>
              <a:pathLst>
                <a:path w="10064115">
                  <a:moveTo>
                    <a:pt x="0" y="0"/>
                  </a:moveTo>
                  <a:lnTo>
                    <a:pt x="10063941" y="0"/>
                  </a:lnTo>
                </a:path>
              </a:pathLst>
            </a:custGeom>
            <a:ln w="9524">
              <a:solidFill>
                <a:srgbClr val="83233D"/>
              </a:solidFill>
            </a:ln>
          </p:spPr>
          <p:txBody>
            <a:bodyPr wrap="square" lIns="0" tIns="0" rIns="0" bIns="0" rtlCol="0"/>
            <a:lstStyle/>
            <a:p>
              <a:endParaRPr/>
            </a:p>
          </p:txBody>
        </p:sp>
        <p:sp>
          <p:nvSpPr>
            <p:cNvPr id="4" name="object 4">
              <a:extLst>
                <a:ext uri="{FF2B5EF4-FFF2-40B4-BE49-F238E27FC236}">
                  <a16:creationId xmlns:a16="http://schemas.microsoft.com/office/drawing/2014/main" id="{9DAA845C-F667-6D4E-0F14-E75A77F1A164}"/>
                </a:ext>
              </a:extLst>
            </p:cNvPr>
            <p:cNvSpPr/>
            <p:nvPr/>
          </p:nvSpPr>
          <p:spPr>
            <a:xfrm>
              <a:off x="0" y="1383280"/>
              <a:ext cx="2128520" cy="166370"/>
            </a:xfrm>
            <a:custGeom>
              <a:avLst/>
              <a:gdLst/>
              <a:ahLst/>
              <a:cxnLst/>
              <a:rect l="l" t="t" r="r" b="b"/>
              <a:pathLst>
                <a:path w="2128520" h="166369">
                  <a:moveTo>
                    <a:pt x="2128057" y="166254"/>
                  </a:moveTo>
                  <a:lnTo>
                    <a:pt x="0" y="166254"/>
                  </a:lnTo>
                  <a:lnTo>
                    <a:pt x="0" y="0"/>
                  </a:lnTo>
                  <a:lnTo>
                    <a:pt x="2128057" y="0"/>
                  </a:lnTo>
                  <a:lnTo>
                    <a:pt x="2128057" y="166254"/>
                  </a:lnTo>
                  <a:close/>
                </a:path>
              </a:pathLst>
            </a:custGeom>
            <a:solidFill>
              <a:srgbClr val="6C1C35"/>
            </a:solidFill>
          </p:spPr>
          <p:txBody>
            <a:bodyPr wrap="square" lIns="0" tIns="0" rIns="0" bIns="0" rtlCol="0"/>
            <a:lstStyle/>
            <a:p>
              <a:endParaRPr/>
            </a:p>
          </p:txBody>
        </p:sp>
      </p:grpSp>
      <p:sp>
        <p:nvSpPr>
          <p:cNvPr id="5" name="object 5" descr="$PPTXTitle">
            <a:extLst>
              <a:ext uri="{FF2B5EF4-FFF2-40B4-BE49-F238E27FC236}">
                <a16:creationId xmlns:a16="http://schemas.microsoft.com/office/drawing/2014/main" id="{BD209278-EEA9-0A50-FBAB-557AD34C5E80}"/>
              </a:ext>
            </a:extLst>
          </p:cNvPr>
          <p:cNvSpPr txBox="1">
            <a:spLocks noGrp="1"/>
          </p:cNvSpPr>
          <p:nvPr>
            <p:ph type="title"/>
          </p:nvPr>
        </p:nvSpPr>
        <p:spPr>
          <a:xfrm>
            <a:off x="762000" y="159125"/>
            <a:ext cx="9413427" cy="885214"/>
          </a:xfrm>
          <a:prstGeom prst="rect">
            <a:avLst/>
          </a:prstGeom>
        </p:spPr>
        <p:txBody>
          <a:bodyPr vert="horz" wrap="square" lIns="0" tIns="71175" rIns="0" bIns="0" rtlCol="0">
            <a:spAutoFit/>
          </a:bodyPr>
          <a:lstStyle/>
          <a:p>
            <a:r>
              <a:rPr dirty="0"/>
              <a:t>Summary – Entrepreneurial Mindset in Agile DSDM</a:t>
            </a:r>
          </a:p>
        </p:txBody>
      </p:sp>
      <p:sp>
        <p:nvSpPr>
          <p:cNvPr id="6" name="object 6">
            <a:extLst>
              <a:ext uri="{FF2B5EF4-FFF2-40B4-BE49-F238E27FC236}">
                <a16:creationId xmlns:a16="http://schemas.microsoft.com/office/drawing/2014/main" id="{A5C47366-F52B-437E-8FE7-BB2A807F559F}"/>
              </a:ext>
            </a:extLst>
          </p:cNvPr>
          <p:cNvSpPr txBox="1"/>
          <p:nvPr/>
        </p:nvSpPr>
        <p:spPr>
          <a:xfrm>
            <a:off x="685800" y="1864539"/>
            <a:ext cx="6903720" cy="4629472"/>
          </a:xfrm>
          <a:prstGeom prst="rect">
            <a:avLst/>
          </a:prstGeom>
        </p:spPr>
        <p:txBody>
          <a:bodyPr vert="horz" wrap="square" lIns="0" tIns="12700" rIns="0" bIns="0" rtlCol="0">
            <a:spAutoFit/>
          </a:bodyPr>
          <a:lstStyle/>
          <a:p>
            <a:r>
              <a:rPr sz="2000" dirty="0"/>
              <a:t>Key Takeaways:</a:t>
            </a:r>
          </a:p>
          <a:p>
            <a:r>
              <a:rPr sz="2000" dirty="0"/>
              <a:t>• Entrepreneurial mindset aligns Agile delivery with business success</a:t>
            </a:r>
          </a:p>
          <a:p>
            <a:r>
              <a:rPr sz="2000" dirty="0"/>
              <a:t>• Combines market awareness, revenue thinking, scalability, and security</a:t>
            </a:r>
          </a:p>
          <a:p>
            <a:r>
              <a:rPr sz="2000" dirty="0"/>
              <a:t>• Supports DSDM principles of business focus, quality, and sustainability</a:t>
            </a:r>
            <a:endParaRPr lang="en-US" sz="2000" dirty="0"/>
          </a:p>
          <a:p>
            <a:endParaRPr lang="en-US" sz="2000" dirty="0"/>
          </a:p>
          <a:p>
            <a:r>
              <a:rPr lang="en-US" sz="2000" b="1" dirty="0"/>
              <a:t>DSDM Impact</a:t>
            </a:r>
          </a:p>
          <a:p>
            <a:r>
              <a:rPr lang="en-US" sz="2000" dirty="0"/>
              <a:t>Supports DSDM principles of:</a:t>
            </a:r>
          </a:p>
          <a:p>
            <a:pPr marL="342900" indent="-342900">
              <a:buFont typeface="Arial" panose="020B0604020202020204" pitchFamily="34" charset="0"/>
              <a:buChar char="•"/>
            </a:pPr>
            <a:r>
              <a:rPr lang="en-US" sz="2000" dirty="0"/>
              <a:t>Business focus</a:t>
            </a:r>
          </a:p>
          <a:p>
            <a:pPr marL="342900" indent="-342900">
              <a:buFont typeface="Arial" panose="020B0604020202020204" pitchFamily="34" charset="0"/>
              <a:buChar char="•"/>
            </a:pPr>
            <a:r>
              <a:rPr lang="en-US" sz="2000" dirty="0"/>
              <a:t>Built-in quality</a:t>
            </a:r>
          </a:p>
          <a:p>
            <a:pPr marL="342900" indent="-342900">
              <a:buFont typeface="Arial" panose="020B0604020202020204" pitchFamily="34" charset="0"/>
              <a:buChar char="•"/>
            </a:pPr>
            <a:r>
              <a:rPr lang="en-US" sz="2000" dirty="0"/>
              <a:t>Continuous delivery</a:t>
            </a:r>
          </a:p>
          <a:p>
            <a:pPr marL="342900" indent="-342900">
              <a:buFont typeface="Arial" panose="020B0604020202020204" pitchFamily="34" charset="0"/>
              <a:buChar char="•"/>
            </a:pPr>
            <a:r>
              <a:rPr lang="en-US" sz="2000" dirty="0"/>
              <a:t>Long-term sustainability</a:t>
            </a:r>
          </a:p>
          <a:p>
            <a:endParaRPr sz="2000" dirty="0"/>
          </a:p>
        </p:txBody>
      </p:sp>
      <p:sp>
        <p:nvSpPr>
          <p:cNvPr id="8" name="object 8">
            <a:extLst>
              <a:ext uri="{FF2B5EF4-FFF2-40B4-BE49-F238E27FC236}">
                <a16:creationId xmlns:a16="http://schemas.microsoft.com/office/drawing/2014/main" id="{751425FA-1144-5CF9-310B-4C7EAEB0EB98}"/>
              </a:ext>
            </a:extLst>
          </p:cNvPr>
          <p:cNvSpPr txBox="1">
            <a:spLocks noGrp="1"/>
          </p:cNvSpPr>
          <p:nvPr>
            <p:ph type="sldNum" sz="quarter" idx="7"/>
          </p:nvPr>
        </p:nvSpPr>
        <p:spPr>
          <a:prstGeom prst="rect">
            <a:avLst/>
          </a:prstGeom>
        </p:spPr>
        <p:txBody>
          <a:bodyPr vert="horz" wrap="square" lIns="0" tIns="1270" rIns="0" bIns="0" rtlCol="0">
            <a:spAutoFit/>
          </a:bodyPr>
          <a:lstStyle/>
          <a:p>
            <a:pPr marL="38100">
              <a:lnSpc>
                <a:spcPct val="100000"/>
              </a:lnSpc>
              <a:spcBef>
                <a:spcPts val="10"/>
              </a:spcBef>
            </a:pPr>
            <a:r>
              <a:rPr spc="-25" dirty="0"/>
              <a:t>6</a:t>
            </a:r>
          </a:p>
        </p:txBody>
      </p:sp>
      <p:pic>
        <p:nvPicPr>
          <p:cNvPr id="10242" name="Picture 2" descr="What Does Design Thinking Have to Do with Building Software ...">
            <a:extLst>
              <a:ext uri="{FF2B5EF4-FFF2-40B4-BE49-F238E27FC236}">
                <a16:creationId xmlns:a16="http://schemas.microsoft.com/office/drawing/2014/main" id="{B7063671-90B6-2AB0-C13A-F4E2FF786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801162"/>
            <a:ext cx="5545108" cy="2897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294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F1F1F1"/>
          </a:solidFill>
        </p:spPr>
        <p:txBody>
          <a:bodyPr wrap="square" lIns="0" tIns="0" rIns="0" bIns="0" rtlCol="0"/>
          <a:lstStyle/>
          <a:p>
            <a:endParaRPr/>
          </a:p>
        </p:txBody>
      </p:sp>
      <p:grpSp>
        <p:nvGrpSpPr>
          <p:cNvPr id="3" name="object 3"/>
          <p:cNvGrpSpPr/>
          <p:nvPr/>
        </p:nvGrpSpPr>
        <p:grpSpPr>
          <a:xfrm>
            <a:off x="0" y="6470465"/>
            <a:ext cx="12192000" cy="260350"/>
            <a:chOff x="0" y="6470465"/>
            <a:chExt cx="12192000" cy="260350"/>
          </a:xfrm>
        </p:grpSpPr>
        <p:sp>
          <p:nvSpPr>
            <p:cNvPr id="4" name="object 4"/>
            <p:cNvSpPr/>
            <p:nvPr/>
          </p:nvSpPr>
          <p:spPr>
            <a:xfrm>
              <a:off x="628225" y="6484103"/>
              <a:ext cx="3185795" cy="212725"/>
            </a:xfrm>
            <a:custGeom>
              <a:avLst/>
              <a:gdLst/>
              <a:ahLst/>
              <a:cxnLst/>
              <a:rect l="l" t="t" r="r" b="b"/>
              <a:pathLst>
                <a:path w="3185795" h="212725">
                  <a:moveTo>
                    <a:pt x="3092394" y="212675"/>
                  </a:moveTo>
                  <a:lnTo>
                    <a:pt x="93349" y="212675"/>
                  </a:lnTo>
                  <a:lnTo>
                    <a:pt x="57013" y="205340"/>
                  </a:lnTo>
                  <a:lnTo>
                    <a:pt x="27341" y="185334"/>
                  </a:lnTo>
                  <a:lnTo>
                    <a:pt x="7335" y="155662"/>
                  </a:lnTo>
                  <a:lnTo>
                    <a:pt x="0" y="119325"/>
                  </a:lnTo>
                  <a:lnTo>
                    <a:pt x="0" y="93349"/>
                  </a:lnTo>
                  <a:lnTo>
                    <a:pt x="7212" y="57626"/>
                  </a:lnTo>
                  <a:lnTo>
                    <a:pt x="7335" y="57013"/>
                  </a:lnTo>
                  <a:lnTo>
                    <a:pt x="27341" y="27341"/>
                  </a:lnTo>
                  <a:lnTo>
                    <a:pt x="57013" y="7335"/>
                  </a:lnTo>
                  <a:lnTo>
                    <a:pt x="93349" y="0"/>
                  </a:lnTo>
                  <a:lnTo>
                    <a:pt x="3092394" y="0"/>
                  </a:lnTo>
                  <a:lnTo>
                    <a:pt x="3144184" y="15683"/>
                  </a:lnTo>
                  <a:lnTo>
                    <a:pt x="3178638" y="57626"/>
                  </a:lnTo>
                  <a:lnTo>
                    <a:pt x="3185743" y="93349"/>
                  </a:lnTo>
                  <a:lnTo>
                    <a:pt x="3185743" y="119325"/>
                  </a:lnTo>
                  <a:lnTo>
                    <a:pt x="3178408" y="155662"/>
                  </a:lnTo>
                  <a:lnTo>
                    <a:pt x="3158402" y="185334"/>
                  </a:lnTo>
                  <a:lnTo>
                    <a:pt x="3128730" y="205340"/>
                  </a:lnTo>
                  <a:lnTo>
                    <a:pt x="3092394" y="212675"/>
                  </a:lnTo>
                  <a:close/>
                </a:path>
              </a:pathLst>
            </a:custGeom>
            <a:solidFill>
              <a:srgbClr val="FFFFFF"/>
            </a:solidFill>
          </p:spPr>
          <p:txBody>
            <a:bodyPr wrap="square" lIns="0" tIns="0" rIns="0" bIns="0" rtlCol="0"/>
            <a:lstStyle/>
            <a:p>
              <a:endParaRPr/>
            </a:p>
          </p:txBody>
        </p:sp>
        <p:sp>
          <p:nvSpPr>
            <p:cNvPr id="5" name="object 5"/>
            <p:cNvSpPr/>
            <p:nvPr/>
          </p:nvSpPr>
          <p:spPr>
            <a:xfrm>
              <a:off x="0" y="6580450"/>
              <a:ext cx="12192000" cy="0"/>
            </a:xfrm>
            <a:custGeom>
              <a:avLst/>
              <a:gdLst/>
              <a:ahLst/>
              <a:cxnLst/>
              <a:rect l="l" t="t" r="r" b="b"/>
              <a:pathLst>
                <a:path w="12192000">
                  <a:moveTo>
                    <a:pt x="0" y="0"/>
                  </a:moveTo>
                  <a:lnTo>
                    <a:pt x="12191999" y="0"/>
                  </a:lnTo>
                </a:path>
              </a:pathLst>
            </a:custGeom>
            <a:ln w="19049">
              <a:solidFill>
                <a:srgbClr val="FFFFFF"/>
              </a:solidFill>
            </a:ln>
          </p:spPr>
          <p:txBody>
            <a:bodyPr wrap="square" lIns="0" tIns="0" rIns="0" bIns="0" rtlCol="0"/>
            <a:lstStyle/>
            <a:p>
              <a:endParaRPr/>
            </a:p>
          </p:txBody>
        </p:sp>
        <p:sp>
          <p:nvSpPr>
            <p:cNvPr id="6" name="object 6"/>
            <p:cNvSpPr/>
            <p:nvPr/>
          </p:nvSpPr>
          <p:spPr>
            <a:xfrm>
              <a:off x="10637134" y="6470465"/>
              <a:ext cx="756920" cy="260350"/>
            </a:xfrm>
            <a:custGeom>
              <a:avLst/>
              <a:gdLst/>
              <a:ahLst/>
              <a:cxnLst/>
              <a:rect l="l" t="t" r="r" b="b"/>
              <a:pathLst>
                <a:path w="756920" h="260350">
                  <a:moveTo>
                    <a:pt x="642220" y="260177"/>
                  </a:moveTo>
                  <a:lnTo>
                    <a:pt x="114198" y="260177"/>
                  </a:lnTo>
                  <a:lnTo>
                    <a:pt x="69747" y="251203"/>
                  </a:lnTo>
                  <a:lnTo>
                    <a:pt x="33447" y="226729"/>
                  </a:lnTo>
                  <a:lnTo>
                    <a:pt x="8974" y="190429"/>
                  </a:lnTo>
                  <a:lnTo>
                    <a:pt x="0" y="145977"/>
                  </a:lnTo>
                  <a:lnTo>
                    <a:pt x="0" y="114199"/>
                  </a:lnTo>
                  <a:lnTo>
                    <a:pt x="8974" y="69748"/>
                  </a:lnTo>
                  <a:lnTo>
                    <a:pt x="33447" y="33448"/>
                  </a:lnTo>
                  <a:lnTo>
                    <a:pt x="69747" y="8974"/>
                  </a:lnTo>
                  <a:lnTo>
                    <a:pt x="114198" y="0"/>
                  </a:lnTo>
                  <a:lnTo>
                    <a:pt x="642220" y="0"/>
                  </a:lnTo>
                  <a:lnTo>
                    <a:pt x="685923" y="8693"/>
                  </a:lnTo>
                  <a:lnTo>
                    <a:pt x="722972" y="33448"/>
                  </a:lnTo>
                  <a:lnTo>
                    <a:pt x="747727" y="70497"/>
                  </a:lnTo>
                  <a:lnTo>
                    <a:pt x="756420" y="114199"/>
                  </a:lnTo>
                  <a:lnTo>
                    <a:pt x="756420" y="145977"/>
                  </a:lnTo>
                  <a:lnTo>
                    <a:pt x="747446" y="190429"/>
                  </a:lnTo>
                  <a:lnTo>
                    <a:pt x="722972" y="226729"/>
                  </a:lnTo>
                  <a:lnTo>
                    <a:pt x="686672" y="251203"/>
                  </a:lnTo>
                  <a:lnTo>
                    <a:pt x="642220" y="260177"/>
                  </a:lnTo>
                  <a:close/>
                </a:path>
              </a:pathLst>
            </a:custGeom>
            <a:solidFill>
              <a:srgbClr val="FFFFFF"/>
            </a:solidFill>
          </p:spPr>
          <p:txBody>
            <a:bodyPr wrap="square" lIns="0" tIns="0" rIns="0" bIns="0" rtlCol="0"/>
            <a:lstStyle/>
            <a:p>
              <a:endParaRPr/>
            </a:p>
          </p:txBody>
        </p:sp>
        <p:pic>
          <p:nvPicPr>
            <p:cNvPr id="7" name="object 7"/>
            <p:cNvPicPr/>
            <p:nvPr/>
          </p:nvPicPr>
          <p:blipFill>
            <a:blip r:embed="rId2" cstate="print"/>
            <a:stretch>
              <a:fillRect/>
            </a:stretch>
          </p:blipFill>
          <p:spPr>
            <a:xfrm>
              <a:off x="838200" y="6513174"/>
              <a:ext cx="2824371" cy="158261"/>
            </a:xfrm>
            <a:prstGeom prst="rect">
              <a:avLst/>
            </a:prstGeom>
          </p:spPr>
        </p:pic>
      </p:grpSp>
      <p:grpSp>
        <p:nvGrpSpPr>
          <p:cNvPr id="8" name="object 8"/>
          <p:cNvGrpSpPr/>
          <p:nvPr/>
        </p:nvGrpSpPr>
        <p:grpSpPr>
          <a:xfrm>
            <a:off x="0" y="0"/>
            <a:ext cx="12192000" cy="6858000"/>
            <a:chOff x="0" y="0"/>
            <a:chExt cx="12192000" cy="6858000"/>
          </a:xfrm>
        </p:grpSpPr>
        <p:sp>
          <p:nvSpPr>
            <p:cNvPr id="9" name="object 9"/>
            <p:cNvSpPr/>
            <p:nvPr/>
          </p:nvSpPr>
          <p:spPr>
            <a:xfrm>
              <a:off x="10328961" y="1"/>
              <a:ext cx="1860550" cy="780415"/>
            </a:xfrm>
            <a:custGeom>
              <a:avLst/>
              <a:gdLst/>
              <a:ahLst/>
              <a:cxnLst/>
              <a:rect l="l" t="t" r="r" b="b"/>
              <a:pathLst>
                <a:path w="1860550" h="780415">
                  <a:moveTo>
                    <a:pt x="1860467" y="780221"/>
                  </a:moveTo>
                  <a:lnTo>
                    <a:pt x="521804" y="780221"/>
                  </a:lnTo>
                  <a:lnTo>
                    <a:pt x="0" y="0"/>
                  </a:lnTo>
                  <a:lnTo>
                    <a:pt x="1860467" y="0"/>
                  </a:lnTo>
                  <a:lnTo>
                    <a:pt x="1860467" y="780221"/>
                  </a:lnTo>
                  <a:close/>
                </a:path>
              </a:pathLst>
            </a:custGeom>
            <a:solidFill>
              <a:srgbClr val="FFFFFF"/>
            </a:solidFill>
          </p:spPr>
          <p:txBody>
            <a:bodyPr wrap="square" lIns="0" tIns="0" rIns="0" bIns="0" rtlCol="0"/>
            <a:lstStyle/>
            <a:p>
              <a:endParaRPr/>
            </a:p>
          </p:txBody>
        </p:sp>
        <p:pic>
          <p:nvPicPr>
            <p:cNvPr id="10" name="object 10"/>
            <p:cNvPicPr/>
            <p:nvPr/>
          </p:nvPicPr>
          <p:blipFill>
            <a:blip r:embed="rId3" cstate="print"/>
            <a:stretch>
              <a:fillRect/>
            </a:stretch>
          </p:blipFill>
          <p:spPr>
            <a:xfrm>
              <a:off x="10742685" y="161365"/>
              <a:ext cx="1344352" cy="454145"/>
            </a:xfrm>
            <a:prstGeom prst="rect">
              <a:avLst/>
            </a:prstGeom>
          </p:spPr>
        </p:pic>
        <p:pic>
          <p:nvPicPr>
            <p:cNvPr id="11" name="object 11"/>
            <p:cNvPicPr/>
            <p:nvPr/>
          </p:nvPicPr>
          <p:blipFill>
            <a:blip r:embed="rId4" cstate="print"/>
            <a:stretch>
              <a:fillRect/>
            </a:stretch>
          </p:blipFill>
          <p:spPr>
            <a:xfrm>
              <a:off x="6082780" y="0"/>
              <a:ext cx="6109219" cy="6858000"/>
            </a:xfrm>
            <a:prstGeom prst="rect">
              <a:avLst/>
            </a:prstGeom>
          </p:spPr>
        </p:pic>
        <p:pic>
          <p:nvPicPr>
            <p:cNvPr id="12" name="object 12"/>
            <p:cNvPicPr/>
            <p:nvPr/>
          </p:nvPicPr>
          <p:blipFill>
            <a:blip r:embed="rId5" cstate="print"/>
            <a:stretch>
              <a:fillRect/>
            </a:stretch>
          </p:blipFill>
          <p:spPr>
            <a:xfrm>
              <a:off x="0" y="0"/>
              <a:ext cx="7645185" cy="6858000"/>
            </a:xfrm>
            <a:prstGeom prst="rect">
              <a:avLst/>
            </a:prstGeom>
          </p:spPr>
        </p:pic>
      </p:grpSp>
      <p:sp>
        <p:nvSpPr>
          <p:cNvPr id="13" name="object 13" descr="$PPTXTitle"/>
          <p:cNvSpPr txBox="1">
            <a:spLocks noGrp="1"/>
          </p:cNvSpPr>
          <p:nvPr>
            <p:ph type="title"/>
          </p:nvPr>
        </p:nvSpPr>
        <p:spPr>
          <a:xfrm>
            <a:off x="7882205" y="2377855"/>
            <a:ext cx="4037329" cy="848360"/>
          </a:xfrm>
          <a:prstGeom prst="rect">
            <a:avLst/>
          </a:prstGeom>
        </p:spPr>
        <p:txBody>
          <a:bodyPr vert="horz" wrap="square" lIns="0" tIns="12700" rIns="0" bIns="0" rtlCol="0">
            <a:spAutoFit/>
          </a:bodyPr>
          <a:lstStyle/>
          <a:p>
            <a:pPr marL="12700">
              <a:lnSpc>
                <a:spcPct val="100000"/>
              </a:lnSpc>
              <a:spcBef>
                <a:spcPts val="100"/>
              </a:spcBef>
            </a:pPr>
            <a:r>
              <a:rPr sz="5400" spc="-45" dirty="0">
                <a:solidFill>
                  <a:srgbClr val="FFFFFF"/>
                </a:solidFill>
              </a:rPr>
              <a:t>THANK</a:t>
            </a:r>
            <a:r>
              <a:rPr sz="5400" spc="-509" dirty="0">
                <a:solidFill>
                  <a:srgbClr val="FFFFFF"/>
                </a:solidFill>
              </a:rPr>
              <a:t> </a:t>
            </a:r>
            <a:r>
              <a:rPr sz="5400" spc="-25" dirty="0">
                <a:solidFill>
                  <a:srgbClr val="FFFFFF"/>
                </a:solidFill>
              </a:rPr>
              <a:t>YOU</a:t>
            </a:r>
            <a:endParaRPr sz="5400"/>
          </a:p>
        </p:txBody>
      </p:sp>
      <p:grpSp>
        <p:nvGrpSpPr>
          <p:cNvPr id="14" name="object 14"/>
          <p:cNvGrpSpPr/>
          <p:nvPr/>
        </p:nvGrpSpPr>
        <p:grpSpPr>
          <a:xfrm>
            <a:off x="8369641" y="4092848"/>
            <a:ext cx="2332355" cy="2092960"/>
            <a:chOff x="8369641" y="4092848"/>
            <a:chExt cx="2332355" cy="2092960"/>
          </a:xfrm>
        </p:grpSpPr>
        <p:pic>
          <p:nvPicPr>
            <p:cNvPr id="15" name="object 15"/>
            <p:cNvPicPr/>
            <p:nvPr/>
          </p:nvPicPr>
          <p:blipFill>
            <a:blip r:embed="rId6" cstate="print"/>
            <a:stretch>
              <a:fillRect/>
            </a:stretch>
          </p:blipFill>
          <p:spPr>
            <a:xfrm>
              <a:off x="10308800" y="5785990"/>
              <a:ext cx="392886" cy="392886"/>
            </a:xfrm>
            <a:prstGeom prst="rect">
              <a:avLst/>
            </a:prstGeom>
          </p:spPr>
        </p:pic>
        <p:pic>
          <p:nvPicPr>
            <p:cNvPr id="16" name="object 16"/>
            <p:cNvPicPr/>
            <p:nvPr/>
          </p:nvPicPr>
          <p:blipFill>
            <a:blip r:embed="rId7" cstate="print"/>
            <a:stretch>
              <a:fillRect/>
            </a:stretch>
          </p:blipFill>
          <p:spPr>
            <a:xfrm>
              <a:off x="9825030" y="5785990"/>
              <a:ext cx="392887" cy="392886"/>
            </a:xfrm>
            <a:prstGeom prst="rect">
              <a:avLst/>
            </a:prstGeom>
          </p:spPr>
        </p:pic>
        <p:pic>
          <p:nvPicPr>
            <p:cNvPr id="17" name="object 17"/>
            <p:cNvPicPr/>
            <p:nvPr/>
          </p:nvPicPr>
          <p:blipFill>
            <a:blip r:embed="rId8" cstate="print"/>
            <a:stretch>
              <a:fillRect/>
            </a:stretch>
          </p:blipFill>
          <p:spPr>
            <a:xfrm>
              <a:off x="9337181" y="5788338"/>
              <a:ext cx="396962" cy="396962"/>
            </a:xfrm>
            <a:prstGeom prst="rect">
              <a:avLst/>
            </a:prstGeom>
          </p:spPr>
        </p:pic>
        <p:pic>
          <p:nvPicPr>
            <p:cNvPr id="18" name="object 18"/>
            <p:cNvPicPr/>
            <p:nvPr/>
          </p:nvPicPr>
          <p:blipFill>
            <a:blip r:embed="rId9" cstate="print"/>
            <a:stretch>
              <a:fillRect/>
            </a:stretch>
          </p:blipFill>
          <p:spPr>
            <a:xfrm>
              <a:off x="8369641" y="5785990"/>
              <a:ext cx="392887" cy="392886"/>
            </a:xfrm>
            <a:prstGeom prst="rect">
              <a:avLst/>
            </a:prstGeom>
          </p:spPr>
        </p:pic>
        <p:pic>
          <p:nvPicPr>
            <p:cNvPr id="19" name="object 19"/>
            <p:cNvPicPr/>
            <p:nvPr/>
          </p:nvPicPr>
          <p:blipFill>
            <a:blip r:embed="rId10" cstate="print"/>
            <a:stretch>
              <a:fillRect/>
            </a:stretch>
          </p:blipFill>
          <p:spPr>
            <a:xfrm>
              <a:off x="8853411" y="5785990"/>
              <a:ext cx="392886" cy="392886"/>
            </a:xfrm>
            <a:prstGeom prst="rect">
              <a:avLst/>
            </a:prstGeom>
          </p:spPr>
        </p:pic>
        <p:pic>
          <p:nvPicPr>
            <p:cNvPr id="20" name="object 20"/>
            <p:cNvPicPr/>
            <p:nvPr/>
          </p:nvPicPr>
          <p:blipFill>
            <a:blip r:embed="rId11" cstate="print"/>
            <a:stretch>
              <a:fillRect/>
            </a:stretch>
          </p:blipFill>
          <p:spPr>
            <a:xfrm>
              <a:off x="8516582" y="4092848"/>
              <a:ext cx="1883011" cy="639513"/>
            </a:xfrm>
            <a:prstGeom prst="rect">
              <a:avLst/>
            </a:prstGeom>
          </p:spPr>
        </p:pic>
      </p:grpSp>
      <p:sp>
        <p:nvSpPr>
          <p:cNvPr id="21" name="object 21"/>
          <p:cNvSpPr txBox="1"/>
          <p:nvPr/>
        </p:nvSpPr>
        <p:spPr>
          <a:xfrm>
            <a:off x="8245861" y="4916465"/>
            <a:ext cx="2514600" cy="573405"/>
          </a:xfrm>
          <a:prstGeom prst="rect">
            <a:avLst/>
          </a:prstGeom>
        </p:spPr>
        <p:txBody>
          <a:bodyPr vert="horz" wrap="square" lIns="0" tIns="38735" rIns="0" bIns="0" rtlCol="0">
            <a:spAutoFit/>
          </a:bodyPr>
          <a:lstStyle/>
          <a:p>
            <a:pPr algn="ctr">
              <a:lnSpc>
                <a:spcPct val="100000"/>
              </a:lnSpc>
              <a:spcBef>
                <a:spcPts val="305"/>
              </a:spcBef>
            </a:pPr>
            <a:r>
              <a:rPr sz="1400" spc="-60" dirty="0">
                <a:solidFill>
                  <a:srgbClr val="FFFFFF"/>
                </a:solidFill>
                <a:latin typeface="Tahoma"/>
                <a:cs typeface="Tahoma"/>
              </a:rPr>
              <a:t>In</a:t>
            </a:r>
            <a:r>
              <a:rPr sz="1400" spc="-120" dirty="0">
                <a:solidFill>
                  <a:srgbClr val="FFFFFF"/>
                </a:solidFill>
                <a:latin typeface="Tahoma"/>
                <a:cs typeface="Tahoma"/>
              </a:rPr>
              <a:t> </a:t>
            </a:r>
            <a:r>
              <a:rPr sz="1400" dirty="0">
                <a:solidFill>
                  <a:srgbClr val="FFFFFF"/>
                </a:solidFill>
                <a:latin typeface="Tahoma"/>
                <a:cs typeface="Tahoma"/>
              </a:rPr>
              <a:t>the</a:t>
            </a:r>
            <a:r>
              <a:rPr sz="1400" spc="-120" dirty="0">
                <a:solidFill>
                  <a:srgbClr val="FFFFFF"/>
                </a:solidFill>
                <a:latin typeface="Tahoma"/>
                <a:cs typeface="Tahoma"/>
              </a:rPr>
              <a:t> </a:t>
            </a:r>
            <a:r>
              <a:rPr sz="1400" dirty="0">
                <a:solidFill>
                  <a:srgbClr val="FFFFFF"/>
                </a:solidFill>
                <a:latin typeface="Tahoma"/>
                <a:cs typeface="Tahoma"/>
              </a:rPr>
              <a:t>Name</a:t>
            </a:r>
            <a:r>
              <a:rPr sz="1400" spc="-114" dirty="0">
                <a:solidFill>
                  <a:srgbClr val="FFFFFF"/>
                </a:solidFill>
                <a:latin typeface="Tahoma"/>
                <a:cs typeface="Tahoma"/>
              </a:rPr>
              <a:t> </a:t>
            </a:r>
            <a:r>
              <a:rPr sz="1400" dirty="0">
                <a:solidFill>
                  <a:srgbClr val="FFFFFF"/>
                </a:solidFill>
                <a:latin typeface="Tahoma"/>
                <a:cs typeface="Tahoma"/>
              </a:rPr>
              <a:t>of</a:t>
            </a:r>
            <a:r>
              <a:rPr sz="1400" spc="-120" dirty="0">
                <a:solidFill>
                  <a:srgbClr val="FFFFFF"/>
                </a:solidFill>
                <a:latin typeface="Tahoma"/>
                <a:cs typeface="Tahoma"/>
              </a:rPr>
              <a:t> </a:t>
            </a:r>
            <a:r>
              <a:rPr sz="1400" dirty="0">
                <a:solidFill>
                  <a:srgbClr val="FFFFFF"/>
                </a:solidFill>
                <a:latin typeface="Tahoma"/>
                <a:cs typeface="Tahoma"/>
              </a:rPr>
              <a:t>God</a:t>
            </a:r>
            <a:r>
              <a:rPr sz="1400" spc="-114" dirty="0">
                <a:solidFill>
                  <a:srgbClr val="FFFFFF"/>
                </a:solidFill>
                <a:latin typeface="Tahoma"/>
                <a:cs typeface="Tahoma"/>
              </a:rPr>
              <a:t> </a:t>
            </a:r>
            <a:r>
              <a:rPr sz="1400" dirty="0">
                <a:solidFill>
                  <a:srgbClr val="FFFFFF"/>
                </a:solidFill>
                <a:latin typeface="Tahoma"/>
                <a:cs typeface="Tahoma"/>
              </a:rPr>
              <a:t>for</a:t>
            </a:r>
            <a:r>
              <a:rPr sz="1400" spc="-120" dirty="0">
                <a:solidFill>
                  <a:srgbClr val="FFFFFF"/>
                </a:solidFill>
                <a:latin typeface="Tahoma"/>
                <a:cs typeface="Tahoma"/>
              </a:rPr>
              <a:t> </a:t>
            </a:r>
            <a:r>
              <a:rPr sz="1400" spc="-10" dirty="0">
                <a:solidFill>
                  <a:srgbClr val="FFFFFF"/>
                </a:solidFill>
                <a:latin typeface="Tahoma"/>
                <a:cs typeface="Tahoma"/>
              </a:rPr>
              <a:t>Mankind</a:t>
            </a:r>
            <a:endParaRPr sz="1400">
              <a:latin typeface="Tahoma"/>
              <a:cs typeface="Tahoma"/>
            </a:endParaRPr>
          </a:p>
          <a:p>
            <a:pPr algn="ctr">
              <a:lnSpc>
                <a:spcPct val="100000"/>
              </a:lnSpc>
              <a:spcBef>
                <a:spcPts val="270"/>
              </a:spcBef>
            </a:pPr>
            <a:r>
              <a:rPr sz="1800" spc="-10" dirty="0">
                <a:solidFill>
                  <a:srgbClr val="FFFFFF"/>
                </a:solidFill>
                <a:latin typeface="Tahoma"/>
                <a:cs typeface="Tahoma"/>
                <a:hlinkClick r:id="rId12"/>
              </a:rPr>
              <a:t>www.utm.my</a:t>
            </a:r>
            <a:endParaRPr sz="1800">
              <a:latin typeface="Tahoma"/>
              <a:cs typeface="Tahom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315</TotalTime>
  <Words>1222</Words>
  <Application>Microsoft Office PowerPoint</Application>
  <PresentationFormat>Widescreen</PresentationFormat>
  <Paragraphs>230</Paragraphs>
  <Slides>35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Arial</vt:lpstr>
      <vt:lpstr>Cambria</vt:lpstr>
      <vt:lpstr>Tahoma</vt:lpstr>
      <vt:lpstr>Office Theme</vt:lpstr>
      <vt:lpstr>Enterpreneurial</vt:lpstr>
      <vt:lpstr>Outline</vt:lpstr>
      <vt:lpstr>PowerPoint Presentation</vt:lpstr>
      <vt:lpstr>What is an Entrepreneurial Mindset?</vt:lpstr>
      <vt:lpstr>Entrepreneurial Mindset in Example of Software Project </vt:lpstr>
      <vt:lpstr>Entrepreneurial Mindset in Example of Software Project </vt:lpstr>
      <vt:lpstr>Entrepreneurial Mindset in Example of Software Project </vt:lpstr>
      <vt:lpstr>Entrepreneurial Mindset in Example of Software Project </vt:lpstr>
      <vt:lpstr>PowerPoint Presentation</vt:lpstr>
      <vt:lpstr>Why Monetization Matters?</vt:lpstr>
      <vt:lpstr>Monetization Strategies</vt:lpstr>
      <vt:lpstr>Monetization Strategies</vt:lpstr>
      <vt:lpstr>Monetization Strategies</vt:lpstr>
      <vt:lpstr>PowerPoint Presentation</vt:lpstr>
      <vt:lpstr>Purpose of Market Research</vt:lpstr>
      <vt:lpstr>Purpose of Market Research</vt:lpstr>
      <vt:lpstr>Purpose of Market Research</vt:lpstr>
      <vt:lpstr>PowerPoint Presentation</vt:lpstr>
      <vt:lpstr>Scalability and Growth</vt:lpstr>
      <vt:lpstr>PowerPoint Presentation</vt:lpstr>
      <vt:lpstr>Security in Software Project Management</vt:lpstr>
      <vt:lpstr>Security Considerations</vt:lpstr>
      <vt:lpstr>Security Considerations</vt:lpstr>
      <vt:lpstr>PowerPoint Presentation</vt:lpstr>
      <vt:lpstr>Service Level Agreement (SLA)</vt:lpstr>
      <vt:lpstr>PowerPoint Presentation</vt:lpstr>
      <vt:lpstr>PowerPoint Presentation</vt:lpstr>
      <vt:lpstr>Integration of Information Security</vt:lpstr>
      <vt:lpstr>PowerPoint Presentation</vt:lpstr>
      <vt:lpstr>Educating Team Members on Security</vt:lpstr>
      <vt:lpstr>PowerPoint Presentation</vt:lpstr>
      <vt:lpstr>Use of Security Tools</vt:lpstr>
      <vt:lpstr>PowerPoint Presentation</vt:lpstr>
      <vt:lpstr>Summary – Entrepreneurial Mindset in Agile DSDM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08 - Software Project Estimation.pptx</dc:title>
  <cp:lastModifiedBy>ROHAYANTI BINTI HASSAN</cp:lastModifiedBy>
  <cp:revision>21</cp:revision>
  <dcterms:created xsi:type="dcterms:W3CDTF">2025-12-14T04:14:50Z</dcterms:created>
  <dcterms:modified xsi:type="dcterms:W3CDTF">2025-12-27T23:59:13Z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2025-12-14T00:00:00Z</vt:filetime>
  </property>
  <property fmtid="{D5CDD505-2E9C-101B-9397-08002B2CF9AE}" pid="3" name="Creator">
    <vt:lpwstr>Google</vt:lpwstr>
  </property>
  <property fmtid="{D5CDD505-2E9C-101B-9397-08002B2CF9AE}" pid="4" name="LastSaved">
    <vt:filetime>2025-12-14T00:00:00Z</vt:filetime>
  </property>
</Properties>
</file>