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2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y="6858000" cx="12192000"/>
  <p:notesSz cx="6858000" cy="9144000"/>
  <p:embeddedFontLst>
    <p:embeddedFont>
      <p:font typeface="Roboto"/>
      <p:regular r:id="rId59"/>
      <p:bold r:id="rId60"/>
      <p:italic r:id="rId61"/>
      <p:boldItalic r:id="rId62"/>
    </p:embeddedFont>
    <p:embeddedFont>
      <p:font typeface="Lato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67" roundtripDataSignature="AMtx7mgDdADbWs+GimpQRuhCeIxhciJP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6BFF74-8509-40AD-87DB-A6B2895685D4}">
  <a:tblStyle styleId="{296BFF74-8509-40AD-87DB-A6B2895685D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-boldItalic.fntdata"/><Relationship Id="rId61" Type="http://schemas.openxmlformats.org/officeDocument/2006/relationships/font" Target="fonts/Roboto-italic.fntdata"/><Relationship Id="rId20" Type="http://schemas.openxmlformats.org/officeDocument/2006/relationships/slide" Target="slides/slide14.xml"/><Relationship Id="rId64" Type="http://schemas.openxmlformats.org/officeDocument/2006/relationships/font" Target="fonts/Lato-bold.fntdata"/><Relationship Id="rId63" Type="http://schemas.openxmlformats.org/officeDocument/2006/relationships/font" Target="fonts/Lato-regular.fntdata"/><Relationship Id="rId22" Type="http://schemas.openxmlformats.org/officeDocument/2006/relationships/slide" Target="slides/slide16.xml"/><Relationship Id="rId66" Type="http://schemas.openxmlformats.org/officeDocument/2006/relationships/font" Target="fonts/Lato-boldItalic.fntdata"/><Relationship Id="rId21" Type="http://schemas.openxmlformats.org/officeDocument/2006/relationships/slide" Target="slides/slide15.xml"/><Relationship Id="rId65" Type="http://schemas.openxmlformats.org/officeDocument/2006/relationships/font" Target="fonts/Lato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customschemas.google.com/relationships/presentationmetadata" Target="metadata"/><Relationship Id="rId60" Type="http://schemas.openxmlformats.org/officeDocument/2006/relationships/font" Target="fonts/Roboto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Roboto-regular.fntdata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8a848c736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88a848c736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88a848c736_1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637ed14d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7637ed14d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8a848c736_1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88a848c736_1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8a848c736_1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88a848c736_1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8a848c736_1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88a848c736_1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388a848c736_1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8a848c736_1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88a848c736_1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388a848c736_1_1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7d8728e14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7d8728e14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37d8728e14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7d8728e147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7d8728e147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37d8728e147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d8728e147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7d8728e147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7d8728e147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d8728e147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7d8728e147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37d8728e147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dd053fb9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7dd053fb9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g37dd053fb9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7dd053fb96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7dd053fb96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g37dd053fb96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7dd053fb96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7dd053fb96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g37dd053fb96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dd053fb96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7dd053fb96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g37dd053fb96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dd053fb96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7dd053fb96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g37dd053fb96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dd053fb96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7dd053fb96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g37dd053fb96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dd053fb96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7dd053fb96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g37dd053fb96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7dd053fb96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7dd053fb96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7dd053fb96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7dd053fb96_0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7dd053fb96_0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g37dd053fb96_0_1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7dd053fb96_0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7dd053fb96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g37dd053fb96_0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7dd053fb96_0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37dd053fb96_0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g37dd053fb96_0_1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dd053fb96_0_3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7dd053fb96_0_3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g37dd053fb96_0_3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88a848c736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g388a848c736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g388a848c736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7dd053fb96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7dd053fb96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7dd053fb96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7dd053fb96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7dd053fb96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g37dd053fb96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7dd053fb96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7dd053fb96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g37dd053fb96_0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7dd053fb96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7dd053fb96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g37dd053fb96_0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7dd053fb96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37dd053fb96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g37dd053fb96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7dd053fb96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37dd053fb96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7dd053fb96_0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7dd053fb96_0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37dd053fb96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g37dd053fb96_0_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7dd053fb96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g37dd053fb96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g37dd053fb96_0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7dd053fb96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37dd053fb96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g37dd053fb96_0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7dd053fb96_0_3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37dd053fb96_0_3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8" name="Google Shape;468;g37dd053fb96_0_3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88a848c736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388a848c736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g388a848c736_1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7dd053fb96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7dd053fb96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g37dd053fb96_0_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7dd053fb96_0_1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37dd053fb96_0_1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g37dd053fb96_0_1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7dd053fb96_0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37dd053fb96_0_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g37dd053fb96_0_2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7dd053fb96_0_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g37dd053fb96_0_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g37dd053fb96_0_2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7dd053fb96_0_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g37dd053fb96_0_2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g37dd053fb96_0_2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7dd053fb96_0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7dd053fb96_0_2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g37dd053fb96_0_2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7dd053fb96_0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g37dd053fb96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2" name="Google Shape;532;g37dd053fb96_0_2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7dd053fb96_0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g37dd053fb96_0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g37dd053fb96_0_2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7dd053fb96_0_2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g37dd053fb96_0_2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8" name="Google Shape;548;g37dd053fb96_0_2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7dd053fb96_0_2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g37dd053fb96_0_2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g37dd053fb96_0_2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7dd053fb96_0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g37dd053fb96_0_2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g37dd053fb96_0_2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7dd053fb96_0_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g37dd053fb96_0_2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2" name="Google Shape;572;g37dd053fb96_0_2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7dd053fb96_0_2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37dd053fb96_0_2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g37dd053fb96_0_2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7dd053fb96_0_3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g37dd053fb96_0_3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8" name="Google Shape;588;g37dd053fb96_0_3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7dd053fb96_0_3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7dd053fb96_0_3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g37dd053fb96_0_3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3" name="Google Shape;60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1" showMasterSp="0">
  <p:cSld name="Layout0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0" name="Google Shape;20;p14"/>
          <p:cNvPicPr preferRelativeResize="0"/>
          <p:nvPr/>
        </p:nvPicPr>
        <p:blipFill rotWithShape="1">
          <a:blip r:embed="rId2">
            <a:alphaModFix amt="63000"/>
          </a:blip>
          <a:srcRect b="0" l="0" r="0" t="0"/>
          <a:stretch/>
        </p:blipFill>
        <p:spPr>
          <a:xfrm flipH="1" rot="10800000">
            <a:off x="1390488" y="0"/>
            <a:ext cx="108015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4"/>
          <p:cNvSpPr/>
          <p:nvPr/>
        </p:nvSpPr>
        <p:spPr>
          <a:xfrm>
            <a:off x="130676" y="0"/>
            <a:ext cx="4712547" cy="6880888"/>
          </a:xfrm>
          <a:prstGeom prst="rect">
            <a:avLst/>
          </a:prstGeom>
          <a:gradFill>
            <a:gsLst>
              <a:gs pos="0">
                <a:srgbClr val="444038"/>
              </a:gs>
              <a:gs pos="100000">
                <a:srgbClr val="102C30"/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4"/>
          <p:cNvSpPr/>
          <p:nvPr/>
        </p:nvSpPr>
        <p:spPr>
          <a:xfrm flipH="1" rot="10800000">
            <a:off x="2395148" y="-4501"/>
            <a:ext cx="4843223" cy="6862501"/>
          </a:xfrm>
          <a:custGeom>
            <a:rect b="b" l="l" r="r" t="t"/>
            <a:pathLst>
              <a:path extrusionOk="0" h="6834887" w="3347129">
                <a:moveTo>
                  <a:pt x="0" y="2327"/>
                </a:moveTo>
                <a:lnTo>
                  <a:pt x="1698434" y="0"/>
                </a:lnTo>
                <a:lnTo>
                  <a:pt x="3347129" y="3429000"/>
                </a:lnTo>
                <a:lnTo>
                  <a:pt x="1712024" y="6828623"/>
                </a:lnTo>
                <a:lnTo>
                  <a:pt x="107546" y="6834887"/>
                </a:lnTo>
                <a:lnTo>
                  <a:pt x="1690835" y="3472890"/>
                </a:lnTo>
                <a:lnTo>
                  <a:pt x="0" y="2327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4"/>
          <p:cNvSpPr txBox="1"/>
          <p:nvPr>
            <p:ph type="title"/>
          </p:nvPr>
        </p:nvSpPr>
        <p:spPr>
          <a:xfrm>
            <a:off x="584603" y="2120702"/>
            <a:ext cx="4120911" cy="26442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/>
          <p:nvPr/>
        </p:nvSpPr>
        <p:spPr>
          <a:xfrm rot="5400000">
            <a:off x="-765719" y="3361414"/>
            <a:ext cx="1662113" cy="130676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25" name="Google Shape;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1467" y="404628"/>
            <a:ext cx="2133841" cy="72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4256" y="6511235"/>
            <a:ext cx="3922822" cy="219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6">
  <p:cSld name="Layout06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15"/>
          <p:cNvCxnSpPr/>
          <p:nvPr/>
        </p:nvCxnSpPr>
        <p:spPr>
          <a:xfrm>
            <a:off x="480645" y="1465384"/>
            <a:ext cx="11711354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" name="Google Shape;29;p15"/>
          <p:cNvSpPr txBox="1"/>
          <p:nvPr>
            <p:ph type="title"/>
          </p:nvPr>
        </p:nvSpPr>
        <p:spPr>
          <a:xfrm>
            <a:off x="712787" y="385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839788" y="1828799"/>
            <a:ext cx="10261599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0" i="0" sz="16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2" name="Google Shape;32;p15"/>
          <p:cNvSpPr/>
          <p:nvPr/>
        </p:nvSpPr>
        <p:spPr>
          <a:xfrm>
            <a:off x="0" y="1383280"/>
            <a:ext cx="2128058" cy="16625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0">
  <p:cSld name="Layout10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/>
          <p:nvPr/>
        </p:nvSpPr>
        <p:spPr>
          <a:xfrm>
            <a:off x="0" y="-13856"/>
            <a:ext cx="8423564" cy="6871855"/>
          </a:xfrm>
          <a:custGeom>
            <a:rect b="b" l="l" r="r" t="t"/>
            <a:pathLst>
              <a:path extrusionOk="0" h="6871855" w="8423564">
                <a:moveTo>
                  <a:pt x="0" y="13855"/>
                </a:moveTo>
                <a:lnTo>
                  <a:pt x="8423564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6"/>
          <p:cNvSpPr txBox="1"/>
          <p:nvPr>
            <p:ph type="title"/>
          </p:nvPr>
        </p:nvSpPr>
        <p:spPr>
          <a:xfrm>
            <a:off x="7120335" y="4237932"/>
            <a:ext cx="4677218" cy="1878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/>
          <p:nvPr>
            <p:ph idx="2" type="pic"/>
          </p:nvPr>
        </p:nvSpPr>
        <p:spPr>
          <a:xfrm>
            <a:off x="0" y="-13856"/>
            <a:ext cx="7647882" cy="6871856"/>
          </a:xfrm>
          <a:prstGeom prst="parallelogram">
            <a:avLst>
              <a:gd fmla="val 33669" name="adj"/>
            </a:avLst>
          </a:prstGeom>
          <a:noFill/>
          <a:ln>
            <a:noFill/>
          </a:ln>
        </p:spPr>
      </p:sp>
      <p:sp>
        <p:nvSpPr>
          <p:cNvPr id="37" name="Google Shape;37;p2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38" name="Google Shape;3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6">
  <p:cSld name="Layout26">
    <p:bg>
      <p:bgPr>
        <a:solidFill>
          <a:srgbClr val="F2F2F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/>
          <p:nvPr/>
        </p:nvSpPr>
        <p:spPr>
          <a:xfrm rot="10800000">
            <a:off x="6096000" y="0"/>
            <a:ext cx="6096000" cy="6871855"/>
          </a:xfrm>
          <a:custGeom>
            <a:rect b="b" l="l" r="r" t="t"/>
            <a:pathLst>
              <a:path extrusionOk="0" h="6871855" w="6096000">
                <a:moveTo>
                  <a:pt x="0" y="13855"/>
                </a:moveTo>
                <a:lnTo>
                  <a:pt x="4544292" y="0"/>
                </a:lnTo>
                <a:lnTo>
                  <a:pt x="6096000" y="6871855"/>
                </a:lnTo>
                <a:lnTo>
                  <a:pt x="0" y="6871855"/>
                </a:lnTo>
                <a:lnTo>
                  <a:pt x="0" y="13855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18"/>
          <p:cNvPicPr preferRelativeResize="0"/>
          <p:nvPr/>
        </p:nvPicPr>
        <p:blipFill rotWithShape="1">
          <a:blip r:embed="rId2">
            <a:alphaModFix amt="17000"/>
          </a:blip>
          <a:srcRect b="0" l="0" r="0" t="0"/>
          <a:stretch/>
        </p:blipFill>
        <p:spPr>
          <a:xfrm>
            <a:off x="6082780" y="9216"/>
            <a:ext cx="610922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8"/>
          <p:cNvSpPr/>
          <p:nvPr>
            <p:ph idx="2" type="pic"/>
          </p:nvPr>
        </p:nvSpPr>
        <p:spPr>
          <a:xfrm>
            <a:off x="0" y="0"/>
            <a:ext cx="7645186" cy="686142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2">
  <p:cSld name="Layout02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5" name="Google Shape;45;p19"/>
          <p:cNvSpPr/>
          <p:nvPr/>
        </p:nvSpPr>
        <p:spPr>
          <a:xfrm>
            <a:off x="3400700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9"/>
          <p:cNvSpPr/>
          <p:nvPr/>
        </p:nvSpPr>
        <p:spPr>
          <a:xfrm>
            <a:off x="-237846" y="-3393"/>
            <a:ext cx="3801533" cy="344098"/>
          </a:xfrm>
          <a:custGeom>
            <a:rect b="b" l="l" r="r" t="t"/>
            <a:pathLst>
              <a:path extrusionOk="0" h="791286" w="10556322">
                <a:moveTo>
                  <a:pt x="0" y="0"/>
                </a:moveTo>
                <a:lnTo>
                  <a:pt x="9998765" y="0"/>
                </a:lnTo>
                <a:lnTo>
                  <a:pt x="10556322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9"/>
          <p:cNvSpPr/>
          <p:nvPr/>
        </p:nvSpPr>
        <p:spPr>
          <a:xfrm>
            <a:off x="3724602" y="-8664"/>
            <a:ext cx="485299" cy="339068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3">
  <p:cSld name="Layout03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/>
          <p:nvPr/>
        </p:nvSpPr>
        <p:spPr>
          <a:xfrm>
            <a:off x="64158" y="507763"/>
            <a:ext cx="325728" cy="327043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7F255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2" name="Google Shape;52;p20"/>
          <p:cNvSpPr/>
          <p:nvPr/>
        </p:nvSpPr>
        <p:spPr>
          <a:xfrm>
            <a:off x="201412" y="344385"/>
            <a:ext cx="638687" cy="64126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4">
  <p:cSld name="Layout0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6" name="Google Shape;56;p21"/>
          <p:cNvSpPr/>
          <p:nvPr/>
        </p:nvSpPr>
        <p:spPr>
          <a:xfrm>
            <a:off x="-607982" y="448235"/>
            <a:ext cx="1000815" cy="1004858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1"/>
          <p:cNvSpPr txBox="1"/>
          <p:nvPr>
            <p:ph type="title"/>
          </p:nvPr>
        </p:nvSpPr>
        <p:spPr>
          <a:xfrm>
            <a:off x="497541" y="31133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5">
  <p:cSld name="Layout05">
    <p:bg>
      <p:bgPr>
        <a:solidFill>
          <a:srgbClr val="6C1D35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Google Shape;59;p22"/>
          <p:cNvCxnSpPr/>
          <p:nvPr/>
        </p:nvCxnSpPr>
        <p:spPr>
          <a:xfrm>
            <a:off x="480645" y="1172309"/>
            <a:ext cx="11711354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" name="Google Shape;60;p22"/>
          <p:cNvSpPr/>
          <p:nvPr/>
        </p:nvSpPr>
        <p:spPr>
          <a:xfrm>
            <a:off x="0" y="1101927"/>
            <a:ext cx="2128058" cy="166255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814385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type="title"/>
          </p:nvPr>
        </p:nvSpPr>
        <p:spPr>
          <a:xfrm>
            <a:off x="2057393" y="188182"/>
            <a:ext cx="7883842" cy="903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2" type="body"/>
          </p:nvPr>
        </p:nvSpPr>
        <p:spPr>
          <a:xfrm>
            <a:off x="4386254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3" type="body"/>
          </p:nvPr>
        </p:nvSpPr>
        <p:spPr>
          <a:xfrm>
            <a:off x="7929556" y="1794336"/>
            <a:ext cx="3313921" cy="43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7">
  <p:cSld name="Layout07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/>
          <p:nvPr/>
        </p:nvSpPr>
        <p:spPr>
          <a:xfrm>
            <a:off x="0" y="668539"/>
            <a:ext cx="574431" cy="593725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/>
          <p:nvPr>
            <p:ph idx="2" type="pic"/>
          </p:nvPr>
        </p:nvSpPr>
        <p:spPr>
          <a:xfrm>
            <a:off x="738551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71" name="Google Shape;71;p23"/>
          <p:cNvSpPr/>
          <p:nvPr>
            <p:ph idx="3" type="pic"/>
          </p:nvPr>
        </p:nvSpPr>
        <p:spPr>
          <a:xfrm>
            <a:off x="4112204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72" name="Google Shape;72;p23"/>
          <p:cNvSpPr/>
          <p:nvPr>
            <p:ph idx="4" type="pic"/>
          </p:nvPr>
        </p:nvSpPr>
        <p:spPr>
          <a:xfrm>
            <a:off x="7504930" y="2110157"/>
            <a:ext cx="3681046" cy="3910612"/>
          </a:xfrm>
          <a:prstGeom prst="flowChartInputOutpu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8">
  <p:cSld name="Layout08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/>
          <p:nvPr/>
        </p:nvSpPr>
        <p:spPr>
          <a:xfrm>
            <a:off x="3708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4"/>
          <p:cNvSpPr/>
          <p:nvPr/>
        </p:nvSpPr>
        <p:spPr>
          <a:xfrm rot="10800000">
            <a:off x="4596135" y="-6351"/>
            <a:ext cx="1229395" cy="6458089"/>
          </a:xfrm>
          <a:custGeom>
            <a:rect b="b" l="l" r="r" t="t"/>
            <a:pathLst>
              <a:path extrusionOk="0" h="6458089" w="1229395">
                <a:moveTo>
                  <a:pt x="670" y="6458089"/>
                </a:moveTo>
                <a:cubicBezTo>
                  <a:pt x="-1538" y="4297984"/>
                  <a:pt x="2603" y="2160105"/>
                  <a:pt x="395" y="0"/>
                </a:cubicBezTo>
                <a:lnTo>
                  <a:pt x="1229395" y="1105"/>
                </a:lnTo>
                <a:lnTo>
                  <a:pt x="102546" y="6458089"/>
                </a:lnTo>
                <a:lnTo>
                  <a:pt x="670" y="6458089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24"/>
          <p:cNvCxnSpPr/>
          <p:nvPr/>
        </p:nvCxnSpPr>
        <p:spPr>
          <a:xfrm>
            <a:off x="0" y="6534150"/>
            <a:ext cx="0" cy="0"/>
          </a:xfrm>
          <a:prstGeom prst="straightConnector1">
            <a:avLst/>
          </a:prstGeom>
          <a:noFill/>
          <a:ln cap="flat" cmpd="sng" w="1905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78" name="Google Shape;78;p24"/>
          <p:cNvSpPr/>
          <p:nvPr>
            <p:ph idx="2" type="pic"/>
          </p:nvPr>
        </p:nvSpPr>
        <p:spPr>
          <a:xfrm>
            <a:off x="103240" y="0"/>
            <a:ext cx="5615898" cy="6442797"/>
          </a:xfrm>
          <a:prstGeom prst="flowChartInputOutput">
            <a:avLst/>
          </a:prstGeom>
          <a:noFill/>
          <a:ln>
            <a:noFill/>
          </a:ln>
        </p:spPr>
      </p:sp>
      <p:sp>
        <p:nvSpPr>
          <p:cNvPr id="79" name="Google Shape;79;p24"/>
          <p:cNvSpPr txBox="1"/>
          <p:nvPr>
            <p:ph type="title"/>
          </p:nvPr>
        </p:nvSpPr>
        <p:spPr>
          <a:xfrm>
            <a:off x="6201508" y="2686295"/>
            <a:ext cx="5562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09">
  <p:cSld name="Layout09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5"/>
          <p:cNvSpPr/>
          <p:nvPr/>
        </p:nvSpPr>
        <p:spPr>
          <a:xfrm>
            <a:off x="4778476" y="819148"/>
            <a:ext cx="7413523" cy="4976967"/>
          </a:xfrm>
          <a:prstGeom prst="rect">
            <a:avLst/>
          </a:prstGeom>
          <a:solidFill>
            <a:srgbClr val="8323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5"/>
          <p:cNvSpPr txBox="1"/>
          <p:nvPr>
            <p:ph type="title"/>
          </p:nvPr>
        </p:nvSpPr>
        <p:spPr>
          <a:xfrm>
            <a:off x="5153891" y="1316968"/>
            <a:ext cx="6480896" cy="1131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/>
          <p:nvPr>
            <p:ph idx="2" type="pic"/>
          </p:nvPr>
        </p:nvSpPr>
        <p:spPr>
          <a:xfrm>
            <a:off x="0" y="0"/>
            <a:ext cx="4763924" cy="635635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25"/>
          <p:cNvSpPr txBox="1"/>
          <p:nvPr>
            <p:ph idx="1" type="body"/>
          </p:nvPr>
        </p:nvSpPr>
        <p:spPr>
          <a:xfrm>
            <a:off x="5153890" y="2580967"/>
            <a:ext cx="6480897" cy="2595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1">
  <p:cSld name="Layout11">
    <p:bg>
      <p:bgPr>
        <a:solidFill>
          <a:srgbClr val="6C1D35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88" name="Google Shape;8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2">
  <p:cSld name="Layout1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8"/>
          <p:cNvSpPr/>
          <p:nvPr>
            <p:ph idx="2" type="pic"/>
          </p:nvPr>
        </p:nvSpPr>
        <p:spPr>
          <a:xfrm>
            <a:off x="-1" y="-2358"/>
            <a:ext cx="7753847" cy="6863012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28"/>
          <p:cNvSpPr/>
          <p:nvPr/>
        </p:nvSpPr>
        <p:spPr>
          <a:xfrm>
            <a:off x="9476509" y="1"/>
            <a:ext cx="2715490" cy="6880888"/>
          </a:xfrm>
          <a:prstGeom prst="rect">
            <a:avLst/>
          </a:prstGeom>
          <a:solidFill>
            <a:srgbClr val="4B47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8"/>
          <p:cNvSpPr/>
          <p:nvPr/>
        </p:nvSpPr>
        <p:spPr>
          <a:xfrm rot="10800000">
            <a:off x="5250869" y="-1"/>
            <a:ext cx="6858001" cy="6885707"/>
          </a:xfrm>
          <a:custGeom>
            <a:rect b="b" l="l" r="r" t="t"/>
            <a:pathLst>
              <a:path extrusionOk="0" h="6858000" w="4503556">
                <a:moveTo>
                  <a:pt x="28538" y="13855"/>
                </a:moveTo>
                <a:lnTo>
                  <a:pt x="2854861" y="0"/>
                </a:lnTo>
                <a:lnTo>
                  <a:pt x="4503556" y="3429000"/>
                </a:lnTo>
                <a:lnTo>
                  <a:pt x="2854861" y="6858000"/>
                </a:lnTo>
                <a:lnTo>
                  <a:pt x="0" y="6857944"/>
                </a:lnTo>
                <a:lnTo>
                  <a:pt x="1663379" y="3484417"/>
                </a:lnTo>
                <a:lnTo>
                  <a:pt x="28538" y="13855"/>
                </a:lnTo>
                <a:close/>
              </a:path>
            </a:pathLst>
          </a:custGeom>
          <a:gradFill>
            <a:gsLst>
              <a:gs pos="0">
                <a:srgbClr val="83233E"/>
              </a:gs>
              <a:gs pos="100000">
                <a:srgbClr val="6C1D3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8"/>
          <p:cNvSpPr txBox="1"/>
          <p:nvPr>
            <p:ph type="title"/>
          </p:nvPr>
        </p:nvSpPr>
        <p:spPr>
          <a:xfrm>
            <a:off x="5832762" y="1995054"/>
            <a:ext cx="3768438" cy="3089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3">
  <p:cSld name="Layout13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9"/>
          <p:cNvSpPr/>
          <p:nvPr/>
        </p:nvSpPr>
        <p:spPr>
          <a:xfrm>
            <a:off x="6350" y="1"/>
            <a:ext cx="4329113" cy="6880888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29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>
            <a:off x="0" y="-1"/>
            <a:ext cx="433697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9"/>
          <p:cNvSpPr/>
          <p:nvPr/>
        </p:nvSpPr>
        <p:spPr>
          <a:xfrm>
            <a:off x="1431389" y="0"/>
            <a:ext cx="1662113" cy="68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00" name="Google Shape;100;p29"/>
          <p:cNvSpPr txBox="1"/>
          <p:nvPr>
            <p:ph type="title"/>
          </p:nvPr>
        </p:nvSpPr>
        <p:spPr>
          <a:xfrm>
            <a:off x="352821" y="2616709"/>
            <a:ext cx="3523452" cy="105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9"/>
          <p:cNvSpPr txBox="1"/>
          <p:nvPr>
            <p:ph idx="1" type="body"/>
          </p:nvPr>
        </p:nvSpPr>
        <p:spPr>
          <a:xfrm>
            <a:off x="352821" y="3880241"/>
            <a:ext cx="3523452" cy="1166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1600"/>
              <a:buNone/>
              <a:defRPr b="0" i="0" sz="1600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2" name="Google Shape;102;p29"/>
          <p:cNvSpPr/>
          <p:nvPr>
            <p:ph idx="2" type="pic"/>
          </p:nvPr>
        </p:nvSpPr>
        <p:spPr>
          <a:xfrm>
            <a:off x="4322618" y="0"/>
            <a:ext cx="7552707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4">
  <p:cSld name="Layout14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0"/>
          <p:cNvSpPr/>
          <p:nvPr/>
        </p:nvSpPr>
        <p:spPr>
          <a:xfrm>
            <a:off x="-324" y="-2845"/>
            <a:ext cx="2589145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>
              <a:alpha val="76078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06" name="Google Shape;10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5">
  <p:cSld name="Layout15">
    <p:bg>
      <p:bgPr>
        <a:solidFill>
          <a:srgbClr val="6C1D3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1"/>
          <p:cNvSpPr/>
          <p:nvPr/>
        </p:nvSpPr>
        <p:spPr>
          <a:xfrm rot="5400000">
            <a:off x="5964357" y="-1538287"/>
            <a:ext cx="134938" cy="3211512"/>
          </a:xfrm>
          <a:prstGeom prst="rect">
            <a:avLst/>
          </a:pr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6">
  <p:cSld name="Layout16">
    <p:bg>
      <p:bgPr>
        <a:solidFill>
          <a:srgbClr val="F2F2F2">
            <a:alpha val="32941"/>
          </a:srgbClr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2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2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2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16" name="Google Shape;116;p32"/>
          <p:cNvSpPr txBox="1"/>
          <p:nvPr>
            <p:ph type="title"/>
          </p:nvPr>
        </p:nvSpPr>
        <p:spPr>
          <a:xfrm>
            <a:off x="1389318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7">
  <p:cSld name="Layout17">
    <p:bg>
      <p:bgPr>
        <a:solidFill>
          <a:srgbClr val="F2F2F2">
            <a:alpha val="32941"/>
          </a:srgbClr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3"/>
          <p:cNvSpPr/>
          <p:nvPr/>
        </p:nvSpPr>
        <p:spPr>
          <a:xfrm>
            <a:off x="8688288" y="253363"/>
            <a:ext cx="1091121" cy="781258"/>
          </a:xfrm>
          <a:custGeom>
            <a:rect b="b" l="l" r="r" t="t"/>
            <a:pathLst>
              <a:path extrusionOk="0" h="794993" w="1110304">
                <a:moveTo>
                  <a:pt x="0" y="0"/>
                </a:moveTo>
                <a:lnTo>
                  <a:pt x="668996" y="0"/>
                </a:lnTo>
                <a:lnTo>
                  <a:pt x="1110304" y="794993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3"/>
          <p:cNvSpPr/>
          <p:nvPr/>
        </p:nvSpPr>
        <p:spPr>
          <a:xfrm>
            <a:off x="139272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473075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3"/>
          <p:cNvSpPr/>
          <p:nvPr/>
        </p:nvSpPr>
        <p:spPr>
          <a:xfrm>
            <a:off x="948611" y="256369"/>
            <a:ext cx="8704157" cy="791286"/>
          </a:xfrm>
          <a:custGeom>
            <a:rect b="b" l="l" r="r" t="t"/>
            <a:pathLst>
              <a:path extrusionOk="0" h="791286" w="10510654">
                <a:moveTo>
                  <a:pt x="0" y="0"/>
                </a:moveTo>
                <a:lnTo>
                  <a:pt x="9998765" y="0"/>
                </a:lnTo>
                <a:lnTo>
                  <a:pt x="10510654" y="775895"/>
                </a:lnTo>
                <a:lnTo>
                  <a:pt x="567369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3"/>
          <p:cNvSpPr/>
          <p:nvPr/>
        </p:nvSpPr>
        <p:spPr>
          <a:xfrm>
            <a:off x="0" y="0"/>
            <a:ext cx="1132546" cy="791286"/>
          </a:xfrm>
          <a:custGeom>
            <a:rect b="b" l="l" r="r" t="t"/>
            <a:pathLst>
              <a:path extrusionOk="0" h="791286" w="1132546">
                <a:moveTo>
                  <a:pt x="0" y="0"/>
                </a:moveTo>
                <a:lnTo>
                  <a:pt x="668996" y="0"/>
                </a:lnTo>
                <a:lnTo>
                  <a:pt x="1132546" y="791286"/>
                </a:lnTo>
                <a:lnTo>
                  <a:pt x="0" y="791286"/>
                </a:lnTo>
                <a:lnTo>
                  <a:pt x="0" y="0"/>
                </a:lnTo>
                <a:close/>
              </a:path>
            </a:pathLst>
          </a:custGeom>
          <a:solidFill>
            <a:srgbClr val="E8B8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23" name="Google Shape;123;p33"/>
          <p:cNvSpPr txBox="1"/>
          <p:nvPr>
            <p:ph type="title"/>
          </p:nvPr>
        </p:nvSpPr>
        <p:spPr>
          <a:xfrm>
            <a:off x="1391093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8">
  <p:cSld name="Layout18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/>
          <p:nvPr/>
        </p:nvSpPr>
        <p:spPr>
          <a:xfrm flipH="1">
            <a:off x="0" y="0"/>
            <a:ext cx="12192000" cy="6329548"/>
          </a:xfrm>
          <a:custGeom>
            <a:rect b="b" l="l" r="r" t="t"/>
            <a:pathLst>
              <a:path extrusionOk="0" h="10000" w="10003">
                <a:moveTo>
                  <a:pt x="3" y="5641"/>
                </a:moveTo>
                <a:lnTo>
                  <a:pt x="2003" y="0"/>
                </a:lnTo>
                <a:lnTo>
                  <a:pt x="10003" y="0"/>
                </a:lnTo>
                <a:lnTo>
                  <a:pt x="10003" y="10000"/>
                </a:lnTo>
                <a:lnTo>
                  <a:pt x="3" y="10000"/>
                </a:lnTo>
                <a:cubicBezTo>
                  <a:pt x="-7" y="8290"/>
                  <a:pt x="13" y="7351"/>
                  <a:pt x="3" y="5641"/>
                </a:cubicBezTo>
                <a:close/>
              </a:path>
            </a:pathLst>
          </a:custGeom>
          <a:solidFill>
            <a:srgbClr val="6C1D35"/>
          </a:solidFill>
          <a:ln cap="flat" cmpd="sng" w="12700">
            <a:solidFill>
              <a:srgbClr val="5F192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4"/>
          <p:cNvSpPr txBox="1"/>
          <p:nvPr>
            <p:ph type="title"/>
          </p:nvPr>
        </p:nvSpPr>
        <p:spPr>
          <a:xfrm>
            <a:off x="1804589" y="430242"/>
            <a:ext cx="8686800" cy="966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4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19">
  <p:cSld name="Layout19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"/>
          <p:cNvSpPr/>
          <p:nvPr/>
        </p:nvSpPr>
        <p:spPr>
          <a:xfrm>
            <a:off x="0" y="3049589"/>
            <a:ext cx="12192000" cy="3808412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5"/>
          <p:cNvSpPr/>
          <p:nvPr>
            <p:ph idx="2" type="pic"/>
          </p:nvPr>
        </p:nvSpPr>
        <p:spPr>
          <a:xfrm>
            <a:off x="0" y="-11393"/>
            <a:ext cx="12192000" cy="3060981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35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0">
  <p:cSld name="Layout20">
    <p:bg>
      <p:bgPr>
        <a:solidFill>
          <a:srgbClr val="4B473E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6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cxnSp>
        <p:nvCxnSpPr>
          <p:cNvPr id="135" name="Google Shape;135;p36"/>
          <p:cNvCxnSpPr/>
          <p:nvPr/>
        </p:nvCxnSpPr>
        <p:spPr>
          <a:xfrm>
            <a:off x="-12700" y="101600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1">
  <p:cSld name="Layout21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7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2">
  <p:cSld name="Layout22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8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41" name="Google Shape;141;p38"/>
          <p:cNvSpPr/>
          <p:nvPr/>
        </p:nvSpPr>
        <p:spPr>
          <a:xfrm rot="5400000">
            <a:off x="6013275" y="327219"/>
            <a:ext cx="214683" cy="1164747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3">
  <p:cSld name="Layout23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9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45" name="Google Shape;145;p39"/>
          <p:cNvSpPr/>
          <p:nvPr/>
        </p:nvSpPr>
        <p:spPr>
          <a:xfrm rot="5400000">
            <a:off x="6070760" y="476921"/>
            <a:ext cx="45719" cy="1170146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4">
  <p:cSld name="Layout24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0"/>
          <p:cNvSpPr/>
          <p:nvPr/>
        </p:nvSpPr>
        <p:spPr>
          <a:xfrm>
            <a:off x="0" y="-2845"/>
            <a:ext cx="7528884" cy="6130513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47435"/>
            <a:ext cx="6356825" cy="549738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0"/>
          <p:cNvSpPr txBox="1"/>
          <p:nvPr>
            <p:ph type="title"/>
          </p:nvPr>
        </p:nvSpPr>
        <p:spPr>
          <a:xfrm>
            <a:off x="6705600" y="2239645"/>
            <a:ext cx="498348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0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51" name="Google Shape;151;p40"/>
          <p:cNvSpPr/>
          <p:nvPr>
            <p:ph idx="2" type="pic"/>
          </p:nvPr>
        </p:nvSpPr>
        <p:spPr>
          <a:xfrm>
            <a:off x="270294" y="1112838"/>
            <a:ext cx="5810466" cy="32636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5">
  <p:cSld name="Layout25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1"/>
          <p:cNvSpPr/>
          <p:nvPr/>
        </p:nvSpPr>
        <p:spPr>
          <a:xfrm>
            <a:off x="0" y="-2845"/>
            <a:ext cx="7528884" cy="6486772"/>
          </a:xfrm>
          <a:custGeom>
            <a:rect b="b" l="l" r="r" t="t"/>
            <a:pathLst>
              <a:path extrusionOk="0" h="6130513" w="3323801">
                <a:moveTo>
                  <a:pt x="324" y="6396"/>
                </a:moveTo>
                <a:lnTo>
                  <a:pt x="3323801" y="0"/>
                </a:lnTo>
                <a:lnTo>
                  <a:pt x="952390" y="6130513"/>
                </a:lnTo>
                <a:lnTo>
                  <a:pt x="323" y="6130513"/>
                </a:lnTo>
                <a:cubicBezTo>
                  <a:pt x="-793" y="4091373"/>
                  <a:pt x="1440" y="2045536"/>
                  <a:pt x="324" y="639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1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156" name="Google Shape;156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8409" y="2103120"/>
            <a:ext cx="1944123" cy="39560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1"/>
          <p:cNvSpPr/>
          <p:nvPr>
            <p:ph idx="2" type="pic"/>
          </p:nvPr>
        </p:nvSpPr>
        <p:spPr>
          <a:xfrm>
            <a:off x="824948" y="2225675"/>
            <a:ext cx="1709530" cy="3702050"/>
          </a:xfrm>
          <a:prstGeom prst="roundRect">
            <a:avLst>
              <a:gd fmla="val 7790" name="adj"/>
            </a:avLst>
          </a:prstGeom>
          <a:noFill/>
          <a:ln>
            <a:noFill/>
          </a:ln>
        </p:spPr>
      </p:sp>
      <p:pic>
        <p:nvPicPr>
          <p:cNvPr id="158" name="Google Shape;15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7545" y="1816925"/>
            <a:ext cx="3481374" cy="45674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1"/>
          <p:cNvSpPr/>
          <p:nvPr>
            <p:ph idx="3" type="pic"/>
          </p:nvPr>
        </p:nvSpPr>
        <p:spPr>
          <a:xfrm>
            <a:off x="2869284" y="1977842"/>
            <a:ext cx="3185349" cy="4266203"/>
          </a:xfrm>
          <a:prstGeom prst="roundRect">
            <a:avLst>
              <a:gd fmla="val 186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3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26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5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32941"/>
          </a:srgb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628226" y="6484103"/>
            <a:ext cx="3185744" cy="212676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580451"/>
            <a:ext cx="12192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" name="Google Shape;12;p13"/>
          <p:cNvSpPr/>
          <p:nvPr/>
        </p:nvSpPr>
        <p:spPr>
          <a:xfrm>
            <a:off x="10637134" y="6470465"/>
            <a:ext cx="756421" cy="260177"/>
          </a:xfrm>
          <a:prstGeom prst="roundRect">
            <a:avLst>
              <a:gd fmla="val 4389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233E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16" name="Google Shape;1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8200" y="6513174"/>
            <a:ext cx="2824372" cy="15826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3"/>
          <p:cNvSpPr/>
          <p:nvPr/>
        </p:nvSpPr>
        <p:spPr>
          <a:xfrm>
            <a:off x="10328961" y="1"/>
            <a:ext cx="1860468" cy="780222"/>
          </a:xfrm>
          <a:custGeom>
            <a:rect b="b" l="l" r="r" t="t"/>
            <a:pathLst>
              <a:path extrusionOk="0" h="997527" w="1860468">
                <a:moveTo>
                  <a:pt x="0" y="0"/>
                </a:moveTo>
                <a:lnTo>
                  <a:pt x="1860468" y="0"/>
                </a:lnTo>
                <a:lnTo>
                  <a:pt x="1860468" y="997527"/>
                </a:lnTo>
                <a:lnTo>
                  <a:pt x="521805" y="997527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&#10;&#10;Description automatically generated" id="18" name="Google Shape;1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2685" y="161365"/>
            <a:ext cx="1344353" cy="45414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2.jp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 txBox="1"/>
          <p:nvPr>
            <p:ph type="title"/>
          </p:nvPr>
        </p:nvSpPr>
        <p:spPr>
          <a:xfrm>
            <a:off x="621300" y="1865550"/>
            <a:ext cx="5785800" cy="28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Introduction to Software Project Management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/>
          <p:nvPr>
            <p:ph type="title"/>
          </p:nvPr>
        </p:nvSpPr>
        <p:spPr>
          <a:xfrm>
            <a:off x="712470" y="314325"/>
            <a:ext cx="105156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Outline</a:t>
            </a:r>
            <a:endParaRPr/>
          </a:p>
        </p:txBody>
      </p:sp>
      <p:sp>
        <p:nvSpPr>
          <p:cNvPr id="170" name="Google Shape;170;p2"/>
          <p:cNvSpPr txBox="1"/>
          <p:nvPr>
            <p:ph idx="12" type="sldNum"/>
          </p:nvPr>
        </p:nvSpPr>
        <p:spPr>
          <a:xfrm>
            <a:off x="10637134" y="6432584"/>
            <a:ext cx="756421" cy="321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71" name="Google Shape;171;p2"/>
          <p:cNvSpPr txBox="1"/>
          <p:nvPr/>
        </p:nvSpPr>
        <p:spPr>
          <a:xfrm>
            <a:off x="983375" y="2066550"/>
            <a:ext cx="9973800" cy="18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Lato"/>
              <a:buChar char="●"/>
            </a:pPr>
            <a:r>
              <a:rPr b="0" i="0" lang="en-MY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The Fundamental Concepts of SPM</a:t>
            </a:r>
            <a:endParaRPr b="0" i="0" sz="2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Lato"/>
              <a:buChar char="●"/>
            </a:pPr>
            <a:r>
              <a:rPr b="0" i="0" lang="en-MY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The Challenges in SPM</a:t>
            </a:r>
            <a:endParaRPr b="0" i="0" sz="2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Lato"/>
              <a:buChar char="●"/>
            </a:pPr>
            <a:r>
              <a:rPr b="0" i="0" lang="en-MY" sz="28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The Concepts of Management Control in SPM</a:t>
            </a:r>
            <a:endParaRPr b="0" i="0" sz="28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8a848c736_1_5"/>
          <p:cNvSpPr txBox="1"/>
          <p:nvPr>
            <p:ph type="title"/>
          </p:nvPr>
        </p:nvSpPr>
        <p:spPr>
          <a:xfrm>
            <a:off x="7266235" y="2802707"/>
            <a:ext cx="4677300" cy="18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MY"/>
              <a:t>The Fundamental Concepts of SPM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88a848c736_1_5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179" name="Google Shape;179;g388a848c736_1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225" y="787900"/>
            <a:ext cx="4838700" cy="48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637ed14d2_0_0"/>
          <p:cNvSpPr txBox="1"/>
          <p:nvPr>
            <p:ph type="title"/>
          </p:nvPr>
        </p:nvSpPr>
        <p:spPr>
          <a:xfrm>
            <a:off x="712145" y="350775"/>
            <a:ext cx="105156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What is software project management ?</a:t>
            </a:r>
            <a:endParaRPr/>
          </a:p>
        </p:txBody>
      </p:sp>
      <p:sp>
        <p:nvSpPr>
          <p:cNvPr id="185" name="Google Shape;185;g37637ed14d2_0_0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86" name="Google Shape;186;g37637ed14d2_0_0"/>
          <p:cNvSpPr txBox="1"/>
          <p:nvPr/>
        </p:nvSpPr>
        <p:spPr>
          <a:xfrm>
            <a:off x="1178425" y="1878400"/>
            <a:ext cx="10215000" cy="3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Software Project Management is both an art and a discipline. It involves:</a:t>
            </a: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Planning and supervision of software projects, applying structured methods and techniques.</a:t>
            </a: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Managing resources, including allocation and timing, to ensure that the final software fulfills the defined requirements.</a:t>
            </a: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Providing clarity on project parameters—such as duration, timeline, and cost—for both clients and developers.</a:t>
            </a: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8a848c736_1_53"/>
          <p:cNvSpPr txBox="1"/>
          <p:nvPr>
            <p:ph type="title"/>
          </p:nvPr>
        </p:nvSpPr>
        <p:spPr>
          <a:xfrm>
            <a:off x="748620" y="478450"/>
            <a:ext cx="105156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Why Is Software Project Management Important?</a:t>
            </a:r>
            <a:endParaRPr/>
          </a:p>
        </p:txBody>
      </p:sp>
      <p:sp>
        <p:nvSpPr>
          <p:cNvPr id="192" name="Google Shape;192;g388a848c736_1_53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93" name="Google Shape;193;g388a848c736_1_53"/>
          <p:cNvSpPr txBox="1"/>
          <p:nvPr/>
        </p:nvSpPr>
        <p:spPr>
          <a:xfrm>
            <a:off x="1357863" y="1798363"/>
            <a:ext cx="3112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MY" sz="2400" u="sng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Strategic alignment</a:t>
            </a:r>
            <a:r>
              <a:rPr b="0" i="0" lang="en-MY" sz="24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0" i="0" sz="24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4" name="Google Shape;194;g388a848c736_1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7863" y="2547187"/>
            <a:ext cx="921900" cy="92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88a848c736_1_53"/>
          <p:cNvSpPr txBox="1"/>
          <p:nvPr/>
        </p:nvSpPr>
        <p:spPr>
          <a:xfrm>
            <a:off x="2382800" y="2389000"/>
            <a:ext cx="33645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Ensures that software efforts are in harmony with organizational goals.</a:t>
            </a: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g388a848c736_1_53"/>
          <p:cNvSpPr txBox="1"/>
          <p:nvPr/>
        </p:nvSpPr>
        <p:spPr>
          <a:xfrm>
            <a:off x="1357875" y="41520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MY" sz="2400" u="sng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Strong leadership </a:t>
            </a:r>
            <a:endParaRPr b="1" i="0" sz="2400" u="sng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g388a848c736_1_53"/>
          <p:cNvSpPr txBox="1"/>
          <p:nvPr/>
        </p:nvSpPr>
        <p:spPr>
          <a:xfrm>
            <a:off x="2473475" y="4872263"/>
            <a:ext cx="3000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Guides teams toward focused results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g388a848c736_1_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1773" y="4781538"/>
            <a:ext cx="1094075" cy="10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88a848c736_1_53"/>
          <p:cNvSpPr txBox="1"/>
          <p:nvPr/>
        </p:nvSpPr>
        <p:spPr>
          <a:xfrm>
            <a:off x="6599225" y="1831150"/>
            <a:ext cx="434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MY" sz="2400" u="sng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Clear priorities and objectives</a:t>
            </a:r>
            <a:endParaRPr b="1" i="0" sz="2400" u="sng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g388a848c736_1_53"/>
          <p:cNvSpPr txBox="1"/>
          <p:nvPr/>
        </p:nvSpPr>
        <p:spPr>
          <a:xfrm>
            <a:off x="7702925" y="2409163"/>
            <a:ext cx="3000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Sets direction and</a:t>
            </a:r>
            <a:r>
              <a:rPr b="0" i="0" lang="en-MY" sz="19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measurable endpoints.</a:t>
            </a: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g388a848c736_1_53"/>
          <p:cNvSpPr txBox="1"/>
          <p:nvPr/>
        </p:nvSpPr>
        <p:spPr>
          <a:xfrm>
            <a:off x="6672725" y="4148250"/>
            <a:ext cx="378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MY" sz="2400" u="sng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Realistic project planning</a:t>
            </a:r>
            <a:endParaRPr b="1" i="0" sz="2400" u="sng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g388a848c736_1_53"/>
          <p:cNvSpPr txBox="1"/>
          <p:nvPr/>
        </p:nvSpPr>
        <p:spPr>
          <a:xfrm>
            <a:off x="7785325" y="4699475"/>
            <a:ext cx="31128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Promotes feasible scheduling and resource allocation.</a:t>
            </a: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3" name="Google Shape;203;g388a848c736_1_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9225" y="2404522"/>
            <a:ext cx="921900" cy="9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88a848c736_1_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1025" y="4867625"/>
            <a:ext cx="921900" cy="92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8a848c736_1_59"/>
          <p:cNvSpPr txBox="1"/>
          <p:nvPr>
            <p:ph type="title"/>
          </p:nvPr>
        </p:nvSpPr>
        <p:spPr>
          <a:xfrm>
            <a:off x="712145" y="350775"/>
            <a:ext cx="105156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Why Is Software Project Management Important?</a:t>
            </a:r>
            <a:endParaRPr/>
          </a:p>
        </p:txBody>
      </p:sp>
      <p:sp>
        <p:nvSpPr>
          <p:cNvPr id="210" name="Google Shape;210;g388a848c736_1_59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211" name="Google Shape;211;g388a848c736_1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6900" y="2488862"/>
            <a:ext cx="921900" cy="9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88a848c736_1_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1050" y="4854025"/>
            <a:ext cx="813600" cy="81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88a848c736_1_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97400" y="2488850"/>
            <a:ext cx="921900" cy="92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88a848c736_1_59"/>
          <p:cNvSpPr txBox="1"/>
          <p:nvPr/>
        </p:nvSpPr>
        <p:spPr>
          <a:xfrm>
            <a:off x="1616888" y="1821213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MY" sz="2400" u="sng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Quality control </a:t>
            </a:r>
            <a:endParaRPr b="1" i="0" sz="2400" u="sng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5" name="Google Shape;215;g388a848c736_1_59"/>
          <p:cNvSpPr txBox="1"/>
          <p:nvPr/>
        </p:nvSpPr>
        <p:spPr>
          <a:xfrm>
            <a:off x="1616900" y="42155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MY" sz="2400" u="sng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Risk management</a:t>
            </a:r>
            <a:endParaRPr b="1" i="0" sz="2400" u="sng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" name="Google Shape;216;g388a848c736_1_59"/>
          <p:cNvSpPr txBox="1"/>
          <p:nvPr/>
        </p:nvSpPr>
        <p:spPr>
          <a:xfrm>
            <a:off x="6615900" y="1821225"/>
            <a:ext cx="366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MY" sz="2400" u="sng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Learning from outcomes</a:t>
            </a:r>
            <a:endParaRPr b="1" i="0" sz="2400" u="sng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7" name="Google Shape;217;g388a848c736_1_59"/>
          <p:cNvSpPr txBox="1"/>
          <p:nvPr/>
        </p:nvSpPr>
        <p:spPr>
          <a:xfrm>
            <a:off x="2538800" y="2493500"/>
            <a:ext cx="36645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Upholds standards throughout development.</a:t>
            </a: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8" name="Google Shape;218;g388a848c736_1_59"/>
          <p:cNvSpPr txBox="1"/>
          <p:nvPr/>
        </p:nvSpPr>
        <p:spPr>
          <a:xfrm>
            <a:off x="2639600" y="4804525"/>
            <a:ext cx="34629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Anticipates and mitigates uncertainties.</a:t>
            </a: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9" name="Google Shape;219;g388a848c736_1_59"/>
          <p:cNvSpPr txBox="1"/>
          <p:nvPr/>
        </p:nvSpPr>
        <p:spPr>
          <a:xfrm>
            <a:off x="7719300" y="2375325"/>
            <a:ext cx="32622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Uses successes and failures to continuously improve processes.</a:t>
            </a: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8a848c736_1_99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Advantages of Software Project Management</a:t>
            </a:r>
            <a:endParaRPr/>
          </a:p>
        </p:txBody>
      </p:sp>
      <p:sp>
        <p:nvSpPr>
          <p:cNvPr id="226" name="Google Shape;226;g388a848c736_1_99"/>
          <p:cNvSpPr txBox="1"/>
          <p:nvPr>
            <p:ph idx="1" type="body"/>
          </p:nvPr>
        </p:nvSpPr>
        <p:spPr>
          <a:xfrm>
            <a:off x="1411775" y="1766650"/>
            <a:ext cx="9816600" cy="28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Facilitates the planning of software development, creating a clear roadmap from conception to delivery.</a:t>
            </a:r>
            <a:br>
              <a:rPr lang="en-MY" sz="2200"/>
            </a:br>
            <a:endParaRPr sz="2200"/>
          </a:p>
          <a:p>
            <a:pPr indent="-3683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Simplifies the implementation phase, ensuring tasks are executed efficiently and in the right order.</a:t>
            </a:r>
            <a:br>
              <a:rPr lang="en-MY" sz="2200"/>
            </a:br>
            <a:endParaRPr sz="2200"/>
          </a:p>
          <a:p>
            <a:pPr indent="-3683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Enables effective monitoring and control, helping teams stay aligned and adapt as needed.</a:t>
            </a:r>
            <a:br>
              <a:rPr lang="en-MY" sz="2200"/>
            </a:br>
            <a:endParaRPr sz="2200"/>
          </a:p>
          <a:p>
            <a:pPr indent="-3683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Ultimately helps save time and costs, reducing waste and enhancing resource utilization.</a:t>
            </a:r>
            <a:endParaRPr sz="22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200"/>
          </a:p>
        </p:txBody>
      </p:sp>
      <p:sp>
        <p:nvSpPr>
          <p:cNvPr id="227" name="Google Shape;227;g388a848c736_1_99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8a848c736_1_107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Disadvantages of Software Project Management</a:t>
            </a:r>
            <a:endParaRPr/>
          </a:p>
        </p:txBody>
      </p:sp>
      <p:sp>
        <p:nvSpPr>
          <p:cNvPr id="234" name="Google Shape;234;g388a848c736_1_107"/>
          <p:cNvSpPr txBox="1"/>
          <p:nvPr>
            <p:ph idx="1" type="body"/>
          </p:nvPr>
        </p:nvSpPr>
        <p:spPr>
          <a:xfrm>
            <a:off x="839800" y="1828805"/>
            <a:ext cx="10261500" cy="4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Can introduce complexity, making tasks harder to understand—especially for those unfamiliar with project management tools or formal processes.</a:t>
            </a:r>
            <a:br>
              <a:rPr lang="en-MY" sz="2200"/>
            </a:br>
            <a:endParaRPr sz="2200"/>
          </a:p>
          <a:p>
            <a:pPr indent="-3683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Involves potential costs, such as investing in high-quality project management software or training team members.</a:t>
            </a:r>
            <a:br>
              <a:rPr lang="en-MY" sz="2200"/>
            </a:br>
            <a:endParaRPr sz="2200"/>
          </a:p>
          <a:p>
            <a:pPr indent="-3683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Some team members may face learning challenges, struggling to adapt to new tools or methodologies.</a:t>
            </a:r>
            <a:endParaRPr sz="2200"/>
          </a:p>
        </p:txBody>
      </p:sp>
      <p:sp>
        <p:nvSpPr>
          <p:cNvPr id="235" name="Google Shape;235;g388a848c736_1_107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d8728e147_0_0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Software Project Planning</a:t>
            </a:r>
            <a:endParaRPr/>
          </a:p>
        </p:txBody>
      </p:sp>
      <p:sp>
        <p:nvSpPr>
          <p:cNvPr id="242" name="Google Shape;242;g37d8728e147_0_0"/>
          <p:cNvSpPr txBox="1"/>
          <p:nvPr>
            <p:ph idx="1" type="body"/>
          </p:nvPr>
        </p:nvSpPr>
        <p:spPr>
          <a:xfrm>
            <a:off x="441525" y="1822700"/>
            <a:ext cx="10388700" cy="4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MY" sz="2200"/>
              <a:t>Define the Scope of Work</a:t>
            </a:r>
            <a:br>
              <a:rPr b="1" lang="en-MY" sz="2200"/>
            </a:br>
            <a:r>
              <a:rPr lang="en-MY" sz="2200"/>
              <a:t>Clearly outline what tasks and deliverables the software project includes. This helps prevent confusion and scope creep later.</a:t>
            </a:r>
            <a:br>
              <a:rPr lang="en-MY" sz="2200"/>
            </a:br>
            <a:endParaRPr sz="2200"/>
          </a:p>
          <a:p>
            <a:pPr indent="-3683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MY" sz="2200"/>
              <a:t>Conduct Risk Analysis</a:t>
            </a:r>
            <a:br>
              <a:rPr b="1" lang="en-MY" sz="2200"/>
            </a:br>
            <a:r>
              <a:rPr lang="en-MY" sz="2200"/>
              <a:t>Identify potential risks (technical, resource-related, timeline issues) that could impact the project, and plan mitigation strategies.</a:t>
            </a:r>
            <a:br>
              <a:rPr lang="en-MY" sz="2200"/>
            </a:br>
            <a:endParaRPr sz="2200"/>
          </a:p>
          <a:p>
            <a:pPr indent="-3683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MY" sz="2200"/>
              <a:t>Determine Required Resources</a:t>
            </a:r>
            <a:br>
              <a:rPr b="1" lang="en-MY" sz="2200"/>
            </a:br>
            <a:r>
              <a:rPr lang="en-MY" sz="2200"/>
              <a:t>List all mandatory resources, including manpower, tools, equipment, and budget needed for successful completion.</a:t>
            </a:r>
            <a:endParaRPr sz="2200"/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200"/>
          </a:p>
        </p:txBody>
      </p:sp>
      <p:sp>
        <p:nvSpPr>
          <p:cNvPr id="243" name="Google Shape;243;g37d8728e147_0_0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7d8728e147_0_9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Software Project Planning</a:t>
            </a:r>
            <a:endParaRPr/>
          </a:p>
        </p:txBody>
      </p:sp>
      <p:sp>
        <p:nvSpPr>
          <p:cNvPr id="250" name="Google Shape;250;g37d8728e147_0_9"/>
          <p:cNvSpPr txBox="1"/>
          <p:nvPr>
            <p:ph idx="1" type="body"/>
          </p:nvPr>
        </p:nvSpPr>
        <p:spPr>
          <a:xfrm>
            <a:off x="405125" y="1795200"/>
            <a:ext cx="6360300" cy="3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MY" sz="2200"/>
              <a:t>Set Project Goals and Deliverables</a:t>
            </a:r>
            <a:br>
              <a:rPr b="1" lang="en-MY" sz="2200"/>
            </a:br>
            <a:r>
              <a:rPr lang="en-MY" sz="2200"/>
              <a:t>Define what the project aims to accomplish, along with measurable success criteria and final deliverables.</a:t>
            </a:r>
            <a:br>
              <a:rPr lang="en-MY" sz="2200"/>
            </a:br>
            <a:endParaRPr sz="2200"/>
          </a:p>
          <a:p>
            <a:pPr indent="-3683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MY" sz="2200"/>
              <a:t>Maintain Proper Documentation</a:t>
            </a:r>
            <a:br>
              <a:rPr b="1" lang="en-MY" sz="2200"/>
            </a:br>
            <a:r>
              <a:rPr lang="en-MY" sz="2200"/>
              <a:t>Keep a record of the entire planning process, including decisions, assumptions, estimations, and timelines, to ensure traceability and accountability.</a:t>
            </a:r>
            <a:endParaRPr sz="2200"/>
          </a:p>
        </p:txBody>
      </p:sp>
      <p:sp>
        <p:nvSpPr>
          <p:cNvPr id="251" name="Google Shape;251;g37d8728e147_0_9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252" name="Google Shape;252;g37d8728e147_0_9"/>
          <p:cNvSpPr/>
          <p:nvPr/>
        </p:nvSpPr>
        <p:spPr>
          <a:xfrm>
            <a:off x="8834300" y="1795200"/>
            <a:ext cx="1682700" cy="52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MY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Size Estimation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g37d8728e147_0_9"/>
          <p:cNvSpPr/>
          <p:nvPr/>
        </p:nvSpPr>
        <p:spPr>
          <a:xfrm>
            <a:off x="7386825" y="2904900"/>
            <a:ext cx="1682700" cy="52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MY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Cost Estimation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g37d8728e147_0_9"/>
          <p:cNvSpPr/>
          <p:nvPr/>
        </p:nvSpPr>
        <p:spPr>
          <a:xfrm>
            <a:off x="10173925" y="2904900"/>
            <a:ext cx="1682700" cy="52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MY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Development Time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" name="Google Shape;255;g37d8728e147_0_9"/>
          <p:cNvSpPr/>
          <p:nvPr/>
        </p:nvSpPr>
        <p:spPr>
          <a:xfrm>
            <a:off x="8834300" y="4128100"/>
            <a:ext cx="1682700" cy="52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MY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Resources Requirement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6" name="Google Shape;256;g37d8728e147_0_9"/>
          <p:cNvSpPr/>
          <p:nvPr/>
        </p:nvSpPr>
        <p:spPr>
          <a:xfrm>
            <a:off x="10173925" y="5479400"/>
            <a:ext cx="1682700" cy="52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MY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Project Scheduling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7" name="Google Shape;257;g37d8728e147_0_9"/>
          <p:cNvCxnSpPr>
            <a:stCxn id="252" idx="2"/>
            <a:endCxn id="253" idx="0"/>
          </p:cNvCxnSpPr>
          <p:nvPr/>
        </p:nvCxnSpPr>
        <p:spPr>
          <a:xfrm flipH="1">
            <a:off x="8228150" y="2319300"/>
            <a:ext cx="1447500" cy="5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8" name="Google Shape;258;g37d8728e147_0_9"/>
          <p:cNvCxnSpPr>
            <a:stCxn id="252" idx="2"/>
            <a:endCxn id="254" idx="0"/>
          </p:cNvCxnSpPr>
          <p:nvPr/>
        </p:nvCxnSpPr>
        <p:spPr>
          <a:xfrm>
            <a:off x="9675650" y="2319300"/>
            <a:ext cx="1339500" cy="58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" name="Google Shape;259;g37d8728e147_0_9"/>
          <p:cNvCxnSpPr>
            <a:stCxn id="253" idx="2"/>
            <a:endCxn id="255" idx="0"/>
          </p:cNvCxnSpPr>
          <p:nvPr/>
        </p:nvCxnSpPr>
        <p:spPr>
          <a:xfrm>
            <a:off x="8228175" y="3429000"/>
            <a:ext cx="1447500" cy="69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0" name="Google Shape;260;g37d8728e147_0_9"/>
          <p:cNvCxnSpPr>
            <a:stCxn id="254" idx="2"/>
            <a:endCxn id="255" idx="0"/>
          </p:cNvCxnSpPr>
          <p:nvPr/>
        </p:nvCxnSpPr>
        <p:spPr>
          <a:xfrm flipH="1">
            <a:off x="9675775" y="3429000"/>
            <a:ext cx="1339500" cy="69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1" name="Google Shape;261;g37d8728e147_0_9"/>
          <p:cNvCxnSpPr>
            <a:stCxn id="255" idx="2"/>
            <a:endCxn id="256" idx="0"/>
          </p:cNvCxnSpPr>
          <p:nvPr/>
        </p:nvCxnSpPr>
        <p:spPr>
          <a:xfrm>
            <a:off x="9675650" y="4652200"/>
            <a:ext cx="1339500" cy="82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2" name="Google Shape;262;g37d8728e147_0_9"/>
          <p:cNvCxnSpPr>
            <a:stCxn id="254" idx="2"/>
            <a:endCxn id="256" idx="0"/>
          </p:cNvCxnSpPr>
          <p:nvPr/>
        </p:nvCxnSpPr>
        <p:spPr>
          <a:xfrm>
            <a:off x="11015275" y="3429000"/>
            <a:ext cx="0" cy="205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d8728e147_0_32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Needs for Software Project Management</a:t>
            </a:r>
            <a:endParaRPr/>
          </a:p>
        </p:txBody>
      </p:sp>
      <p:sp>
        <p:nvSpPr>
          <p:cNvPr id="269" name="Google Shape;269;g37d8728e147_0_32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270" name="Google Shape;270;g37d8728e147_0_32"/>
          <p:cNvSpPr/>
          <p:nvPr/>
        </p:nvSpPr>
        <p:spPr>
          <a:xfrm>
            <a:off x="4108800" y="2541675"/>
            <a:ext cx="3974400" cy="33948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675" lIns="73675" spcFirstLastPara="1" rIns="73675" wrap="square" tIns="73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8"/>
              <a:buFont typeface="Arial"/>
              <a:buNone/>
            </a:pPr>
            <a:r>
              <a:t/>
            </a:r>
            <a:endParaRPr b="0" i="0" sz="1128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" name="Google Shape;271;g37d8728e147_0_32"/>
          <p:cNvSpPr txBox="1"/>
          <p:nvPr/>
        </p:nvSpPr>
        <p:spPr>
          <a:xfrm>
            <a:off x="5514932" y="4264546"/>
            <a:ext cx="11622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675" lIns="73675" spcFirstLastPara="1" rIns="73675" wrap="square" tIns="73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None/>
            </a:pPr>
            <a:r>
              <a:rPr b="0" i="0" lang="en-MY" sz="2256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SCOPE</a:t>
            </a:r>
            <a:endParaRPr b="0" i="0" sz="2256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2" name="Google Shape;272;g37d8728e147_0_32"/>
          <p:cNvCxnSpPr>
            <a:stCxn id="271" idx="0"/>
          </p:cNvCxnSpPr>
          <p:nvPr/>
        </p:nvCxnSpPr>
        <p:spPr>
          <a:xfrm rot="10800000">
            <a:off x="6089732" y="3292246"/>
            <a:ext cx="6300" cy="97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" name="Google Shape;273;g37d8728e147_0_32"/>
          <p:cNvCxnSpPr/>
          <p:nvPr/>
        </p:nvCxnSpPr>
        <p:spPr>
          <a:xfrm flipH="1">
            <a:off x="4844763" y="4810402"/>
            <a:ext cx="903900" cy="78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4" name="Google Shape;274;g37d8728e147_0_32"/>
          <p:cNvCxnSpPr/>
          <p:nvPr/>
        </p:nvCxnSpPr>
        <p:spPr>
          <a:xfrm>
            <a:off x="6482151" y="4810402"/>
            <a:ext cx="870000" cy="7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5" name="Google Shape;275;g37d8728e147_0_32"/>
          <p:cNvSpPr txBox="1"/>
          <p:nvPr/>
        </p:nvSpPr>
        <p:spPr>
          <a:xfrm rot="-3645867">
            <a:off x="4306782" y="3876208"/>
            <a:ext cx="904175" cy="496145"/>
          </a:xfrm>
          <a:prstGeom prst="rect">
            <a:avLst/>
          </a:prstGeom>
          <a:noFill/>
          <a:ln>
            <a:noFill/>
          </a:ln>
        </p:spPr>
        <p:txBody>
          <a:bodyPr anchorCtr="0" anchor="t" bIns="73675" lIns="73675" spcFirstLastPara="1" rIns="73675" wrap="square" tIns="73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None/>
            </a:pPr>
            <a:r>
              <a:rPr b="0" i="0" lang="en-MY" sz="2256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TIME</a:t>
            </a:r>
            <a:endParaRPr b="0" i="0" sz="2256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g37d8728e147_0_32"/>
          <p:cNvSpPr txBox="1"/>
          <p:nvPr/>
        </p:nvSpPr>
        <p:spPr>
          <a:xfrm rot="3396949">
            <a:off x="6999924" y="3876197"/>
            <a:ext cx="903952" cy="496159"/>
          </a:xfrm>
          <a:prstGeom prst="rect">
            <a:avLst/>
          </a:prstGeom>
          <a:noFill/>
          <a:ln>
            <a:noFill/>
          </a:ln>
        </p:spPr>
        <p:txBody>
          <a:bodyPr anchorCtr="0" anchor="t" bIns="73675" lIns="73675" spcFirstLastPara="1" rIns="73675" wrap="square" tIns="73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None/>
            </a:pPr>
            <a:r>
              <a:rPr b="0" i="0" lang="en-MY" sz="2256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COST</a:t>
            </a:r>
            <a:endParaRPr b="0" i="0" sz="2256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" name="Google Shape;277;g37d8728e147_0_32"/>
          <p:cNvSpPr txBox="1"/>
          <p:nvPr/>
        </p:nvSpPr>
        <p:spPr>
          <a:xfrm>
            <a:off x="5307432" y="5936364"/>
            <a:ext cx="21738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73675" lIns="73675" spcFirstLastPara="1" rIns="73675" wrap="square" tIns="73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6"/>
              <a:buFont typeface="Arial"/>
              <a:buNone/>
            </a:pPr>
            <a:r>
              <a:rPr b="0" i="0" lang="en-MY" sz="2256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QUA</a:t>
            </a:r>
            <a:r>
              <a:rPr lang="en-MY" sz="2256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L</a:t>
            </a:r>
            <a:r>
              <a:rPr b="0" i="0" lang="en-MY" sz="2256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ITY</a:t>
            </a:r>
            <a:endParaRPr b="0" i="0" sz="2256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g37d8728e147_0_32"/>
          <p:cNvSpPr txBox="1"/>
          <p:nvPr/>
        </p:nvSpPr>
        <p:spPr>
          <a:xfrm>
            <a:off x="932975" y="1679775"/>
            <a:ext cx="10075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Software Project Management (SPM) is essential to balance the core constraints of any software project:</a:t>
            </a: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7d8728e147_0_65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Needs for Software Project Management</a:t>
            </a:r>
            <a:endParaRPr/>
          </a:p>
        </p:txBody>
      </p:sp>
      <p:sp>
        <p:nvSpPr>
          <p:cNvPr id="285" name="Google Shape;285;g37d8728e147_0_65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286" name="Google Shape;286;g37d8728e147_0_65"/>
          <p:cNvSpPr txBox="1"/>
          <p:nvPr>
            <p:ph idx="1" type="body"/>
          </p:nvPr>
        </p:nvSpPr>
        <p:spPr>
          <a:xfrm>
            <a:off x="684300" y="1906775"/>
            <a:ext cx="108234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MY" sz="2200"/>
              <a:t>⏱ Time</a:t>
            </a:r>
            <a:endParaRPr b="1" sz="2200"/>
          </a:p>
          <a:p>
            <a:pPr indent="-3683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MY" sz="2200"/>
              <a:t>Refers to the project schedule and deadlines.</a:t>
            </a:r>
            <a:endParaRPr sz="2200"/>
          </a:p>
          <a:p>
            <a:pPr indent="-3683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MY" sz="2200"/>
              <a:t>Delays can increase costs and reduce stakeholder satisfaction.</a:t>
            </a:r>
            <a:br>
              <a:rPr lang="en-MY" sz="2200"/>
            </a:br>
            <a:endParaRPr sz="2200"/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MY" sz="2200"/>
              <a:t>💲 Cost</a:t>
            </a:r>
            <a:endParaRPr b="1" sz="2200"/>
          </a:p>
          <a:p>
            <a:pPr indent="-3683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MY" sz="2200"/>
              <a:t>Involves budgeting, resource allocation, and financial control.</a:t>
            </a:r>
            <a:endParaRPr sz="2200"/>
          </a:p>
          <a:p>
            <a:pPr indent="-3683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MY" sz="2200"/>
              <a:t>Overspending can derail the project or reduce profit margins.</a:t>
            </a:r>
            <a:endParaRPr sz="22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200"/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MY" sz="2200"/>
              <a:t>✅ Quality</a:t>
            </a:r>
            <a:endParaRPr b="1" sz="2200"/>
          </a:p>
          <a:p>
            <a:pPr indent="-3683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MY" sz="2200"/>
              <a:t>The degree to which the software meets requirements and user expectations.</a:t>
            </a:r>
            <a:endParaRPr sz="2200"/>
          </a:p>
          <a:p>
            <a:pPr indent="-36830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MY" sz="2200"/>
              <a:t>Rushing or underfunding a project may reduce quality.</a:t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dd053fb96_0_0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Software Project Management Life Cycle</a:t>
            </a:r>
            <a:endParaRPr/>
          </a:p>
        </p:txBody>
      </p:sp>
      <p:sp>
        <p:nvSpPr>
          <p:cNvPr id="293" name="Google Shape;293;g37dd053fb96_0_0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294" name="Google Shape;294;g37dd053fb9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8063" y="1695175"/>
            <a:ext cx="8185027" cy="456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dd053fb96_0_41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Software Project Management Life Cycle</a:t>
            </a:r>
            <a:endParaRPr/>
          </a:p>
        </p:txBody>
      </p:sp>
      <p:sp>
        <p:nvSpPr>
          <p:cNvPr id="301" name="Google Shape;301;g37dd053fb96_0_41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02" name="Google Shape;302;g37dd053fb96_0_41"/>
          <p:cNvSpPr txBox="1"/>
          <p:nvPr/>
        </p:nvSpPr>
        <p:spPr>
          <a:xfrm>
            <a:off x="583550" y="1787400"/>
            <a:ext cx="10927500" cy="4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MY" sz="2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🧩 What Is the Software Project Management Life Cycle?</a:t>
            </a:r>
            <a:endParaRPr b="1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Software Project Management Life Cycle</a:t>
            </a: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is a structured framework that guides a software project from </a:t>
            </a:r>
            <a:r>
              <a:rPr b="1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beginning to end</a:t>
            </a: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. It ensures that every phase of the project — from concept to delivery — is </a:t>
            </a:r>
            <a:r>
              <a:rPr b="1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planned, monitored, and controlled</a:t>
            </a: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to meet objectives like time, cost, scope, and quality.</a:t>
            </a: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MY" sz="2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🟦 General Definition:</a:t>
            </a:r>
            <a:endParaRPr b="1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Software Project Management Life Cycle</a:t>
            </a: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refers to the sequence of phases a software project goes through, from initiation to closure, to ensure successful planning, execution, and delivery.</a:t>
            </a: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7dd053fb96_0_53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Software Project Management Life Cycle</a:t>
            </a:r>
            <a:endParaRPr/>
          </a:p>
        </p:txBody>
      </p:sp>
      <p:sp>
        <p:nvSpPr>
          <p:cNvPr id="309" name="Google Shape;309;g37dd053fb96_0_53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10" name="Google Shape;310;g37dd053fb96_0_53"/>
          <p:cNvSpPr txBox="1"/>
          <p:nvPr/>
        </p:nvSpPr>
        <p:spPr>
          <a:xfrm>
            <a:off x="632250" y="1959375"/>
            <a:ext cx="10927500" cy="4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MY" sz="2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🛠️ Why It’s Important:</a:t>
            </a:r>
            <a:endParaRPr b="1" i="0" sz="2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Arial"/>
              <a:buChar char="●"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Provides a </a:t>
            </a:r>
            <a:r>
              <a:rPr b="1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clear roadmap</a:t>
            </a: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for managing complex software projects.</a:t>
            </a:r>
            <a:b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</a:b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Arial"/>
              <a:buChar char="●"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Helps teams stay aligned with </a:t>
            </a:r>
            <a:r>
              <a:rPr b="1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goals, deadlines, and budgets</a:t>
            </a: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b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</a:b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Arial"/>
              <a:buChar char="●"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Ensures </a:t>
            </a:r>
            <a:r>
              <a:rPr b="1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risk identification</a:t>
            </a: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, proper </a:t>
            </a:r>
            <a:r>
              <a:rPr b="1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resource allocation</a:t>
            </a: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, and </a:t>
            </a:r>
            <a:r>
              <a:rPr b="1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quality control</a:t>
            </a: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b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</a:b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Arial"/>
              <a:buChar char="●"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Promotes </a:t>
            </a:r>
            <a:r>
              <a:rPr b="1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accountability</a:t>
            </a: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by defining roles and deliverables at each stage.</a:t>
            </a:r>
            <a:endParaRPr b="1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7dd053fb96_0_33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Software Project Management Life Cycle</a:t>
            </a:r>
            <a:endParaRPr/>
          </a:p>
        </p:txBody>
      </p:sp>
      <p:sp>
        <p:nvSpPr>
          <p:cNvPr id="317" name="Google Shape;317;g37dd053fb96_0_33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18" name="Google Shape;318;g37dd053fb96_0_33"/>
          <p:cNvSpPr txBox="1"/>
          <p:nvPr>
            <p:ph idx="1" type="body"/>
          </p:nvPr>
        </p:nvSpPr>
        <p:spPr>
          <a:xfrm>
            <a:off x="1253150" y="1635526"/>
            <a:ext cx="10823400" cy="48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</a:pPr>
            <a:r>
              <a:rPr b="1" lang="en-MY" sz="2200">
                <a:solidFill>
                  <a:schemeClr val="dk1"/>
                </a:solidFill>
              </a:rPr>
              <a:t>Initiation Phase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600"/>
              <a:buNone/>
            </a:pPr>
            <a:r>
              <a:rPr b="1" lang="en-MY" sz="2100"/>
              <a:t>Objective: </a:t>
            </a:r>
            <a:r>
              <a:rPr lang="en-MY" sz="2100"/>
              <a:t>To define the project at a high level and secure approval to begin.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600"/>
              <a:buNone/>
            </a:pPr>
            <a:r>
              <a:rPr b="1" lang="en-MY" sz="2100"/>
              <a:t>🔹 Key Activities:</a:t>
            </a: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Assess Business Needs</a:t>
            </a:r>
            <a:br>
              <a:rPr b="1" lang="en-MY" sz="2100"/>
            </a:br>
            <a:r>
              <a:rPr lang="en-MY" sz="2100"/>
              <a:t> Understand what problem the software aims to solve.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Feasibility Study</a:t>
            </a:r>
            <a:br>
              <a:rPr b="1" lang="en-MY" sz="2100"/>
            </a:br>
            <a:r>
              <a:rPr lang="en-MY" sz="2100"/>
              <a:t> Analyze whether the project is technically and financially viable.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Identify Stakeholders</a:t>
            </a:r>
            <a:br>
              <a:rPr b="1" lang="en-MY" sz="2100"/>
            </a:br>
            <a:r>
              <a:rPr lang="en-MY" sz="2100"/>
              <a:t> Who will benefit from or be involved in the project?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Develop Project Charter</a:t>
            </a:r>
            <a:br>
              <a:rPr b="1" lang="en-MY" sz="2100"/>
            </a:br>
            <a:r>
              <a:rPr lang="en-MY" sz="2100"/>
              <a:t> A formal document outlining objectives, scope, and high-level plan.</a:t>
            </a:r>
            <a:endParaRPr sz="2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7dd053fb96_0_8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Software Project Management Life Cycle</a:t>
            </a:r>
            <a:endParaRPr/>
          </a:p>
        </p:txBody>
      </p:sp>
      <p:sp>
        <p:nvSpPr>
          <p:cNvPr id="325" name="Google Shape;325;g37dd053fb96_0_8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26" name="Google Shape;326;g37dd053fb96_0_8"/>
          <p:cNvSpPr txBox="1"/>
          <p:nvPr>
            <p:ph idx="1" type="body"/>
          </p:nvPr>
        </p:nvSpPr>
        <p:spPr>
          <a:xfrm>
            <a:off x="1360725" y="1635513"/>
            <a:ext cx="96738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MY" sz="2200">
                <a:solidFill>
                  <a:schemeClr val="dk1"/>
                </a:solidFill>
              </a:rPr>
              <a:t>Planning Phase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MY" sz="2100"/>
              <a:t>Objective: </a:t>
            </a:r>
            <a:r>
              <a:rPr lang="en-MY" sz="2100"/>
              <a:t>To create a roadmap for how the project will be executed, monitored, and closed.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MY" sz="2100"/>
              <a:t>🔹 Key Activities:</a:t>
            </a: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Define Scope in Detail</a:t>
            </a:r>
            <a:br>
              <a:rPr b="1" lang="en-MY" sz="2100"/>
            </a:br>
            <a:r>
              <a:rPr lang="en-MY" sz="2100"/>
              <a:t> What is included and excluded from the project.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Set Project Objectives</a:t>
            </a:r>
            <a:br>
              <a:rPr b="1" lang="en-MY" sz="2100"/>
            </a:br>
            <a:r>
              <a:rPr lang="en-MY" sz="2100"/>
              <a:t> Clear and measurable goals.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Estimate Resources &amp; Budget</a:t>
            </a:r>
            <a:br>
              <a:rPr b="1" lang="en-MY" sz="2100"/>
            </a:br>
            <a:r>
              <a:rPr lang="en-MY" sz="2100"/>
              <a:t> How much time, money, and manpower is needed?</a:t>
            </a:r>
            <a:endParaRPr b="1" sz="2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7dd053fb96_0_60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Software Project Management Life Cycle</a:t>
            </a:r>
            <a:endParaRPr/>
          </a:p>
        </p:txBody>
      </p:sp>
      <p:sp>
        <p:nvSpPr>
          <p:cNvPr id="333" name="Google Shape;333;g37dd053fb96_0_60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34" name="Google Shape;334;g37dd053fb96_0_60"/>
          <p:cNvSpPr txBox="1"/>
          <p:nvPr>
            <p:ph idx="1" type="body"/>
          </p:nvPr>
        </p:nvSpPr>
        <p:spPr>
          <a:xfrm>
            <a:off x="1408300" y="2078775"/>
            <a:ext cx="8250600" cy="30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Schedule Activities</a:t>
            </a:r>
            <a:br>
              <a:rPr b="1" lang="en-MY" sz="2100"/>
            </a:br>
            <a:r>
              <a:rPr lang="en-MY" sz="2100"/>
              <a:t> Use Gantt Charts, Milestones, or Sprints to plan the timeline.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Plan for Risks</a:t>
            </a:r>
            <a:br>
              <a:rPr b="1" lang="en-MY" sz="2100"/>
            </a:br>
            <a:r>
              <a:rPr lang="en-MY" sz="2100"/>
              <a:t> Identify potential obstacles and backup strategies.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Communication Plan</a:t>
            </a:r>
            <a:br>
              <a:rPr b="1" lang="en-MY" sz="2100"/>
            </a:br>
            <a:r>
              <a:rPr lang="en-MY" sz="2100"/>
              <a:t> Decide how progress will be reported and to whom.</a:t>
            </a:r>
            <a:endParaRPr b="1" sz="2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7dd053fb96_0_16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Software Project Management Life Cycle</a:t>
            </a:r>
            <a:endParaRPr/>
          </a:p>
        </p:txBody>
      </p:sp>
      <p:sp>
        <p:nvSpPr>
          <p:cNvPr id="341" name="Google Shape;341;g37dd053fb96_0_16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42" name="Google Shape;342;g37dd053fb96_0_16"/>
          <p:cNvSpPr txBox="1"/>
          <p:nvPr>
            <p:ph idx="1" type="body"/>
          </p:nvPr>
        </p:nvSpPr>
        <p:spPr>
          <a:xfrm>
            <a:off x="1544200" y="1635513"/>
            <a:ext cx="108234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</a:pPr>
            <a:r>
              <a:rPr b="1" lang="en-MY" sz="2200">
                <a:solidFill>
                  <a:schemeClr val="dk1"/>
                </a:solidFill>
              </a:rPr>
              <a:t>Execution Phase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600"/>
              <a:buNone/>
            </a:pPr>
            <a:r>
              <a:rPr b="1" lang="en-MY" sz="2100"/>
              <a:t>Objective: </a:t>
            </a:r>
            <a:r>
              <a:rPr lang="en-MY" sz="2100"/>
              <a:t>To actually carry out the work defined in the plan.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600"/>
              <a:buNone/>
            </a:pPr>
            <a:r>
              <a:rPr b="1" lang="en-MY" sz="2100"/>
              <a:t>🔹 Key Activities: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Develop Software</a:t>
            </a:r>
            <a:br>
              <a:rPr b="1" lang="en-MY" sz="2100"/>
            </a:br>
            <a:r>
              <a:rPr lang="en-MY" sz="2100"/>
              <a:t> Coding, designing, and building features.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Conduct Testing</a:t>
            </a:r>
            <a:br>
              <a:rPr b="1" lang="en-MY" sz="2100"/>
            </a:br>
            <a:r>
              <a:rPr lang="en-MY" sz="2100"/>
              <a:t> Unit tests, integration tests, and QA cycles.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Manage Quality</a:t>
            </a:r>
            <a:br>
              <a:rPr b="1" lang="en-MY" sz="2100"/>
            </a:br>
            <a:r>
              <a:rPr lang="en-MY" sz="2100"/>
              <a:t> Ensure standards and client expectations are met.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Track Progress</a:t>
            </a:r>
            <a:br>
              <a:rPr b="1" lang="en-MY" sz="2100"/>
            </a:br>
            <a:r>
              <a:rPr lang="en-MY" sz="2100"/>
              <a:t> Regular status updates, meetings, and monitoring.</a:t>
            </a:r>
            <a:endParaRPr sz="21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7dd053fb96_0_25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Software Project Management Life Cycle</a:t>
            </a:r>
            <a:endParaRPr/>
          </a:p>
        </p:txBody>
      </p:sp>
      <p:sp>
        <p:nvSpPr>
          <p:cNvPr id="349" name="Google Shape;349;g37dd053fb96_0_25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50" name="Google Shape;350;g37dd053fb96_0_25"/>
          <p:cNvSpPr txBox="1"/>
          <p:nvPr>
            <p:ph idx="1" type="body"/>
          </p:nvPr>
        </p:nvSpPr>
        <p:spPr>
          <a:xfrm>
            <a:off x="1368600" y="1708350"/>
            <a:ext cx="108234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MY" sz="2200">
                <a:solidFill>
                  <a:schemeClr val="dk1"/>
                </a:solidFill>
              </a:rPr>
              <a:t>Closure Phase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MY" sz="2100"/>
              <a:t>Objective: </a:t>
            </a:r>
            <a:r>
              <a:rPr lang="en-MY" sz="2100"/>
              <a:t>To formally close the project and evaluate its success.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MY" sz="2100"/>
              <a:t>🔹 Key Activities:</a:t>
            </a: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Final Testing &amp; Approval</a:t>
            </a:r>
            <a:br>
              <a:rPr b="1" lang="en-MY" sz="2100"/>
            </a:br>
            <a:r>
              <a:rPr lang="en-MY" sz="2100"/>
              <a:t> Client or stakeholder acceptance of deliverables.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Release Product</a:t>
            </a:r>
            <a:br>
              <a:rPr b="1" lang="en-MY" sz="2100"/>
            </a:br>
            <a:r>
              <a:rPr lang="en-MY" sz="2100"/>
              <a:t> Deploy or hand over the software to the client.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Team Release &amp; Handoff</a:t>
            </a:r>
            <a:br>
              <a:rPr b="1" lang="en-MY" sz="2100"/>
            </a:br>
            <a:r>
              <a:rPr lang="en-MY" sz="2100"/>
              <a:t> Return resources, and transfer to maintenance team if needed.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100"/>
              <a:buChar char="●"/>
            </a:pPr>
            <a:r>
              <a:rPr b="1" lang="en-MY" sz="2100"/>
              <a:t>Postmortem Review</a:t>
            </a:r>
            <a:br>
              <a:rPr b="1" lang="en-MY" sz="2100"/>
            </a:br>
            <a:r>
              <a:rPr lang="en-MY" sz="2100"/>
              <a:t> Lessons learned, success metrics, and process evaluation.</a:t>
            </a:r>
            <a:br>
              <a:rPr lang="en-MY" sz="2100"/>
            </a:br>
            <a:endParaRPr sz="21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7dd053fb96_0_154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Project Success Criteria</a:t>
            </a:r>
            <a:endParaRPr/>
          </a:p>
        </p:txBody>
      </p:sp>
      <p:sp>
        <p:nvSpPr>
          <p:cNvPr id="357" name="Google Shape;357;g37dd053fb96_0_154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58" name="Google Shape;358;g37dd053fb96_0_154"/>
          <p:cNvSpPr txBox="1"/>
          <p:nvPr>
            <p:ph idx="1" type="body"/>
          </p:nvPr>
        </p:nvSpPr>
        <p:spPr>
          <a:xfrm>
            <a:off x="1330500" y="1695650"/>
            <a:ext cx="97200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600"/>
              <a:buNone/>
            </a:pPr>
            <a:r>
              <a:rPr b="1" lang="en-MY" sz="2200">
                <a:solidFill>
                  <a:schemeClr val="dk1"/>
                </a:solidFill>
              </a:rPr>
              <a:t>What Defines a Successful Software Project?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To evaluate whether a software project is successful, consider the following key criteria: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Meeting Requirements</a:t>
            </a:r>
            <a:br>
              <a:rPr b="1" lang="en-MY" sz="2200"/>
            </a:br>
            <a:r>
              <a:rPr lang="en-MY" sz="2200"/>
              <a:t> The software delivers all specified features and functionality.</a:t>
            </a:r>
            <a:br>
              <a:rPr lang="en-MY" sz="2200"/>
            </a:b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Stakeholder Satisfaction</a:t>
            </a:r>
            <a:br>
              <a:rPr b="1" lang="en-MY" sz="2200"/>
            </a:br>
            <a:r>
              <a:rPr lang="en-MY" sz="2200"/>
              <a:t> Clients, users, and other stakeholders are happy with the result.</a:t>
            </a:r>
            <a:br>
              <a:rPr lang="en-MY" sz="2200"/>
            </a:b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On-Time Delivery</a:t>
            </a:r>
            <a:br>
              <a:rPr b="1" lang="en-MY" sz="2200"/>
            </a:br>
            <a:r>
              <a:rPr lang="en-MY" sz="2200"/>
              <a:t> The project is completed within the scheduled time frame.</a:t>
            </a:r>
            <a:endParaRPr b="1" sz="2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7dd053fb96_0_146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Project Success Criteria</a:t>
            </a:r>
            <a:endParaRPr/>
          </a:p>
        </p:txBody>
      </p:sp>
      <p:sp>
        <p:nvSpPr>
          <p:cNvPr id="365" name="Google Shape;365;g37dd053fb96_0_146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66" name="Google Shape;366;g37dd053fb96_0_146"/>
          <p:cNvSpPr txBox="1"/>
          <p:nvPr>
            <p:ph idx="1" type="body"/>
          </p:nvPr>
        </p:nvSpPr>
        <p:spPr>
          <a:xfrm>
            <a:off x="1394000" y="1848050"/>
            <a:ext cx="99486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Within Budget</a:t>
            </a:r>
            <a:br>
              <a:rPr b="1" lang="en-MY" sz="2200"/>
            </a:br>
            <a:r>
              <a:rPr lang="en-MY" sz="2200"/>
              <a:t> The project stays within its allocated financial resources.</a:t>
            </a:r>
            <a:br>
              <a:rPr lang="en-MY" sz="2200"/>
            </a:b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Product Quality</a:t>
            </a:r>
            <a:br>
              <a:rPr b="1" lang="en-MY" sz="2200"/>
            </a:br>
            <a:r>
              <a:rPr lang="en-MY" sz="2200"/>
              <a:t> The software performs reliably, is free of critical bugs, and meets quality standards.</a:t>
            </a:r>
            <a:br>
              <a:rPr lang="en-MY" sz="2200"/>
            </a:b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Maintainability &amp; Scalability</a:t>
            </a:r>
            <a:br>
              <a:rPr b="1" lang="en-MY" sz="2200"/>
            </a:br>
            <a:r>
              <a:rPr lang="en-MY" sz="2200"/>
              <a:t> The system is easy to maintain, update, and scale for future needs</a:t>
            </a:r>
            <a:endParaRPr b="1" sz="2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7dd053fb96_0_161"/>
          <p:cNvSpPr txBox="1"/>
          <p:nvPr>
            <p:ph type="title"/>
          </p:nvPr>
        </p:nvSpPr>
        <p:spPr>
          <a:xfrm>
            <a:off x="838212" y="2671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Common Tools in Software Project Management</a:t>
            </a:r>
            <a:endParaRPr/>
          </a:p>
        </p:txBody>
      </p:sp>
      <p:sp>
        <p:nvSpPr>
          <p:cNvPr id="373" name="Google Shape;373;g37dd053fb96_0_161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74" name="Google Shape;374;g37dd053fb96_0_161"/>
          <p:cNvSpPr txBox="1"/>
          <p:nvPr>
            <p:ph idx="1" type="body"/>
          </p:nvPr>
        </p:nvSpPr>
        <p:spPr>
          <a:xfrm>
            <a:off x="428850" y="1749825"/>
            <a:ext cx="11510700" cy="14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600"/>
              <a:buNone/>
            </a:pPr>
            <a:r>
              <a:rPr b="1" lang="en-MY" sz="2200">
                <a:solidFill>
                  <a:schemeClr val="dk1"/>
                </a:solidFill>
              </a:rPr>
              <a:t>Tools That Support Project Planning, Execution &amp; Control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These tools help managers and teams streamline tasks, manage timelines, and track progress: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  <p:graphicFrame>
        <p:nvGraphicFramePr>
          <p:cNvPr id="375" name="Google Shape;375;g37dd053fb96_0_161"/>
          <p:cNvGraphicFramePr/>
          <p:nvPr/>
        </p:nvGraphicFramePr>
        <p:xfrm>
          <a:off x="2361500" y="287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{296BFF74-8509-40AD-87DB-A6B2895685D4}</a:tableStyleId>
              </a:tblPr>
              <a:tblGrid>
                <a:gridCol w="1396925"/>
                <a:gridCol w="62484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MY" sz="1400" u="none" cap="none" strike="noStrike"/>
                        <a:t>Tools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MY" sz="1400" u="none" cap="none" strike="noStrike"/>
                        <a:t>Purpose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cap="none" strike="noStrike"/>
                        <a:t>Gantt Charts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cap="none" strike="noStrike"/>
                        <a:t>Visual project timelines and task dependencies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cap="none" strike="noStrike"/>
                        <a:t>Jira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cap="none" strike="noStrike"/>
                        <a:t>Agile project tracking (issues, sprints, boards)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cap="none" strike="noStrike"/>
                        <a:t>Microsoft Project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cap="none" strike="noStrike"/>
                        <a:t>Detailed planning and resource allocation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cap="none" strike="noStrike"/>
                        <a:t>Trello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cap="none" strike="noStrike"/>
                        <a:t>Visual Kanban boards for task tracking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cap="none" strike="noStrike"/>
                        <a:t>Slack / Teams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MY" sz="1400" u="none" cap="none" strike="noStrike"/>
                        <a:t>Communication &amp; collaboration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6" name="Google Shape;376;g37dd053fb96_0_161"/>
          <p:cNvSpPr txBox="1"/>
          <p:nvPr/>
        </p:nvSpPr>
        <p:spPr>
          <a:xfrm>
            <a:off x="463500" y="5765800"/>
            <a:ext cx="11265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MY" sz="22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🔍 Choose tools based on project size, methodology (Agile vs Waterfall), and team needs.</a:t>
            </a:r>
            <a:endParaRPr b="0" i="0" sz="2200" u="none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7dd053fb96_0_336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Summary of Fundamental Concepts</a:t>
            </a:r>
            <a:endParaRPr/>
          </a:p>
        </p:txBody>
      </p:sp>
      <p:sp>
        <p:nvSpPr>
          <p:cNvPr id="383" name="Google Shape;383;g37dd053fb96_0_336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384" name="Google Shape;384;g37dd053fb96_0_336"/>
          <p:cNvSpPr txBox="1"/>
          <p:nvPr>
            <p:ph idx="1" type="body"/>
          </p:nvPr>
        </p:nvSpPr>
        <p:spPr>
          <a:xfrm>
            <a:off x="1444825" y="1733750"/>
            <a:ext cx="99486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600"/>
              <a:buNone/>
            </a:pPr>
            <a:r>
              <a:rPr b="1" lang="en-MY" sz="2200">
                <a:solidFill>
                  <a:schemeClr val="dk1"/>
                </a:solidFill>
              </a:rPr>
              <a:t>Summary of Fundamental Concepts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Software Project Management (SPM) is the </a:t>
            </a:r>
            <a:r>
              <a:rPr b="1" lang="en-MY" sz="2200"/>
              <a:t>structured discipline</a:t>
            </a:r>
            <a:r>
              <a:rPr lang="en-MY" sz="2200"/>
              <a:t> of planning, leading, and controlling software projects.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It aims to align </a:t>
            </a:r>
            <a:r>
              <a:rPr b="1" lang="en-MY" sz="2200"/>
              <a:t>technical execution</a:t>
            </a:r>
            <a:r>
              <a:rPr lang="en-MY" sz="2200"/>
              <a:t> with </a:t>
            </a:r>
            <a:r>
              <a:rPr b="1" lang="en-MY" sz="2200"/>
              <a:t>business goals</a:t>
            </a:r>
            <a:r>
              <a:rPr lang="en-MY" sz="2200"/>
              <a:t> using defined methods and tools.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Core aspects include:</a:t>
            </a:r>
            <a:endParaRPr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○"/>
            </a:pPr>
            <a:r>
              <a:rPr b="0" lang="en-MY" sz="2200"/>
              <a:t>Project planning (scope, resources, risks)</a:t>
            </a:r>
            <a:endParaRPr b="0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○"/>
            </a:pPr>
            <a:r>
              <a:rPr b="0" lang="en-MY" sz="2200"/>
              <a:t>Process models and life cycles</a:t>
            </a:r>
            <a:endParaRPr b="0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○"/>
            </a:pPr>
            <a:r>
              <a:rPr b="0" lang="en-MY" sz="2200"/>
              <a:t>Time–Cost–Quality–Scope balance</a:t>
            </a:r>
            <a:endParaRPr b="0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○"/>
            </a:pPr>
            <a:r>
              <a:rPr b="0" lang="en-MY" sz="2200"/>
              <a:t>Use of project management tools (Jira, Gantt, EVM)</a:t>
            </a:r>
            <a:endParaRPr b="0" sz="2200"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○"/>
            </a:pPr>
            <a:r>
              <a:rPr b="0" lang="en-MY" sz="2200"/>
              <a:t>Success criteria like stakeholder satisfaction and product quality</a:t>
            </a:r>
            <a:endParaRPr b="0"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88a848c736_1_16"/>
          <p:cNvSpPr txBox="1"/>
          <p:nvPr>
            <p:ph type="title"/>
          </p:nvPr>
        </p:nvSpPr>
        <p:spPr>
          <a:xfrm>
            <a:off x="7284460" y="2912157"/>
            <a:ext cx="4677300" cy="18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The Challenges in SPM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88a848c736_1_16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392" name="Google Shape;392;g388a848c736_1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250" y="1611075"/>
            <a:ext cx="4352475" cy="43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7dd053fb96_0_81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Challenge in Software Project Management </a:t>
            </a:r>
            <a:endParaRPr/>
          </a:p>
        </p:txBody>
      </p:sp>
      <p:sp>
        <p:nvSpPr>
          <p:cNvPr id="399" name="Google Shape;399;g37dd053fb96_0_81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00" name="Google Shape;400;g37dd053fb96_0_81"/>
          <p:cNvSpPr txBox="1"/>
          <p:nvPr>
            <p:ph idx="1" type="body"/>
          </p:nvPr>
        </p:nvSpPr>
        <p:spPr>
          <a:xfrm>
            <a:off x="873300" y="1906775"/>
            <a:ext cx="108234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ato"/>
              <a:buAutoNum type="arabicPeriod"/>
            </a:pPr>
            <a:r>
              <a:rPr b="1" lang="en-MY" sz="2200">
                <a:solidFill>
                  <a:schemeClr val="dk1"/>
                </a:solidFill>
              </a:rPr>
              <a:t>Manager’s Point of View – Challenges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Poor estimation and unrealistic planning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Lack of quality standards or performance metrics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Limited guidance for decision-making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No clear visibility into project progress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Undefined roles and responsibilities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Incorrect or unclear success criteria</a:t>
            </a:r>
            <a:endParaRPr sz="22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dd053fb96_0_67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Challenge in Software Project Management </a:t>
            </a:r>
            <a:endParaRPr/>
          </a:p>
        </p:txBody>
      </p:sp>
      <p:sp>
        <p:nvSpPr>
          <p:cNvPr id="407" name="Google Shape;407;g37dd053fb96_0_67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08" name="Google Shape;408;g37dd053fb96_0_67"/>
          <p:cNvSpPr txBox="1"/>
          <p:nvPr>
            <p:ph idx="1" type="body"/>
          </p:nvPr>
        </p:nvSpPr>
        <p:spPr>
          <a:xfrm>
            <a:off x="797100" y="1727400"/>
            <a:ext cx="108234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MY" sz="2200">
                <a:solidFill>
                  <a:schemeClr val="dk1"/>
                </a:solidFill>
              </a:rPr>
              <a:t>2. Team Member’s Point of View – Challenges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-MY" sz="2200"/>
              <a:t>Vague or incomplete work specifications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-MY" sz="2200"/>
              <a:t>Managers not understanding IT processes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-MY" sz="2200"/>
              <a:t>Lack of domain knowledge (application area)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-MY" sz="2200"/>
              <a:t>Absence of development and quality standards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MY" sz="2200"/>
              <a:t>No clear quality expectations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MY" sz="2200"/>
              <a:t>Limited involvement in early planning</a:t>
            </a:r>
            <a:endParaRPr sz="22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7dd053fb96_0_74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Challenge in Software Project Management </a:t>
            </a:r>
            <a:endParaRPr/>
          </a:p>
        </p:txBody>
      </p:sp>
      <p:sp>
        <p:nvSpPr>
          <p:cNvPr id="415" name="Google Shape;415;g37dd053fb96_0_74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16" name="Google Shape;416;g37dd053fb96_0_74"/>
          <p:cNvSpPr txBox="1"/>
          <p:nvPr>
            <p:ph idx="1" type="body"/>
          </p:nvPr>
        </p:nvSpPr>
        <p:spPr>
          <a:xfrm>
            <a:off x="797100" y="1727400"/>
            <a:ext cx="108234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MY" sz="2200">
                <a:solidFill>
                  <a:schemeClr val="dk1"/>
                </a:solidFill>
              </a:rPr>
              <a:t>3. Technical &amp; Documentation Issues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-MY" sz="2200"/>
              <a:t>Lack of updated or complete documentation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-MY" sz="2200"/>
              <a:t>Technical deliverables delayed by unfinished dependencies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-MY" sz="2200"/>
              <a:t>Poor communication between teams and users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-MY" sz="2200"/>
              <a:t>Duplication of work due to communication breakdown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MY" sz="2200"/>
              <a:t>Outdated technical references or guidelines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MY" sz="2200"/>
              <a:t>No centralized document management system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7dd053fb96_0_125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Challenge in Software Project Management </a:t>
            </a:r>
            <a:endParaRPr/>
          </a:p>
        </p:txBody>
      </p:sp>
      <p:sp>
        <p:nvSpPr>
          <p:cNvPr id="423" name="Google Shape;423;g37dd053fb96_0_125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24" name="Google Shape;424;g37dd053fb96_0_125"/>
          <p:cNvSpPr txBox="1"/>
          <p:nvPr>
            <p:ph idx="1" type="body"/>
          </p:nvPr>
        </p:nvSpPr>
        <p:spPr>
          <a:xfrm>
            <a:off x="797100" y="1727400"/>
            <a:ext cx="108234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MY" sz="2200">
                <a:solidFill>
                  <a:schemeClr val="dk1"/>
                </a:solidFill>
              </a:rPr>
              <a:t>4. Commitment &amp; Ownership Problems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-MY" sz="2200"/>
              <a:t>Low commitment from key personnel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-MY" sz="2200"/>
              <a:t>Over-reliance on one team member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ato"/>
              <a:buChar char="●"/>
            </a:pPr>
            <a:r>
              <a:rPr lang="en-MY" sz="2200"/>
              <a:t>Team members moved before project completion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MY" sz="2200"/>
              <a:t>Lack of ownership mindset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MY" sz="2200"/>
              <a:t>Inconsistent accountability tracking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MY" sz="2200"/>
              <a:t>Minimal recognition for contributions</a:t>
            </a:r>
            <a:endParaRPr sz="22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7dd053fb96_0_118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Challenge in Software Project Management </a:t>
            </a:r>
            <a:endParaRPr/>
          </a:p>
        </p:txBody>
      </p:sp>
      <p:sp>
        <p:nvSpPr>
          <p:cNvPr id="431" name="Google Shape;431;g37dd053fb96_0_118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32" name="Google Shape;432;g37dd053fb96_0_118"/>
          <p:cNvSpPr txBox="1"/>
          <p:nvPr>
            <p:ph idx="1" type="body"/>
          </p:nvPr>
        </p:nvSpPr>
        <p:spPr>
          <a:xfrm>
            <a:off x="797100" y="1727400"/>
            <a:ext cx="108234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MY" sz="2200">
                <a:solidFill>
                  <a:schemeClr val="dk1"/>
                </a:solidFill>
              </a:rPr>
              <a:t>5. Expertise &amp; Resource Limitations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Narrow technical skill sets in the team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Inadequate training for modern tools or technologies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Lack of backup staff with required competencies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Insufficient onboarding for new team members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Mismatch between roles and expertise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Resource availability not properly planned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br>
              <a:rPr lang="en-MY" sz="2200"/>
            </a:br>
            <a:endParaRPr sz="22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7dd053fb96_0_111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Challenge in Software Project Management </a:t>
            </a:r>
            <a:endParaRPr/>
          </a:p>
        </p:txBody>
      </p:sp>
      <p:sp>
        <p:nvSpPr>
          <p:cNvPr id="439" name="Google Shape;439;g37dd053fb96_0_111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40" name="Google Shape;440;g37dd053fb96_0_111"/>
          <p:cNvSpPr txBox="1"/>
          <p:nvPr>
            <p:ph idx="1" type="body"/>
          </p:nvPr>
        </p:nvSpPr>
        <p:spPr>
          <a:xfrm>
            <a:off x="797100" y="1727400"/>
            <a:ext cx="108234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MY" sz="2200">
                <a:solidFill>
                  <a:schemeClr val="dk1"/>
                </a:solidFill>
              </a:rPr>
              <a:t>6. Changing External Conditions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Evolving statutory/legal requirements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Rapidly changing software environments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Frequent updates in third-party platforms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Unclear adaptation processes for change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Vendor dependency risks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Compliance challenges across regions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2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7dd053fb96_0_97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Challenge in Software Project Management </a:t>
            </a:r>
            <a:endParaRPr/>
          </a:p>
        </p:txBody>
      </p:sp>
      <p:sp>
        <p:nvSpPr>
          <p:cNvPr id="447" name="Google Shape;447;g37dd053fb96_0_97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48" name="Google Shape;448;g37dd053fb96_0_97"/>
          <p:cNvSpPr txBox="1"/>
          <p:nvPr>
            <p:ph idx="1" type="body"/>
          </p:nvPr>
        </p:nvSpPr>
        <p:spPr>
          <a:xfrm>
            <a:off x="797100" y="1727400"/>
            <a:ext cx="108234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MY" sz="2200">
                <a:solidFill>
                  <a:schemeClr val="dk1"/>
                </a:solidFill>
              </a:rPr>
              <a:t>7. Time Pressure &amp; Deadlines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Constant pressure to meet tight deadlines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Testing phase often shortened or skipped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Frequent last-minute changes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Developer burnout and overtime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Reduced time for proper documentation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Compromised quality due to speed</a:t>
            </a:r>
            <a:endParaRPr sz="2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7dd053fb96_0_90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Challenge in Software Project Management </a:t>
            </a:r>
            <a:endParaRPr/>
          </a:p>
        </p:txBody>
      </p:sp>
      <p:sp>
        <p:nvSpPr>
          <p:cNvPr id="455" name="Google Shape;455;g37dd053fb96_0_90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56" name="Google Shape;456;g37dd053fb96_0_90"/>
          <p:cNvSpPr txBox="1"/>
          <p:nvPr>
            <p:ph idx="1" type="body"/>
          </p:nvPr>
        </p:nvSpPr>
        <p:spPr>
          <a:xfrm>
            <a:off x="797100" y="1727400"/>
            <a:ext cx="108234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MY" sz="2200">
                <a:solidFill>
                  <a:schemeClr val="dk1"/>
                </a:solidFill>
              </a:rPr>
              <a:t>8. Quality &amp; Control Issues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Inadequate quality control processes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No standard for code reviews or testing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Bugs detected late in development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Inconsistent QA practices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Lack of automated testing tools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Unclear defect tracking procedures</a:t>
            </a:r>
            <a:endParaRPr sz="2200"/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7dd053fb96_0_138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Challenge in Software Project Management </a:t>
            </a:r>
            <a:endParaRPr/>
          </a:p>
        </p:txBody>
      </p:sp>
      <p:sp>
        <p:nvSpPr>
          <p:cNvPr id="463" name="Google Shape;463;g37dd053fb96_0_138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64" name="Google Shape;464;g37dd053fb96_0_138"/>
          <p:cNvSpPr txBox="1"/>
          <p:nvPr>
            <p:ph idx="1" type="body"/>
          </p:nvPr>
        </p:nvSpPr>
        <p:spPr>
          <a:xfrm>
            <a:off x="797100" y="1727400"/>
            <a:ext cx="108234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MY" sz="2200">
                <a:solidFill>
                  <a:schemeClr val="dk1"/>
                </a:solidFill>
              </a:rPr>
              <a:t>9. Modern Working Challenges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Remote management and lack of real-time collaboration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Time zone differences causing coordination issues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Low team morale in virtual settings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Over-reliance on asynchronous tools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Difficulty building team rapport online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Lack of real-time collaboration channels</a:t>
            </a:r>
            <a:endParaRPr sz="2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7dd053fb96_0_345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Summary of Key Challenges in SPM</a:t>
            </a:r>
            <a:endParaRPr/>
          </a:p>
        </p:txBody>
      </p:sp>
      <p:sp>
        <p:nvSpPr>
          <p:cNvPr id="471" name="Google Shape;471;g37dd053fb96_0_345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72" name="Google Shape;472;g37dd053fb96_0_345"/>
          <p:cNvSpPr txBox="1"/>
          <p:nvPr>
            <p:ph idx="1" type="body"/>
          </p:nvPr>
        </p:nvSpPr>
        <p:spPr>
          <a:xfrm>
            <a:off x="797100" y="1727400"/>
            <a:ext cx="108234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Poor estimation and vague specifications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Limited documentation and communication breakdowns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Scope creep and unclear success criteria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Skill/resource mismatches and over-dependency on individuals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Time pressure, quality issues, and adapting to remote work environments</a:t>
            </a:r>
            <a:endParaRPr sz="2200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88a848c736_1_28"/>
          <p:cNvSpPr txBox="1"/>
          <p:nvPr>
            <p:ph type="title"/>
          </p:nvPr>
        </p:nvSpPr>
        <p:spPr>
          <a:xfrm>
            <a:off x="7284460" y="2912157"/>
            <a:ext cx="4677300" cy="18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The Concepts of Management Control in SPM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g388a848c736_1_28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pic>
        <p:nvPicPr>
          <p:cNvPr id="480" name="Google Shape;480;g388a848c736_1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125" y="1311300"/>
            <a:ext cx="4546900" cy="45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7dd053fb96_0_191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What Is Management Control in SPM?</a:t>
            </a:r>
            <a:endParaRPr/>
          </a:p>
        </p:txBody>
      </p:sp>
      <p:sp>
        <p:nvSpPr>
          <p:cNvPr id="487" name="Google Shape;487;g37dd053fb96_0_191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88" name="Google Shape;488;g37dd053fb96_0_191"/>
          <p:cNvSpPr txBox="1"/>
          <p:nvPr>
            <p:ph idx="1" type="body"/>
          </p:nvPr>
        </p:nvSpPr>
        <p:spPr>
          <a:xfrm>
            <a:off x="1279700" y="1778200"/>
            <a:ext cx="98400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2200"/>
              <a:t>Management control in software project management refers to the </a:t>
            </a:r>
            <a:r>
              <a:rPr b="1" lang="en-MY" sz="2200"/>
              <a:t>systematic process of guiding a project towards its objectives</a:t>
            </a:r>
            <a:r>
              <a:rPr lang="en-MY" sz="2200"/>
              <a:t> by continuously monitoring progress, identifying deviations, and implementing corrective actions.</a:t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2200"/>
              <a:t>It ensures: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The project stays </a:t>
            </a:r>
            <a:r>
              <a:rPr b="1" lang="en-MY" sz="2200"/>
              <a:t>on schedule</a:t>
            </a:r>
            <a:r>
              <a:rPr lang="en-MY" sz="2200"/>
              <a:t>, </a:t>
            </a:r>
            <a:r>
              <a:rPr b="1" lang="en-MY" sz="2200"/>
              <a:t>within budget</a:t>
            </a:r>
            <a:r>
              <a:rPr lang="en-MY" sz="2200"/>
              <a:t>, and </a:t>
            </a:r>
            <a:r>
              <a:rPr b="1" lang="en-MY" sz="2200"/>
              <a:t>aligned with scope</a:t>
            </a:r>
            <a:r>
              <a:rPr lang="en-MY" sz="2200"/>
              <a:t>.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Proper </a:t>
            </a:r>
            <a:r>
              <a:rPr b="1" lang="en-MY" sz="2200"/>
              <a:t>feedback mechanisms</a:t>
            </a:r>
            <a:r>
              <a:rPr lang="en-MY" sz="2200"/>
              <a:t> are in place to respond to issues quickly.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The team and stakeholders stay </a:t>
            </a:r>
            <a:r>
              <a:rPr b="1" lang="en-MY" sz="2200"/>
              <a:t>accountable and informed</a:t>
            </a:r>
            <a:r>
              <a:rPr lang="en-MY" sz="2200"/>
              <a:t> throughout the project.</a:t>
            </a:r>
            <a:endParaRPr sz="22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7dd053fb96_0_199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Why Is Management Control Important?</a:t>
            </a:r>
            <a:endParaRPr/>
          </a:p>
        </p:txBody>
      </p:sp>
      <p:sp>
        <p:nvSpPr>
          <p:cNvPr id="495" name="Google Shape;495;g37dd053fb96_0_199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496" name="Google Shape;496;g37dd053fb96_0_199"/>
          <p:cNvSpPr txBox="1"/>
          <p:nvPr>
            <p:ph idx="1" type="body"/>
          </p:nvPr>
        </p:nvSpPr>
        <p:spPr>
          <a:xfrm>
            <a:off x="1279700" y="1778200"/>
            <a:ext cx="98400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Without proper control, a project can easily go off track. Here’s why it matters: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Prevents </a:t>
            </a:r>
            <a:r>
              <a:rPr b="1" lang="en-MY" sz="2200"/>
              <a:t>time and budget overruns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Helps </a:t>
            </a:r>
            <a:r>
              <a:rPr b="1" lang="en-MY" sz="2200"/>
              <a:t>manage change</a:t>
            </a:r>
            <a:r>
              <a:rPr lang="en-MY" sz="2200"/>
              <a:t> effectively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Improves </a:t>
            </a:r>
            <a:r>
              <a:rPr b="1" lang="en-MY" sz="2200"/>
              <a:t>decision-making</a:t>
            </a:r>
            <a:r>
              <a:rPr lang="en-MY" sz="2200"/>
              <a:t> through data and tracking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Promotes </a:t>
            </a:r>
            <a:r>
              <a:rPr b="1" lang="en-MY" sz="2200"/>
              <a:t>accountability</a:t>
            </a:r>
            <a:r>
              <a:rPr lang="en-MY" sz="2200"/>
              <a:t> among teams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Ensures </a:t>
            </a:r>
            <a:r>
              <a:rPr b="1" lang="en-MY" sz="2200"/>
              <a:t>quality standards</a:t>
            </a:r>
            <a:r>
              <a:rPr lang="en-MY" sz="2200"/>
              <a:t> are maintained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Builds trust with stakeholders by providing transparency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n-MY" sz="2200"/>
              <a:t>Effective control is not about micromanaging — it’s about steering the project toward success with foresight and agility.</a:t>
            </a:r>
            <a:endParaRPr sz="2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dd053fb96_0_208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Key Elements of Control in SPM</a:t>
            </a:r>
            <a:endParaRPr/>
          </a:p>
        </p:txBody>
      </p:sp>
      <p:sp>
        <p:nvSpPr>
          <p:cNvPr id="503" name="Google Shape;503;g37dd053fb96_0_208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04" name="Google Shape;504;g37dd053fb96_0_208"/>
          <p:cNvSpPr txBox="1"/>
          <p:nvPr>
            <p:ph idx="1" type="body"/>
          </p:nvPr>
        </p:nvSpPr>
        <p:spPr>
          <a:xfrm>
            <a:off x="1279700" y="1778200"/>
            <a:ext cx="98400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2200"/>
              <a:t>Management control can be broken down into </a:t>
            </a:r>
            <a:r>
              <a:rPr b="1" lang="en-MY" sz="2200"/>
              <a:t>six core focus areas</a:t>
            </a:r>
            <a:r>
              <a:rPr lang="en-MY" sz="2200"/>
              <a:t>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AutoNum type="arabicPeriod"/>
            </a:pPr>
            <a:r>
              <a:rPr b="1" lang="en-MY" sz="2200"/>
              <a:t>Time Control</a:t>
            </a:r>
            <a:r>
              <a:rPr lang="en-MY" sz="2200"/>
              <a:t> – Managing schedules and deadlines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AutoNum type="arabicPeriod"/>
            </a:pPr>
            <a:r>
              <a:rPr b="1" lang="en-MY" sz="2200"/>
              <a:t>Cost Control</a:t>
            </a:r>
            <a:r>
              <a:rPr lang="en-MY" sz="2200"/>
              <a:t> – Monitoring budgets and expenditures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AutoNum type="arabicPeriod"/>
            </a:pPr>
            <a:r>
              <a:rPr b="1" lang="en-MY" sz="2200"/>
              <a:t>Scope Control</a:t>
            </a:r>
            <a:r>
              <a:rPr lang="en-MY" sz="2200"/>
              <a:t> – Ensuring agreed deliverables are met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AutoNum type="arabicPeriod"/>
            </a:pPr>
            <a:r>
              <a:rPr b="1" lang="en-MY" sz="2200"/>
              <a:t>Risk Control</a:t>
            </a:r>
            <a:r>
              <a:rPr lang="en-MY" sz="2200"/>
              <a:t> – Identifying and mitigating risks early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AutoNum type="arabicPeriod"/>
            </a:pPr>
            <a:r>
              <a:rPr b="1" lang="en-MY" sz="2200"/>
              <a:t>Quality Control</a:t>
            </a:r>
            <a:r>
              <a:rPr lang="en-MY" sz="2200"/>
              <a:t> – Meeting technical and user expectations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AutoNum type="arabicPeriod"/>
            </a:pPr>
            <a:r>
              <a:rPr b="1" lang="en-MY" sz="2200"/>
              <a:t>Communication Control</a:t>
            </a:r>
            <a:r>
              <a:rPr lang="en-MY" sz="2200"/>
              <a:t> – Keeping all parties informed</a:t>
            </a:r>
            <a:br>
              <a:rPr lang="en-MY" sz="2200"/>
            </a:b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rPr lang="en-MY" sz="2200"/>
              <a:t>Each of these elements must be regularly reviewed and adjusted based on real-time project performance.</a:t>
            </a:r>
            <a:endParaRPr sz="22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7dd053fb96_0_216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1. Time Control</a:t>
            </a:r>
            <a:endParaRPr/>
          </a:p>
        </p:txBody>
      </p:sp>
      <p:sp>
        <p:nvSpPr>
          <p:cNvPr id="511" name="Google Shape;511;g37dd053fb96_0_216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12" name="Google Shape;512;g37dd053fb96_0_216"/>
          <p:cNvSpPr txBox="1"/>
          <p:nvPr>
            <p:ph idx="1" type="body"/>
          </p:nvPr>
        </p:nvSpPr>
        <p:spPr>
          <a:xfrm>
            <a:off x="1279700" y="1778200"/>
            <a:ext cx="98400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Time is one of the most critical constraints in any project. Time control includes: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Creating schedules</a:t>
            </a:r>
            <a:r>
              <a:rPr lang="en-MY" sz="2200"/>
              <a:t> with start and end dates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Breaking work into </a:t>
            </a:r>
            <a:r>
              <a:rPr b="1" lang="en-MY" sz="2200"/>
              <a:t>tasks and milestones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Using tools like </a:t>
            </a:r>
            <a:r>
              <a:rPr b="1" lang="en-MY" sz="2200"/>
              <a:t>Gantt charts</a:t>
            </a:r>
            <a:r>
              <a:rPr lang="en-MY" sz="2200"/>
              <a:t>, </a:t>
            </a:r>
            <a:r>
              <a:rPr b="1" lang="en-MY" sz="2200"/>
              <a:t>Kanban boards</a:t>
            </a:r>
            <a:r>
              <a:rPr lang="en-MY" sz="2200"/>
              <a:t>, or </a:t>
            </a:r>
            <a:r>
              <a:rPr b="1" lang="en-MY" sz="2200"/>
              <a:t>Sprint backlogs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Holding </a:t>
            </a:r>
            <a:r>
              <a:rPr b="1" lang="en-MY" sz="2200"/>
              <a:t>daily stand-ups</a:t>
            </a:r>
            <a:r>
              <a:rPr lang="en-MY" sz="2200"/>
              <a:t> or weekly syncs to check progress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Reallocating resources if delays are forecasted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Using </a:t>
            </a:r>
            <a:r>
              <a:rPr b="1" lang="en-MY" sz="2200"/>
              <a:t>timeboxing</a:t>
            </a:r>
            <a:r>
              <a:rPr lang="en-MY" sz="2200"/>
              <a:t> techniques in Agile to enforce strict timelines</a:t>
            </a:r>
            <a:br>
              <a:rPr lang="en-MY" sz="2200"/>
            </a:br>
            <a:endParaRPr sz="22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A delay in one task often impacts many others — hence tight time control is key.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7dd053fb96_0_224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2. Cost Control</a:t>
            </a:r>
            <a:endParaRPr/>
          </a:p>
        </p:txBody>
      </p:sp>
      <p:sp>
        <p:nvSpPr>
          <p:cNvPr id="519" name="Google Shape;519;g37dd053fb96_0_224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20" name="Google Shape;520;g37dd053fb96_0_224"/>
          <p:cNvSpPr txBox="1"/>
          <p:nvPr>
            <p:ph idx="1" type="body"/>
          </p:nvPr>
        </p:nvSpPr>
        <p:spPr>
          <a:xfrm>
            <a:off x="1279700" y="1778200"/>
            <a:ext cx="98400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Keeping spending in check is essential to avoid budget overruns. This involves: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Estimating costs during planning and </a:t>
            </a:r>
            <a:r>
              <a:rPr b="1" lang="en-MY" sz="2200"/>
              <a:t>tracking actual expenses</a:t>
            </a:r>
            <a:r>
              <a:rPr lang="en-MY" sz="2200"/>
              <a:t> during execution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Performing </a:t>
            </a:r>
            <a:r>
              <a:rPr b="1" lang="en-MY" sz="2200"/>
              <a:t>cost variance analysis</a:t>
            </a:r>
            <a:r>
              <a:rPr lang="en-MY" sz="2200"/>
              <a:t> to detect overspending early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Using </a:t>
            </a:r>
            <a:r>
              <a:rPr b="1" lang="en-MY" sz="2200"/>
              <a:t>Earned Value Management (EVM)</a:t>
            </a:r>
            <a:r>
              <a:rPr lang="en-MY" sz="2200"/>
              <a:t> for integrated cost/schedule control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Approving only </a:t>
            </a:r>
            <a:r>
              <a:rPr b="1" lang="en-MY" sz="2200"/>
              <a:t>authorized expenditures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Updating stakeholders if a budget change is unavoidable</a:t>
            </a:r>
            <a:br>
              <a:rPr lang="en-MY" sz="2200"/>
            </a:br>
            <a:endParaRPr sz="22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Even small unexpected costs can escalate quickly without proper control.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7dd053fb96_0_232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3.Scope Control</a:t>
            </a:r>
            <a:endParaRPr/>
          </a:p>
        </p:txBody>
      </p:sp>
      <p:sp>
        <p:nvSpPr>
          <p:cNvPr id="527" name="Google Shape;527;g37dd053fb96_0_232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28" name="Google Shape;528;g37dd053fb96_0_232"/>
          <p:cNvSpPr txBox="1"/>
          <p:nvPr>
            <p:ph idx="1" type="body"/>
          </p:nvPr>
        </p:nvSpPr>
        <p:spPr>
          <a:xfrm>
            <a:off x="1279700" y="1778200"/>
            <a:ext cx="98400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Scope refers to the </a:t>
            </a:r>
            <a:r>
              <a:rPr b="1" lang="en-MY" sz="2200"/>
              <a:t>total set of deliverables</a:t>
            </a:r>
            <a:r>
              <a:rPr lang="en-MY" sz="2200"/>
              <a:t> expected. Without scope control: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You risk </a:t>
            </a:r>
            <a:r>
              <a:rPr b="1" lang="en-MY" sz="2200"/>
              <a:t>scope creep</a:t>
            </a:r>
            <a:r>
              <a:rPr lang="en-MY" sz="2200"/>
              <a:t> (adding features without adjusting time or cost)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You may deliver something </a:t>
            </a:r>
            <a:r>
              <a:rPr b="1" lang="en-MY" sz="2200"/>
              <a:t>different from what was agreed</a:t>
            </a:r>
            <a:br>
              <a:rPr b="1" lang="en-MY" sz="2200"/>
            </a:br>
            <a:endParaRPr b="1"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Scope control techniques include: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Using a </a:t>
            </a:r>
            <a:r>
              <a:rPr b="1" lang="en-MY" sz="2200"/>
              <a:t>Work Breakdown Structure (WBS)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Tracking changes through a </a:t>
            </a:r>
            <a:r>
              <a:rPr b="1" lang="en-MY" sz="2200"/>
              <a:t>Change Control Board (CCB)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Regularly </a:t>
            </a:r>
            <a:r>
              <a:rPr b="1" lang="en-MY" sz="2200"/>
              <a:t>validating deliverables</a:t>
            </a:r>
            <a:r>
              <a:rPr lang="en-MY" sz="2200"/>
              <a:t> against original requirements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Maintaining a </a:t>
            </a:r>
            <a:r>
              <a:rPr b="1" lang="en-MY" sz="2200"/>
              <a:t>Requirements Traceability Matrix</a:t>
            </a:r>
            <a:endParaRPr b="1"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7dd053fb96_0_240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4.Risk Management Control</a:t>
            </a:r>
            <a:endParaRPr/>
          </a:p>
        </p:txBody>
      </p:sp>
      <p:sp>
        <p:nvSpPr>
          <p:cNvPr id="535" name="Google Shape;535;g37dd053fb96_0_240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36" name="Google Shape;536;g37dd053fb96_0_240"/>
          <p:cNvSpPr txBox="1"/>
          <p:nvPr>
            <p:ph idx="1" type="body"/>
          </p:nvPr>
        </p:nvSpPr>
        <p:spPr>
          <a:xfrm>
            <a:off x="1279700" y="1778200"/>
            <a:ext cx="98400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Risks are inevitable. Management control involves: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Identifying </a:t>
            </a:r>
            <a:r>
              <a:rPr b="1" lang="en-MY" sz="2200"/>
              <a:t>potential risks</a:t>
            </a:r>
            <a:r>
              <a:rPr lang="en-MY" sz="2200"/>
              <a:t> early through brainstorming or checklists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Evaluating them based on </a:t>
            </a:r>
            <a:r>
              <a:rPr b="1" lang="en-MY" sz="2200"/>
              <a:t>likelihood and impact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Creating </a:t>
            </a:r>
            <a:r>
              <a:rPr b="1" lang="en-MY" sz="2200"/>
              <a:t>mitigation plans</a:t>
            </a:r>
            <a:r>
              <a:rPr lang="en-MY" sz="2200"/>
              <a:t> for high-risk scenarios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Keeping a </a:t>
            </a:r>
            <a:r>
              <a:rPr b="1" lang="en-MY" sz="2200"/>
              <a:t>risk register</a:t>
            </a:r>
            <a:r>
              <a:rPr lang="en-MY" sz="2200"/>
              <a:t> with status updates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Reassessing risks regularly during the project lifecycle</a:t>
            </a:r>
            <a:br>
              <a:rPr lang="en-MY" sz="2200"/>
            </a:br>
            <a:endParaRPr sz="22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A proactive approach to risk reduces firefighting and last-minute panic.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7dd053fb96_0_248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5.Issue Tracking &amp; Escalation</a:t>
            </a:r>
            <a:endParaRPr/>
          </a:p>
        </p:txBody>
      </p:sp>
      <p:sp>
        <p:nvSpPr>
          <p:cNvPr id="543" name="Google Shape;543;g37dd053fb96_0_248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44" name="Google Shape;544;g37dd053fb96_0_248"/>
          <p:cNvSpPr txBox="1"/>
          <p:nvPr>
            <p:ph idx="1" type="body"/>
          </p:nvPr>
        </p:nvSpPr>
        <p:spPr>
          <a:xfrm>
            <a:off x="1279700" y="1778200"/>
            <a:ext cx="98400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While risks are hypothetical, </a:t>
            </a:r>
            <a:r>
              <a:rPr b="1" lang="en-MY" sz="2200"/>
              <a:t>issues are problems that already occurred</a:t>
            </a:r>
            <a:r>
              <a:rPr lang="en-MY" sz="2200"/>
              <a:t>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Good issue control means: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Logging issues in a centralized </a:t>
            </a:r>
            <a:r>
              <a:rPr b="1" lang="en-MY" sz="2200"/>
              <a:t>issue tracker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Assigning </a:t>
            </a:r>
            <a:r>
              <a:rPr b="1" lang="en-MY" sz="2200"/>
              <a:t>clear ownership</a:t>
            </a:r>
            <a:r>
              <a:rPr lang="en-MY" sz="2200"/>
              <a:t> for resolution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Setting </a:t>
            </a:r>
            <a:r>
              <a:rPr b="1" lang="en-MY" sz="2200"/>
              <a:t>deadlines</a:t>
            </a:r>
            <a:r>
              <a:rPr lang="en-MY" sz="2200"/>
              <a:t> and </a:t>
            </a:r>
            <a:r>
              <a:rPr b="1" lang="en-MY" sz="2200"/>
              <a:t>escalation paths</a:t>
            </a:r>
            <a:r>
              <a:rPr lang="en-MY" sz="2200"/>
              <a:t> if unresolved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Reviewing issues during regular team or stakeholder meetings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Analyzing root causes to avoid recurrence</a:t>
            </a:r>
            <a:endParaRPr sz="22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Unmanaged issues lead to delays, conflict, and dissatisfaction.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7dd053fb96_0_256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6.Quality Control</a:t>
            </a:r>
            <a:endParaRPr/>
          </a:p>
        </p:txBody>
      </p:sp>
      <p:sp>
        <p:nvSpPr>
          <p:cNvPr id="551" name="Google Shape;551;g37dd053fb96_0_256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52" name="Google Shape;552;g37dd053fb96_0_256"/>
          <p:cNvSpPr txBox="1"/>
          <p:nvPr>
            <p:ph idx="1" type="body"/>
          </p:nvPr>
        </p:nvSpPr>
        <p:spPr>
          <a:xfrm>
            <a:off x="1279700" y="1778200"/>
            <a:ext cx="98400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Delivering software that works isn't enough — it must work well. Quality control ensures: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Compliance with </a:t>
            </a:r>
            <a:r>
              <a:rPr b="1" lang="en-MY" sz="2200"/>
              <a:t>technical standards</a:t>
            </a:r>
            <a:r>
              <a:rPr lang="en-MY" sz="2200"/>
              <a:t> and </a:t>
            </a:r>
            <a:r>
              <a:rPr b="1" lang="en-MY" sz="2200"/>
              <a:t>coding guidelines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Execution of </a:t>
            </a:r>
            <a:r>
              <a:rPr b="1" lang="en-MY" sz="2200"/>
              <a:t>testing procedures</a:t>
            </a:r>
            <a:r>
              <a:rPr lang="en-MY" sz="2200"/>
              <a:t> (unit, integration, system, UAT)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Reviews such as </a:t>
            </a:r>
            <a:r>
              <a:rPr b="1" lang="en-MY" sz="2200"/>
              <a:t>peer code reviews</a:t>
            </a:r>
            <a:r>
              <a:rPr lang="en-MY" sz="2200"/>
              <a:t>, </a:t>
            </a:r>
            <a:r>
              <a:rPr b="1" lang="en-MY" sz="2200"/>
              <a:t>walkthroughs</a:t>
            </a:r>
            <a:r>
              <a:rPr lang="en-MY" sz="2200"/>
              <a:t>, and </a:t>
            </a:r>
            <a:r>
              <a:rPr b="1" lang="en-MY" sz="2200"/>
              <a:t>inspections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Tracking defects</a:t>
            </a:r>
            <a:r>
              <a:rPr lang="en-MY" sz="2200"/>
              <a:t> and resolution cycles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Tools like </a:t>
            </a:r>
            <a:r>
              <a:rPr b="1" lang="en-MY" sz="2200"/>
              <a:t>SonarQube, Selenium</a:t>
            </a:r>
            <a:r>
              <a:rPr lang="en-MY" sz="2200"/>
              <a:t>, or manual testing methods</a:t>
            </a:r>
            <a:br>
              <a:rPr lang="en-MY" sz="2200"/>
            </a:br>
            <a:endParaRPr sz="22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Quality control is about </a:t>
            </a:r>
            <a:r>
              <a:rPr i="1" lang="en-MY" sz="2200"/>
              <a:t>doing it right the first time</a:t>
            </a:r>
            <a:r>
              <a:rPr lang="en-MY" sz="2200"/>
              <a:t>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7dd053fb96_0_264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7.Communication Control</a:t>
            </a:r>
            <a:endParaRPr/>
          </a:p>
        </p:txBody>
      </p:sp>
      <p:sp>
        <p:nvSpPr>
          <p:cNvPr id="559" name="Google Shape;559;g37dd053fb96_0_264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60" name="Google Shape;560;g37dd053fb96_0_264"/>
          <p:cNvSpPr txBox="1"/>
          <p:nvPr>
            <p:ph idx="1" type="body"/>
          </p:nvPr>
        </p:nvSpPr>
        <p:spPr>
          <a:xfrm>
            <a:off x="1279700" y="1778200"/>
            <a:ext cx="98400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Effective communication is the glue that holds everything together.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Control mechanisms include: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A </a:t>
            </a:r>
            <a:r>
              <a:rPr b="1" lang="en-MY" sz="2200"/>
              <a:t>communication plan</a:t>
            </a:r>
            <a:r>
              <a:rPr lang="en-MY" sz="2200"/>
              <a:t> defining what gets reported, to whom, and how often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Tools like </a:t>
            </a:r>
            <a:r>
              <a:rPr b="1" lang="en-MY" sz="2200"/>
              <a:t>Slack, Teams, Email, Jira</a:t>
            </a:r>
            <a:r>
              <a:rPr lang="en-MY" sz="2200"/>
              <a:t> for ongoing coordination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Stakeholder updates</a:t>
            </a:r>
            <a:r>
              <a:rPr lang="en-MY" sz="2200"/>
              <a:t> (status reports, dashboards, presentations)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Meeting schedules</a:t>
            </a:r>
            <a:r>
              <a:rPr lang="en-MY" sz="2200"/>
              <a:t> and minutes to document decisions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Avoiding over-communication (noise) and under-communication (blind spots)</a:t>
            </a:r>
            <a:endParaRPr sz="22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rPr lang="en-MY" sz="2200"/>
              <a:t>Transparency and clarity reduce confusion, rework, and frustration.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7dd053fb96_0_279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Monitoring Tools in SPM</a:t>
            </a:r>
            <a:endParaRPr/>
          </a:p>
        </p:txBody>
      </p:sp>
      <p:sp>
        <p:nvSpPr>
          <p:cNvPr id="567" name="Google Shape;567;g37dd053fb96_0_279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68" name="Google Shape;568;g37dd053fb96_0_279"/>
          <p:cNvSpPr txBox="1"/>
          <p:nvPr>
            <p:ph idx="1" type="body"/>
          </p:nvPr>
        </p:nvSpPr>
        <p:spPr>
          <a:xfrm>
            <a:off x="1279700" y="1778200"/>
            <a:ext cx="98400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2200"/>
              <a:t>You can’t control what you don’t measure. Popular tools include: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Gantt Charts</a:t>
            </a:r>
            <a:r>
              <a:rPr lang="en-MY" sz="2200"/>
              <a:t> – visualize timelines and task dependencies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Burndown Charts</a:t>
            </a:r>
            <a:r>
              <a:rPr lang="en-MY" sz="2200"/>
              <a:t> – monitor progress in Agile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Project Dashboards</a:t>
            </a:r>
            <a:r>
              <a:rPr lang="en-MY" sz="2200"/>
              <a:t> – track KPIs and performance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Jira / Trello / Asana</a:t>
            </a:r>
            <a:r>
              <a:rPr lang="en-MY" sz="2200"/>
              <a:t> – manage tasks and workflows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Time Tracking Tools</a:t>
            </a:r>
            <a:r>
              <a:rPr lang="en-MY" sz="2200"/>
              <a:t> – for cost/time analysis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Issue Logs &amp; Risk Registers</a:t>
            </a:r>
            <a:r>
              <a:rPr lang="en-MY" sz="2200"/>
              <a:t> – for governance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7dd053fb96_0_287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Earned Value Management (EVM)</a:t>
            </a:r>
            <a:endParaRPr/>
          </a:p>
        </p:txBody>
      </p:sp>
      <p:sp>
        <p:nvSpPr>
          <p:cNvPr id="575" name="Google Shape;575;g37dd053fb96_0_287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76" name="Google Shape;576;g37dd053fb96_0_287"/>
          <p:cNvSpPr txBox="1"/>
          <p:nvPr>
            <p:ph idx="1" type="body"/>
          </p:nvPr>
        </p:nvSpPr>
        <p:spPr>
          <a:xfrm>
            <a:off x="1279700" y="1714700"/>
            <a:ext cx="98400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MY" sz="2200"/>
              <a:t>Earned Value Management (EVM)</a:t>
            </a:r>
            <a:endParaRPr b="1"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2200"/>
              <a:t>EVM helps you </a:t>
            </a:r>
            <a:r>
              <a:rPr b="1" lang="en-MY" sz="2200"/>
              <a:t>quantitatively assess project performance</a:t>
            </a:r>
            <a:r>
              <a:rPr lang="en-MY" sz="2200"/>
              <a:t>. Key terms: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Planned Value (PV)</a:t>
            </a:r>
            <a:r>
              <a:rPr lang="en-MY" sz="2200"/>
              <a:t> – work planned up to a point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Earned Value (EV)</a:t>
            </a:r>
            <a:r>
              <a:rPr lang="en-MY" sz="2200"/>
              <a:t> – work actually completed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Actual Cost (AC)</a:t>
            </a:r>
            <a:r>
              <a:rPr lang="en-MY" sz="2200"/>
              <a:t> – money spent so far</a:t>
            </a:r>
            <a:br>
              <a:rPr lang="en-MY" sz="2200"/>
            </a:b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2200"/>
              <a:t>Using EVM, you can calculate: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b="1" lang="en-MY" sz="2200"/>
              <a:t>Schedule Variance (SV)</a:t>
            </a:r>
            <a:r>
              <a:rPr lang="en-MY" sz="2200"/>
              <a:t> = EV - PV</a:t>
            </a:r>
            <a:br>
              <a:rPr lang="en-MY" sz="2200"/>
            </a:br>
            <a:r>
              <a:rPr b="1" lang="en-MY" sz="2200"/>
              <a:t>Cost Variance (CV)</a:t>
            </a:r>
            <a:r>
              <a:rPr lang="en-MY" sz="2200"/>
              <a:t> = EV - AC</a:t>
            </a:r>
            <a:endParaRPr sz="22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2200"/>
              <a:t>Positive variance = on track. Negative = corrective action needed.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7dd053fb96_0_295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Change Control Process</a:t>
            </a:r>
            <a:endParaRPr/>
          </a:p>
        </p:txBody>
      </p:sp>
      <p:sp>
        <p:nvSpPr>
          <p:cNvPr id="583" name="Google Shape;583;g37dd053fb96_0_295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84" name="Google Shape;584;g37dd053fb96_0_295"/>
          <p:cNvSpPr txBox="1"/>
          <p:nvPr>
            <p:ph idx="1" type="body"/>
          </p:nvPr>
        </p:nvSpPr>
        <p:spPr>
          <a:xfrm>
            <a:off x="1279700" y="1778200"/>
            <a:ext cx="98400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2200"/>
              <a:t>Change is inevitable. Managing it effectively includes: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A </a:t>
            </a:r>
            <a:r>
              <a:rPr b="1" lang="en-MY" sz="2200"/>
              <a:t>formal process</a:t>
            </a:r>
            <a:r>
              <a:rPr lang="en-MY" sz="2200"/>
              <a:t> for submitting change requests (CRs)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Analyzing impact on </a:t>
            </a:r>
            <a:r>
              <a:rPr b="1" lang="en-MY" sz="2200"/>
              <a:t>time, scope, and budget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Decision-making by a </a:t>
            </a:r>
            <a:r>
              <a:rPr b="1" lang="en-MY" sz="2200"/>
              <a:t>Change Control Board (CCB)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Documenting all approved or rejected changes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Communicating outcomes clearly to affected parties</a:t>
            </a:r>
            <a:br>
              <a:rPr lang="en-MY" sz="2200"/>
            </a:br>
            <a:endParaRPr sz="22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2200"/>
              <a:t>Good change control avoids chaos and uncontrolled growth.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7dd053fb96_0_303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Key Performance Indicators (KPIs)</a:t>
            </a:r>
            <a:endParaRPr/>
          </a:p>
        </p:txBody>
      </p:sp>
      <p:sp>
        <p:nvSpPr>
          <p:cNvPr id="591" name="Google Shape;591;g37dd053fb96_0_303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592" name="Google Shape;592;g37dd053fb96_0_303"/>
          <p:cNvSpPr txBox="1"/>
          <p:nvPr>
            <p:ph idx="1" type="body"/>
          </p:nvPr>
        </p:nvSpPr>
        <p:spPr>
          <a:xfrm>
            <a:off x="1279700" y="1778200"/>
            <a:ext cx="98400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2200"/>
              <a:t>KPIs help you </a:t>
            </a:r>
            <a:r>
              <a:rPr b="1" lang="en-MY" sz="2200"/>
              <a:t>quantify performance</a:t>
            </a:r>
            <a:r>
              <a:rPr lang="en-MY" sz="2200"/>
              <a:t>. Examples include: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% of completed tasks vs planned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Number of open vs closed bugs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Sprint velocity (Agile)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Burn rate (cost over time)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Customer satisfaction or NPS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Time-to-market for features</a:t>
            </a:r>
            <a:br>
              <a:rPr lang="en-MY" sz="2200"/>
            </a:br>
            <a:endParaRPr sz="22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2200"/>
              <a:t>Choose KPIs that align with your project goals and update them regularly.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7dd053fb96_0_311"/>
          <p:cNvSpPr txBox="1"/>
          <p:nvPr>
            <p:ph type="title"/>
          </p:nvPr>
        </p:nvSpPr>
        <p:spPr>
          <a:xfrm>
            <a:off x="712787" y="3855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MY"/>
              <a:t>Summary &amp; Best Practices</a:t>
            </a:r>
            <a:endParaRPr/>
          </a:p>
        </p:txBody>
      </p:sp>
      <p:sp>
        <p:nvSpPr>
          <p:cNvPr id="599" name="Google Shape;599;g37dd053fb96_0_311"/>
          <p:cNvSpPr txBox="1"/>
          <p:nvPr>
            <p:ph idx="12" type="sldNum"/>
          </p:nvPr>
        </p:nvSpPr>
        <p:spPr>
          <a:xfrm>
            <a:off x="10637134" y="6432584"/>
            <a:ext cx="756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600" name="Google Shape;600;g37dd053fb96_0_311"/>
          <p:cNvSpPr txBox="1"/>
          <p:nvPr>
            <p:ph idx="1" type="body"/>
          </p:nvPr>
        </p:nvSpPr>
        <p:spPr>
          <a:xfrm>
            <a:off x="1279700" y="1778200"/>
            <a:ext cx="98400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2200"/>
              <a:t>To wrap up: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Use </a:t>
            </a:r>
            <a:r>
              <a:rPr b="1" lang="en-MY" sz="2200"/>
              <a:t>real-time monitoring</a:t>
            </a:r>
            <a:r>
              <a:rPr lang="en-MY" sz="2200"/>
              <a:t> to control deviations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Focus on </a:t>
            </a:r>
            <a:r>
              <a:rPr b="1" lang="en-MY" sz="2200"/>
              <a:t>preventive actions</a:t>
            </a:r>
            <a:r>
              <a:rPr lang="en-MY" sz="2200"/>
              <a:t>, not reactive fixes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Communicate consistently and clearly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Lato"/>
              <a:buChar char="●"/>
            </a:pPr>
            <a:r>
              <a:rPr lang="en-MY" sz="2200"/>
              <a:t>Balance flexibility with control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Char char="●"/>
            </a:pPr>
            <a:r>
              <a:rPr lang="en-MY" sz="2200"/>
              <a:t>Leverage </a:t>
            </a:r>
            <a:r>
              <a:rPr b="1" lang="en-MY" sz="2200"/>
              <a:t>tools and dashboards</a:t>
            </a:r>
            <a:r>
              <a:rPr lang="en-MY" sz="2200"/>
              <a:t> effectively</a:t>
            </a:r>
            <a:br>
              <a:rPr lang="en-MY" sz="2200"/>
            </a:br>
            <a:endParaRPr sz="22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MY" sz="2200"/>
              <a:t>Strong management control doesn’t slow down projects — it makes success repeatable and reliable.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</a:pPr>
            <a:r>
              <a:t/>
            </a:r>
            <a:endParaRPr b="1" sz="22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outdoor, sky, building, grass&#10;&#10;Description automatically generated" id="605" name="Google Shape;605;p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7645186" cy="6861429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12"/>
          <p:cNvSpPr txBox="1"/>
          <p:nvPr/>
        </p:nvSpPr>
        <p:spPr>
          <a:xfrm>
            <a:off x="7230171" y="1951631"/>
            <a:ext cx="4511452" cy="176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MY" sz="5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  <a:endParaRPr b="1" i="0" sz="5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07" name="Google Shape;60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08800" y="5785990"/>
            <a:ext cx="392887" cy="392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25030" y="5785990"/>
            <a:ext cx="392887" cy="392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7181" y="5788338"/>
            <a:ext cx="396963" cy="396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69641" y="5785990"/>
            <a:ext cx="392887" cy="392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53411" y="5785990"/>
            <a:ext cx="392887" cy="392887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2"/>
          <p:cNvSpPr txBox="1"/>
          <p:nvPr/>
        </p:nvSpPr>
        <p:spPr>
          <a:xfrm>
            <a:off x="7136987" y="5197713"/>
            <a:ext cx="4730605" cy="319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MY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www.utm.my</a:t>
            </a:r>
            <a:endParaRPr b="0" i="0" sz="18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3" name="Google Shape;613;p12"/>
          <p:cNvSpPr txBox="1"/>
          <p:nvPr/>
        </p:nvSpPr>
        <p:spPr>
          <a:xfrm>
            <a:off x="7136987" y="4916078"/>
            <a:ext cx="4730605" cy="3193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MY" sz="1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 the Name of God for Mankind</a:t>
            </a:r>
            <a:endParaRPr b="0" i="0" sz="14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 black and white logo&#10;&#10;Description automatically generated with low confidence" id="614" name="Google Shape;614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6582" y="4092848"/>
            <a:ext cx="1883012" cy="639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7E2551"/>
      </a:dk2>
      <a:lt2>
        <a:srgbClr val="E7E6E6"/>
      </a:lt2>
      <a:accent1>
        <a:srgbClr val="83233D"/>
      </a:accent1>
      <a:accent2>
        <a:srgbClr val="952C5E"/>
      </a:accent2>
      <a:accent3>
        <a:srgbClr val="BF996E"/>
      </a:accent3>
      <a:accent4>
        <a:srgbClr val="E8B783"/>
      </a:accent4>
      <a:accent5>
        <a:srgbClr val="E1C8B4"/>
      </a:accent5>
      <a:accent6>
        <a:srgbClr val="929292"/>
      </a:accent6>
      <a:hlink>
        <a:srgbClr val="5E5E5E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2021-08-03T04:10:00Z</dcterms:created>
  <dc:creator>Microsoft Office 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6A831531A5FD4A75B578DCEBE44BDDB4</vt:lpwstr>
  </property>
  <property fmtid="{D5CDD505-2E9C-101B-9397-08002B2CF9AE}" pid="3" name="KSOProductBuildVer">
    <vt:lpwstr>1033-11.2.0.10382</vt:lpwstr>
  </property>
</Properties>
</file>