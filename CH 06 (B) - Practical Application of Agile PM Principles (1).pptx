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2" strictFirstAndLastChars="0" saveSubsetFonts="1">
  <p:sldMasterIdLst>
    <p:sldMasterId id="2147483648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1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h8CqJt0kNg2LhRHFt3eXlIBrgN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1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636fb1ca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7636fb1ca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636fb1cab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7636fb1cab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636fb1ca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7636fb1ca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636fb1cab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7636fb1cab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636fb1cab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7636fb1cab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636fb1cab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7636fb1cab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636fb1cab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7636fb1cab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636fb1cab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7636fb1cab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636fb1cab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7636fb1cab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7636fb1cab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7636fb1cab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7636fb1cab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7636fb1cab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7636fb1cab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7636fb1cab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7636fb1cab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7636fb1cab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0" name="Google Shape;20;p9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9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9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25" name="Google Shape;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32" name="Google Shape;32;p10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33" name="Google Shape;33;p10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13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3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4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4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4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5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6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6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7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" name="Google Shape;55;p17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8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" name="Google Shape;63;p18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8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9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19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9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73" name="Google Shape;73;p19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0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3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3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3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4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4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24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24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86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725"/>
          </a:srgbClr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7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7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7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725"/>
          </a:srgbClr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8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8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8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28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9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62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0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5" name="Google Shape;135;p31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33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34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5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35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6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158" name="Google Shape;15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6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175" name="Google Shape;175;p12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176" name="Google Shape;176;p12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78" name="Google Shape;178;p37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7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7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7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7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83" name="Google Shape;18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38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8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8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9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39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40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0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Google Shape;201;p41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41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1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1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1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41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4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42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" name="Google Shape;210;p42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2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2" name="Google Shape;212;p4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42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3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3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43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4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43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220" name="Google Shape;220;p43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4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4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4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44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4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5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5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231" name="Google Shape;231;p4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2" name="Google Shape;23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47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7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7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4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8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48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8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9" name="Google Shape;249;p48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9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86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0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5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725"/>
          </a:srgbClr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1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1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51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725"/>
          </a:srgbClr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2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2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2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2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52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3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3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5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4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62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4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5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2" name="Google Shape;282;p55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5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57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58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9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59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59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0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6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3" name="Google Shape;303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60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305" name="Google Shape;30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60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61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1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7.xml"/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1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725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8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8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8" name="Google Shape;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725"/>
          </a:srgbClr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1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11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69" name="Google Shape;16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jpg"/><Relationship Id="rId4" Type="http://schemas.openxmlformats.org/officeDocument/2006/relationships/image" Target="../media/image27.png"/><Relationship Id="rId9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"/>
          <p:cNvSpPr txBox="1"/>
          <p:nvPr>
            <p:ph type="title"/>
          </p:nvPr>
        </p:nvSpPr>
        <p:spPr>
          <a:xfrm>
            <a:off x="584824" y="2120900"/>
            <a:ext cx="6198000" cy="26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DSDM Practise </a:t>
            </a:r>
            <a:r>
              <a:rPr lang="en-US" sz="4500"/>
              <a:t>: </a:t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3400"/>
              <a:t>Facilitated Workshops </a:t>
            </a:r>
            <a:endParaRPr sz="3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3400"/>
              <a:t>Modelling </a:t>
            </a:r>
            <a:endParaRPr sz="3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3400"/>
              <a:t>Iterative Development</a:t>
            </a:r>
            <a:endParaRPr sz="3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2"/>
          <p:cNvSpPr txBox="1"/>
          <p:nvPr>
            <p:ph type="title"/>
          </p:nvPr>
        </p:nvSpPr>
        <p:spPr>
          <a:xfrm>
            <a:off x="838200" y="564505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322" name="Google Shape;322;p2"/>
          <p:cNvSpPr txBox="1"/>
          <p:nvPr/>
        </p:nvSpPr>
        <p:spPr>
          <a:xfrm>
            <a:off x="838205" y="1830610"/>
            <a:ext cx="99084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●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Other DSDM Practices : 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Facilitated Workshops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Modelling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Iterative Development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636fb1cab_0_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g37636fb1cab_0_0"/>
          <p:cNvSpPr txBox="1"/>
          <p:nvPr>
            <p:ph type="title"/>
          </p:nvPr>
        </p:nvSpPr>
        <p:spPr>
          <a:xfrm>
            <a:off x="3476450" y="470550"/>
            <a:ext cx="4989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Facilitated Workshops</a:t>
            </a:r>
            <a:endParaRPr/>
          </a:p>
        </p:txBody>
      </p:sp>
      <p:sp>
        <p:nvSpPr>
          <p:cNvPr id="329" name="Google Shape;329;g37636fb1cab_0_0"/>
          <p:cNvSpPr txBox="1"/>
          <p:nvPr/>
        </p:nvSpPr>
        <p:spPr>
          <a:xfrm>
            <a:off x="728730" y="2262310"/>
            <a:ext cx="99084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Success Factors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Effective, trained, independent Workshop Facilitator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Flexibility in format, within clearly defined objectives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Thorough preparation (by Facilitator and Participants)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Ability to build in outputs from previous workshops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Decisions and agreements not forced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Workshop report distributed to participants soon afterwards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" name="Google Shape;330;g37636fb1cab_0_0"/>
          <p:cNvSpPr txBox="1"/>
          <p:nvPr/>
        </p:nvSpPr>
        <p:spPr>
          <a:xfrm>
            <a:off x="1017055" y="1272458"/>
            <a:ext cx="990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"A structured group meeting to enable participants to reach a predetermined objective in a compressed </a:t>
            </a:r>
            <a:r>
              <a:rPr i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 frame</a:t>
            </a:r>
            <a:r>
              <a:rPr b="0" i="1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, supported by a </a:t>
            </a:r>
            <a:r>
              <a:rPr b="1" i="1" lang="en-US" sz="2000" u="sng" cap="none" strike="noStrike">
                <a:solidFill>
                  <a:srgbClr val="002060"/>
                </a:solidFill>
                <a:latin typeface="Lato"/>
                <a:ea typeface="Lato"/>
                <a:cs typeface="Lato"/>
                <a:sym typeface="Lato"/>
              </a:rPr>
              <a:t>neutral facilitator</a:t>
            </a:r>
            <a:r>
              <a:rPr b="0" i="1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.”</a:t>
            </a:r>
            <a:endParaRPr b="0" i="1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1" name="Google Shape;331;g37636fb1ca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650" y="2900325"/>
            <a:ext cx="3530500" cy="170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636fb1cab_0_7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g37636fb1cab_0_76"/>
          <p:cNvSpPr txBox="1"/>
          <p:nvPr>
            <p:ph type="title"/>
          </p:nvPr>
        </p:nvSpPr>
        <p:spPr>
          <a:xfrm>
            <a:off x="3476450" y="470550"/>
            <a:ext cx="4989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Facilitated Workshops</a:t>
            </a:r>
            <a:endParaRPr/>
          </a:p>
        </p:txBody>
      </p:sp>
      <p:sp>
        <p:nvSpPr>
          <p:cNvPr id="338" name="Google Shape;338;g37636fb1cab_0_76"/>
          <p:cNvSpPr txBox="1"/>
          <p:nvPr/>
        </p:nvSpPr>
        <p:spPr>
          <a:xfrm>
            <a:off x="4848576" y="2621163"/>
            <a:ext cx="69537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Benefits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Rapid, high quality team decisions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Greater buy-in and ownership from all stakeholders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Clarification of issues and enhanced communication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Building team spirit and consensus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" name="Google Shape;339;g37636fb1cab_0_76"/>
          <p:cNvSpPr txBox="1"/>
          <p:nvPr/>
        </p:nvSpPr>
        <p:spPr>
          <a:xfrm>
            <a:off x="1017055" y="1272458"/>
            <a:ext cx="990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"A structured group meeting to enable participants to reach a predetermined objective in a compressed </a:t>
            </a:r>
            <a:r>
              <a:rPr i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 frame</a:t>
            </a:r>
            <a:r>
              <a:rPr b="0" i="1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, supported by a </a:t>
            </a:r>
            <a:r>
              <a:rPr b="1" i="1" lang="en-US" sz="2000" u="sng" cap="none" strike="noStrike">
                <a:solidFill>
                  <a:srgbClr val="002060"/>
                </a:solidFill>
                <a:latin typeface="Lato"/>
                <a:ea typeface="Lato"/>
                <a:cs typeface="Lato"/>
                <a:sym typeface="Lato"/>
              </a:rPr>
              <a:t>neutral facilitator</a:t>
            </a:r>
            <a:r>
              <a:rPr b="0" i="1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.”</a:t>
            </a:r>
            <a:endParaRPr b="0" i="1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0" name="Google Shape;340;g37636fb1cab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25" y="2553421"/>
            <a:ext cx="3659750" cy="2725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3"/>
          <p:cNvSpPr txBox="1"/>
          <p:nvPr>
            <p:ph type="title"/>
          </p:nvPr>
        </p:nvSpPr>
        <p:spPr>
          <a:xfrm>
            <a:off x="838200" y="5772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Modelling</a:t>
            </a:r>
            <a:endParaRPr/>
          </a:p>
        </p:txBody>
      </p:sp>
      <p:sp>
        <p:nvSpPr>
          <p:cNvPr id="347" name="Google Shape;347;p3"/>
          <p:cNvSpPr txBox="1"/>
          <p:nvPr/>
        </p:nvSpPr>
        <p:spPr>
          <a:xfrm>
            <a:off x="699125" y="2047275"/>
            <a:ext cx="62316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Visual representation of problem or solution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Description or analogy to help visualise something that cannot be directly observed.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 small but exact copy of something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 pattern or figure of something to be made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Often used to describe a set of diagrams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8" name="Google Shape;34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700" y="1930910"/>
            <a:ext cx="4169850" cy="32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636fb1cab_0_7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g37636fb1cab_0_7"/>
          <p:cNvSpPr txBox="1"/>
          <p:nvPr>
            <p:ph type="title"/>
          </p:nvPr>
        </p:nvSpPr>
        <p:spPr>
          <a:xfrm>
            <a:off x="838200" y="5772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Modelling</a:t>
            </a:r>
            <a:endParaRPr/>
          </a:p>
        </p:txBody>
      </p:sp>
      <p:sp>
        <p:nvSpPr>
          <p:cNvPr id="355" name="Google Shape;355;g37636fb1cab_0_7"/>
          <p:cNvSpPr txBox="1"/>
          <p:nvPr/>
        </p:nvSpPr>
        <p:spPr>
          <a:xfrm>
            <a:off x="667800" y="1379125"/>
            <a:ext cx="7414500" cy="4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Purpose of Modelling</a:t>
            </a:r>
            <a:endParaRPr b="1"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Improves communication and prompts the right questions.</a:t>
            </a:r>
            <a:endParaRPr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Helps confirm expectations, test achievability of objectives, and validate requirements.</a:t>
            </a:r>
            <a:endParaRPr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Makes solution elements visible early (e.g., diagrams, prototypes, mock-ups).</a:t>
            </a:r>
            <a:endParaRPr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Should only be detailed enough to serve the purpose—avoid unnecessary effort.</a:t>
            </a:r>
            <a:endParaRPr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Often involves </a:t>
            </a:r>
            <a:r>
              <a:rPr b="1"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abstraction</a:t>
            </a: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 omitting details to focus on specific aspects.</a:t>
            </a:r>
            <a:endParaRPr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Modelling Perspectives</a:t>
            </a:r>
            <a:endParaRPr b="1"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Provides a </a:t>
            </a:r>
            <a:r>
              <a:rPr b="1"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coherent picture of a solution area</a:t>
            </a: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Considers perspectives: </a:t>
            </a:r>
            <a:r>
              <a:rPr b="1"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What, How, Where, Who, When, Why</a:t>
            </a: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lang="en-US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Shows relationships between these perspectives.</a:t>
            </a:r>
            <a:endParaRPr sz="1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6" name="Google Shape;356;g37636fb1cab_0_7"/>
          <p:cNvPicPr preferRelativeResize="0"/>
          <p:nvPr/>
        </p:nvPicPr>
        <p:blipFill rotWithShape="1">
          <a:blip r:embed="rId3">
            <a:alphaModFix/>
          </a:blip>
          <a:srcRect b="0" l="0" r="10778" t="0"/>
          <a:stretch/>
        </p:blipFill>
        <p:spPr>
          <a:xfrm>
            <a:off x="8082300" y="2189125"/>
            <a:ext cx="3339350" cy="28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636fb1cab_0_2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g37636fb1cab_0_25"/>
          <p:cNvSpPr txBox="1"/>
          <p:nvPr>
            <p:ph type="title"/>
          </p:nvPr>
        </p:nvSpPr>
        <p:spPr>
          <a:xfrm>
            <a:off x="838200" y="5772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Modelling</a:t>
            </a:r>
            <a:endParaRPr/>
          </a:p>
        </p:txBody>
      </p:sp>
      <p:sp>
        <p:nvSpPr>
          <p:cNvPr id="363" name="Google Shape;363;g37636fb1cab_0_25"/>
          <p:cNvSpPr txBox="1"/>
          <p:nvPr/>
        </p:nvSpPr>
        <p:spPr>
          <a:xfrm>
            <a:off x="652150" y="1546225"/>
            <a:ext cx="6162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Diagram: Modelling Perspectives</a:t>
            </a:r>
            <a:endParaRPr b="1" sz="2000">
              <a:solidFill>
                <a:srgbClr val="4B473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A Venn diagram shows the six perspectives:</a:t>
            </a:r>
            <a:endParaRPr sz="2000">
              <a:solidFill>
                <a:srgbClr val="4B473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B473E"/>
              </a:buClr>
              <a:buSzPts val="2000"/>
              <a:buChar char="●"/>
            </a:pPr>
            <a:r>
              <a:rPr b="1"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WHAT</a:t>
            </a:r>
            <a:r>
              <a:rPr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 – Information within the solution area (data, relationships, business rules).</a:t>
            </a:r>
            <a:endParaRPr sz="2000">
              <a:solidFill>
                <a:srgbClr val="4B473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73E"/>
              </a:buClr>
              <a:buSzPts val="2000"/>
              <a:buChar char="●"/>
            </a:pPr>
            <a:r>
              <a:rPr b="1"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HOW</a:t>
            </a:r>
            <a:r>
              <a:rPr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 – Functions, features, and processes.</a:t>
            </a:r>
            <a:endParaRPr sz="2000">
              <a:solidFill>
                <a:srgbClr val="4B473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73E"/>
              </a:buClr>
              <a:buSzPts val="2000"/>
              <a:buChar char="●"/>
            </a:pPr>
            <a:r>
              <a:rPr b="1"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WHERE</a:t>
            </a:r>
            <a:r>
              <a:rPr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 – Locations of business operations (in relation to the solution).</a:t>
            </a:r>
            <a:endParaRPr sz="2000">
              <a:solidFill>
                <a:srgbClr val="4B473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73E"/>
              </a:buClr>
              <a:buSzPts val="2000"/>
              <a:buChar char="●"/>
            </a:pPr>
            <a:r>
              <a:rPr b="1"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WHO</a:t>
            </a:r>
            <a:r>
              <a:rPr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 – People (customers, users, stakeholders).</a:t>
            </a:r>
            <a:endParaRPr sz="2000">
              <a:solidFill>
                <a:srgbClr val="4B473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73E"/>
              </a:buClr>
              <a:buSzPts val="2000"/>
              <a:buChar char="●"/>
            </a:pPr>
            <a:r>
              <a:rPr b="1"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WHEN</a:t>
            </a:r>
            <a:r>
              <a:rPr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 – Events important to the business (time, scheduling).</a:t>
            </a:r>
            <a:endParaRPr sz="2000">
              <a:solidFill>
                <a:srgbClr val="4B473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73E"/>
              </a:buClr>
              <a:buSzPts val="2000"/>
              <a:buChar char="●"/>
            </a:pPr>
            <a:r>
              <a:rPr b="1"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WHY</a:t>
            </a:r>
            <a:r>
              <a:rPr lang="en-US" sz="2000">
                <a:solidFill>
                  <a:srgbClr val="4B473E"/>
                </a:solidFill>
                <a:latin typeface="Lato"/>
                <a:ea typeface="Lato"/>
                <a:cs typeface="Lato"/>
                <a:sym typeface="Lato"/>
              </a:rPr>
              <a:t> – Business objectives and strategy.</a:t>
            </a:r>
            <a:endParaRPr b="1" sz="2000">
              <a:solidFill>
                <a:srgbClr val="4B473E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4" name="Google Shape;364;g37636fb1cab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4150" y="1980725"/>
            <a:ext cx="4678676" cy="409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0" name="Google Shape;370;p4"/>
          <p:cNvSpPr txBox="1"/>
          <p:nvPr>
            <p:ph type="title"/>
          </p:nvPr>
        </p:nvSpPr>
        <p:spPr>
          <a:xfrm>
            <a:off x="838200" y="525355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Iterative Development</a:t>
            </a:r>
            <a:endParaRPr/>
          </a:p>
        </p:txBody>
      </p:sp>
      <p:sp>
        <p:nvSpPr>
          <p:cNvPr id="371" name="Google Shape;371;p4"/>
          <p:cNvSpPr txBox="1"/>
          <p:nvPr/>
        </p:nvSpPr>
        <p:spPr>
          <a:xfrm>
            <a:off x="652145" y="1546225"/>
            <a:ext cx="8392795" cy="2461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Solution evolves through cycles of iterative development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Each cycle moves solution from high-level concept closer to something with acknowledged business value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Each cycle should be: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As short as possible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Only as formal as necessary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Typically after an initial conversation, follow cycles of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" name="Google Shape;372;p4"/>
          <p:cNvSpPr txBox="1"/>
          <p:nvPr/>
        </p:nvSpPr>
        <p:spPr>
          <a:xfrm>
            <a:off x="838200" y="4589780"/>
            <a:ext cx="990854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Thought, Action and Conversation</a:t>
            </a:r>
            <a:endParaRPr b="1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5"/>
          <p:cNvSpPr txBox="1"/>
          <p:nvPr>
            <p:ph type="title"/>
          </p:nvPr>
        </p:nvSpPr>
        <p:spPr>
          <a:xfrm>
            <a:off x="838200" y="6065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Iterative Development</a:t>
            </a:r>
            <a:endParaRPr/>
          </a:p>
        </p:txBody>
      </p:sp>
      <p:sp>
        <p:nvSpPr>
          <p:cNvPr id="379" name="Google Shape;379;p5"/>
          <p:cNvSpPr txBox="1"/>
          <p:nvPr/>
        </p:nvSpPr>
        <p:spPr>
          <a:xfrm>
            <a:off x="633547" y="1500550"/>
            <a:ext cx="65163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Planning Iterative Development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Strategy decided during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Foundations phase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Large solution broken into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small manageable chunks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Work delivered in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Timeboxes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(short, fixed periods)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Each Timebox contains prioritized requirements/user stories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Benefits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Easier progress tracking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Faster delivery of usable increments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Reduced project risk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0" name="Google Shape;380;p5"/>
          <p:cNvPicPr preferRelativeResize="0"/>
          <p:nvPr/>
        </p:nvPicPr>
        <p:blipFill rotWithShape="1">
          <a:blip r:embed="rId3">
            <a:alphaModFix/>
          </a:blip>
          <a:srcRect b="0" l="10454" r="16488" t="3855"/>
          <a:stretch/>
        </p:blipFill>
        <p:spPr>
          <a:xfrm>
            <a:off x="7149850" y="1784400"/>
            <a:ext cx="4681876" cy="39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636fb1cab_0_34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g37636fb1cab_0_34"/>
          <p:cNvSpPr txBox="1"/>
          <p:nvPr>
            <p:ph type="title"/>
          </p:nvPr>
        </p:nvSpPr>
        <p:spPr>
          <a:xfrm>
            <a:off x="838200" y="6065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Iterative Development</a:t>
            </a:r>
            <a:endParaRPr/>
          </a:p>
        </p:txBody>
      </p:sp>
      <p:sp>
        <p:nvSpPr>
          <p:cNvPr id="387" name="Google Shape;387;g37636fb1cab_0_34"/>
          <p:cNvSpPr txBox="1"/>
          <p:nvPr/>
        </p:nvSpPr>
        <p:spPr>
          <a:xfrm>
            <a:off x="838190" y="1565505"/>
            <a:ext cx="99834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Controlling Iterative Development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Each cycle delivers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incremental improvements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Reviews may show: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Wrong evolution of solution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Changing business needs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New issues discovered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Configuration Management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ensures correct versions and stability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Benefits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Maintains solution integrity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Encourages flexibility and adaptability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8" name="Google Shape;388;g37636fb1cab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5506" y="1656131"/>
            <a:ext cx="3698300" cy="2518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7636fb1cab_0_4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g37636fb1cab_0_41"/>
          <p:cNvSpPr txBox="1"/>
          <p:nvPr>
            <p:ph type="title"/>
          </p:nvPr>
        </p:nvSpPr>
        <p:spPr>
          <a:xfrm>
            <a:off x="838200" y="6065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Iterative Development</a:t>
            </a:r>
            <a:endParaRPr/>
          </a:p>
        </p:txBody>
      </p:sp>
      <p:sp>
        <p:nvSpPr>
          <p:cNvPr id="395" name="Google Shape;395;g37636fb1cab_0_41"/>
          <p:cNvSpPr txBox="1"/>
          <p:nvPr/>
        </p:nvSpPr>
        <p:spPr>
          <a:xfrm>
            <a:off x="4392472" y="1486725"/>
            <a:ext cx="71658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Quality in Iterative Development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Core rule: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Never compromise quality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Quality defined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early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and verified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continuously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Verification methods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Reviews (static):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check documents, designs, code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Testing (dynamic):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run deliverables to confirm behavior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Benefits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Detects defects early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Builds stakeholder confidence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Ensures solution is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fit for purpose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6" name="Google Shape;396;g37636fb1cab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234098"/>
            <a:ext cx="3383400" cy="33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7636fb1cab_0_4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g37636fb1cab_0_48"/>
          <p:cNvSpPr txBox="1"/>
          <p:nvPr>
            <p:ph type="title"/>
          </p:nvPr>
        </p:nvSpPr>
        <p:spPr>
          <a:xfrm>
            <a:off x="838200" y="6065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Iterative Development</a:t>
            </a:r>
            <a:endParaRPr/>
          </a:p>
        </p:txBody>
      </p:sp>
      <p:sp>
        <p:nvSpPr>
          <p:cNvPr id="403" name="Google Shape;403;g37636fb1cab_0_48"/>
          <p:cNvSpPr txBox="1"/>
          <p:nvPr/>
        </p:nvSpPr>
        <p:spPr>
          <a:xfrm>
            <a:off x="838200" y="1519300"/>
            <a:ext cx="100206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Reviews &amp; Testing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Reviews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 from informal peer checks → structured formal reviews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Types of Tests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Positive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– confirm expected behavior 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Negative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– block invalid actions 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Unhappy Path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– test unusual cases 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Good tests include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Starting state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Set of actions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Expected outcome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Benefits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Improves reliability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Reduces risk of failure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4" name="Google Shape;404;g37636fb1cab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4806" y="2612156"/>
            <a:ext cx="3541175" cy="36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7636fb1cab_0_5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g37636fb1cab_0_55"/>
          <p:cNvSpPr txBox="1"/>
          <p:nvPr>
            <p:ph type="title"/>
          </p:nvPr>
        </p:nvSpPr>
        <p:spPr>
          <a:xfrm>
            <a:off x="838200" y="6065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Iterative Development</a:t>
            </a:r>
            <a:endParaRPr/>
          </a:p>
        </p:txBody>
      </p:sp>
      <p:sp>
        <p:nvSpPr>
          <p:cNvPr id="411" name="Google Shape;411;g37636fb1cab_0_55"/>
          <p:cNvSpPr txBox="1"/>
          <p:nvPr/>
        </p:nvSpPr>
        <p:spPr>
          <a:xfrm>
            <a:off x="838200" y="1661900"/>
            <a:ext cx="100206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Roles &amp; Responsibilities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Technical Coordinator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Ensures quality from technical perspective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Validates non-functional requirements are met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Oversees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technical reviews and rigorous testing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Solution Tester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Responsible for most testing activities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Exceptions: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■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Business acceptance testing → Business Ambassadors/Advisors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■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Unit testing → Solution Developers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Provides testing knowledge &amp; expertise to the team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636fb1cab_0_62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g37636fb1cab_0_62"/>
          <p:cNvSpPr txBox="1"/>
          <p:nvPr>
            <p:ph type="title"/>
          </p:nvPr>
        </p:nvSpPr>
        <p:spPr>
          <a:xfrm>
            <a:off x="838200" y="6065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Iterative Development</a:t>
            </a:r>
            <a:endParaRPr/>
          </a:p>
        </p:txBody>
      </p:sp>
      <p:sp>
        <p:nvSpPr>
          <p:cNvPr id="418" name="Google Shape;418;g37636fb1cab_0_62"/>
          <p:cNvSpPr txBox="1"/>
          <p:nvPr/>
        </p:nvSpPr>
        <p:spPr>
          <a:xfrm>
            <a:off x="909500" y="1608425"/>
            <a:ext cx="87015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Iterative Development &amp; Incremental Delivery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Each Timebox should ideally deliver a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potentially deployable increment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Testing integrated into development &amp; delivery process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Benefits: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Reduces project risks</a:t>
            </a:r>
            <a:endParaRPr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Supports early </a:t>
            </a:r>
            <a:r>
              <a:rPr b="1"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return on investment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through incremental delivery</a:t>
            </a:r>
            <a:endParaRPr b="1" sz="20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9" name="Google Shape;419;g37636fb1cab_0_62"/>
          <p:cNvPicPr preferRelativeResize="0"/>
          <p:nvPr/>
        </p:nvPicPr>
        <p:blipFill rotWithShape="1">
          <a:blip r:embed="rId3">
            <a:alphaModFix/>
          </a:blip>
          <a:srcRect b="12130" l="10918" r="8442" t="9610"/>
          <a:stretch/>
        </p:blipFill>
        <p:spPr>
          <a:xfrm>
            <a:off x="4590775" y="4471325"/>
            <a:ext cx="2581754" cy="208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7636fb1cab_0_6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g37636fb1cab_0_69"/>
          <p:cNvSpPr txBox="1"/>
          <p:nvPr>
            <p:ph type="title"/>
          </p:nvPr>
        </p:nvSpPr>
        <p:spPr>
          <a:xfrm>
            <a:off x="838200" y="6065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DSDM Practice: Iterative Development</a:t>
            </a:r>
            <a:endParaRPr/>
          </a:p>
        </p:txBody>
      </p:sp>
      <p:sp>
        <p:nvSpPr>
          <p:cNvPr id="426" name="Google Shape;426;g37636fb1cab_0_69"/>
          <p:cNvSpPr txBox="1"/>
          <p:nvPr/>
        </p:nvSpPr>
        <p:spPr>
          <a:xfrm>
            <a:off x="909500" y="1608425"/>
            <a:ext cx="87015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Investigate, Refine, Consolidate (IRC)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Used for each requirement/user story/product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Investigate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– understand details, define acceptance criteria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Refine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– develop and enhance solution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Consolidate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– converge on accurate solution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Helps avoid excessive iterations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Reviews scheduled within Timebox → maintain business focus &amp; stakeholder engagement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6"/>
          <p:cNvSpPr txBox="1"/>
          <p:nvPr>
            <p:ph type="title"/>
          </p:nvPr>
        </p:nvSpPr>
        <p:spPr>
          <a:xfrm>
            <a:off x="838200" y="494030"/>
            <a:ext cx="10515600" cy="802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on other practises?</a:t>
            </a:r>
            <a:endParaRPr/>
          </a:p>
        </p:txBody>
      </p:sp>
      <p:pic>
        <p:nvPicPr>
          <p:cNvPr id="433" name="Google Shape;4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4070" y="1672590"/>
            <a:ext cx="5484495" cy="4276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7636fb1cab_0_92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g37636fb1cab_0_92"/>
          <p:cNvSpPr txBox="1"/>
          <p:nvPr>
            <p:ph type="title"/>
          </p:nvPr>
        </p:nvSpPr>
        <p:spPr>
          <a:xfrm>
            <a:off x="838200" y="6353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440" name="Google Shape;440;g37636fb1cab_0_92"/>
          <p:cNvSpPr txBox="1"/>
          <p:nvPr/>
        </p:nvSpPr>
        <p:spPr>
          <a:xfrm>
            <a:off x="838200" y="1549150"/>
            <a:ext cx="11025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AutoNum type="arabicPeriod"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What is Iterative Development?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A practice where features are designed, developed and tested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A gated process where development can not begin until the finished design is complete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An early sample, model or release of a product to test a concept or process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The process and activity of planning, organizing, motivating and controlling resources to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achieve a specific goal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AutoNum type="arabicPeriod"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In a free format Timebox, which activity is carried out during the Iterative Development step?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Agree what work will be undertaken, agree priorities and accept the workload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Scheduled reviews of the work in progress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Formal acceptance of the Timebox deliverables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Workshop to learn from experience and to take action to improve future Timeboxes </a:t>
            </a:r>
            <a:endParaRPr sz="2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7636fb1cab_0_102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6" name="Google Shape;446;g37636fb1cab_0_102"/>
          <p:cNvSpPr txBox="1"/>
          <p:nvPr>
            <p:ph type="title"/>
          </p:nvPr>
        </p:nvSpPr>
        <p:spPr>
          <a:xfrm>
            <a:off x="838200" y="6353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447" name="Google Shape;447;g37636fb1cab_0_102"/>
          <p:cNvSpPr txBox="1"/>
          <p:nvPr/>
        </p:nvSpPr>
        <p:spPr>
          <a:xfrm>
            <a:off x="838200" y="1549150"/>
            <a:ext cx="11025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3.	During Iterative Development, which testing activity is the responsibility of the Solution Tester?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Business acceptance testing 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Unit testing of a feature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Ensuring that testing is sufficiently comprehensive 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Providing testing knowledge and expertise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4.	</a:t>
            </a: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When using Iterative Development, what should each cycle begin and end with?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Complete solution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Conversation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Facilitated Workshop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Timebox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7636fb1cab_0_10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g37636fb1cab_0_109"/>
          <p:cNvSpPr txBox="1"/>
          <p:nvPr>
            <p:ph type="title"/>
          </p:nvPr>
        </p:nvSpPr>
        <p:spPr>
          <a:xfrm>
            <a:off x="838200" y="635330"/>
            <a:ext cx="1051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454" name="Google Shape;454;g37636fb1cab_0_109"/>
          <p:cNvSpPr txBox="1"/>
          <p:nvPr/>
        </p:nvSpPr>
        <p:spPr>
          <a:xfrm>
            <a:off x="838200" y="1892300"/>
            <a:ext cx="11025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5. 	Identify the missing word(s) in the following sentence: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 DSDM project will always deliver a viable solution, as long as the practices of [?] and Timeboxing are followed.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Daily Stand-ups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MoSCoW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Iterative Development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Incremental Delivery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outdoor, sky, building, grass&#10;&#10;Description automatically generated" id="459" name="Google Shape;459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7"/>
          <p:cNvSpPr txBox="1"/>
          <p:nvPr/>
        </p:nvSpPr>
        <p:spPr>
          <a:xfrm>
            <a:off x="7645171" y="1863781"/>
            <a:ext cx="4511400" cy="17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b="1" i="0" sz="5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1" name="Google Shape;4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7350" y="5692040"/>
            <a:ext cx="392888" cy="39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23580" y="5692040"/>
            <a:ext cx="392888" cy="39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5731" y="5694388"/>
            <a:ext cx="396963" cy="39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8191" y="5692040"/>
            <a:ext cx="392888" cy="39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51961" y="5692040"/>
            <a:ext cx="392888" cy="39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7"/>
          <p:cNvSpPr txBox="1"/>
          <p:nvPr/>
        </p:nvSpPr>
        <p:spPr>
          <a:xfrm>
            <a:off x="7535537" y="5103763"/>
            <a:ext cx="4730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www.utm.my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" name="Google Shape;467;p7"/>
          <p:cNvSpPr txBox="1"/>
          <p:nvPr/>
        </p:nvSpPr>
        <p:spPr>
          <a:xfrm>
            <a:off x="7535537" y="4822128"/>
            <a:ext cx="4730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 Name of God for Mankind</a:t>
            </a:r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black and white logo&#10;&#10;Description automatically generated with low confidence" id="468" name="Google Shape;46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15132" y="3998898"/>
            <a:ext cx="1883012" cy="639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2021-08-03T04:10:00Z</dcterms:created>
  <dc:creator>Microsoft Office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DA7FECFCDF12431782345D57E3771F44</vt:lpwstr>
  </property>
  <property fmtid="{D5CDD505-2E9C-101B-9397-08002B2CF9AE}" pid="3" name="KSOProductBuildVer">
    <vt:lpwstr>1033-11.2.0.10382</vt:lpwstr>
  </property>
</Properties>
</file>