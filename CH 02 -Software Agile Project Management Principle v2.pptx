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2"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Lst>
  <p:sldSz cy="6858000" cx="12192000"/>
  <p:notesSz cx="6858000" cy="9144000"/>
  <p:embeddedFontLst>
    <p:embeddedFont>
      <p:font typeface="Roboto"/>
      <p:regular r:id="rId91"/>
      <p:bold r:id="rId92"/>
      <p:italic r:id="rId93"/>
      <p:boldItalic r:id="rId94"/>
    </p:embeddedFont>
    <p:embeddedFont>
      <p:font typeface="Lato"/>
      <p:regular r:id="rId95"/>
      <p:bold r:id="rId96"/>
      <p:italic r:id="rId97"/>
      <p:boldItalic r:id="rId98"/>
    </p:embeddedFont>
    <p:embeddedFont>
      <p:font typeface="Poppins"/>
      <p:regular r:id="rId99"/>
      <p:bold r:id="rId100"/>
      <p:italic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103" roundtripDataSignature="AMtx7mgkgpEjDlfxhKnAEtOpEWXFKQBU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BCBC6A-71F0-4B33-AA21-A7A63AB5A51B}">
  <a:tblStyle styleId="{A9BCBC6A-71F0-4B33-AA21-A7A63AB5A51B}"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customschemas.google.com/relationships/presentationmetadata" Target="metadata"/><Relationship Id="rId102" Type="http://schemas.openxmlformats.org/officeDocument/2006/relationships/font" Target="fonts/Poppins-boldItalic.fntdata"/><Relationship Id="rId101" Type="http://schemas.openxmlformats.org/officeDocument/2006/relationships/font" Target="fonts/Poppins-italic.fntdata"/><Relationship Id="rId100" Type="http://schemas.openxmlformats.org/officeDocument/2006/relationships/font" Target="fonts/Poppins-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Lato-regular.fntdata"/><Relationship Id="rId94" Type="http://schemas.openxmlformats.org/officeDocument/2006/relationships/font" Target="fonts/Roboto-boldItalic.fntdata"/><Relationship Id="rId97" Type="http://schemas.openxmlformats.org/officeDocument/2006/relationships/font" Target="fonts/Lato-italic.fntdata"/><Relationship Id="rId96" Type="http://schemas.openxmlformats.org/officeDocument/2006/relationships/font" Target="fonts/Lato-bold.fntdata"/><Relationship Id="rId11" Type="http://schemas.openxmlformats.org/officeDocument/2006/relationships/slide" Target="slides/slide5.xml"/><Relationship Id="rId99" Type="http://schemas.openxmlformats.org/officeDocument/2006/relationships/font" Target="fonts/Poppins-regular.fntdata"/><Relationship Id="rId10" Type="http://schemas.openxmlformats.org/officeDocument/2006/relationships/slide" Target="slides/slide4.xml"/><Relationship Id="rId98"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oboto-regular.fntdata"/><Relationship Id="rId90" Type="http://schemas.openxmlformats.org/officeDocument/2006/relationships/slide" Target="slides/slide84.xml"/><Relationship Id="rId93" Type="http://schemas.openxmlformats.org/officeDocument/2006/relationships/font" Target="fonts/Roboto-italic.fntdata"/><Relationship Id="rId92" Type="http://schemas.openxmlformats.org/officeDocument/2006/relationships/font" Target="fonts/Roboto-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MY"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tlassian.com/agile/project-management/user-stories"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tlassian.com/agile/project-management/user-stories"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e47e7728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7e47e7728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7e47e7728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MY"/>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e47e77286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7e47e77286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e47e77286_0_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7e47e77286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7e47e77286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7e47e77286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e47e77286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7e47e77286_0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e47e77286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g37e47e77286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e47e77286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7e47e77286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e47e77286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37e47e77286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7e47e77286_0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37e47e77286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e47e77286_0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37e47e77286_0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e47e77286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37e47e77286_0_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7e47e77286_0_2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7e47e77286_0_2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e47e77286_0_2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37e47e77286_0_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e47e77286_0_2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7e47e77286_0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7e47e77286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g37e47e77286_0_2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e47e77286_0_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g37e47e77286_0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e47e77286_0_2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g37e47e77286_0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7e47e77286_0_3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37e47e77286_0_3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e47e77286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7e47e77286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7e47e77286_0_3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37e47e77286_0_3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7e47e77286_0_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g37e47e77286_0_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e47e77286_0_3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37e47e77286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7e47e77286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g37e47e77286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7e47e77286_0_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7e47e77286_0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7e47e77286_0_3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g37e47e77286_0_3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7e47e77286_0_3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g37e47e77286_0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7e47e77286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7e47e77286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37e47e77286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MY"/>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7e47e77286_0_3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37e47e77286_0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7e47e77286_0_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7e47e77286_0_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7e47e77286_0_3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g37e47e77286_0_3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7e47e77286_0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g37e47e77286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7e47e77286_0_4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g37e47e77286_0_4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7e47e77286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g37e47e77286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7e47e77286_0_4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g37e47e77286_0_4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7e47e77286_0_4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37e47e77286_0_4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7e47e77286_0_4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g37e47e77286_0_4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7e47e77286_0_4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g37e47e77286_0_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7e47e77286_0_4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7e47e77286_0_4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7e47e77286_0_4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g37e47e77286_0_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7e47e77286_0_4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g37e47e77286_0_4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7e47e77286_0_4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g37e47e77286_0_4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e47e77286_0_4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g37e47e77286_0_4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7e47e77286_0_4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g37e47e77286_0_4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7e47e77286_0_4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7e47e77286_0_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7e47e77286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g37e47e77286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g37e47e77286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MY"/>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7e47e77286_0_4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g37e47e77286_0_4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7e47e77286_0_5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g37e47e77286_0_5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7e47e77286_0_5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g37e47e77286_0_5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7e47e77286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7e47e77286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7e47e77286_0_5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g37e47e77286_0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7e47e77286_0_5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37e47e77286_0_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7e47e77286_0_5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g37e47e77286_0_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7e47e77286_0_5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g37e47e77286_0_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7e47e77286_0_5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7e47e77286_0_5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7e47e77286_0_5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g37e47e77286_0_5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7e47e77286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g37e47e77286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7e47e77286_0_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g37e47e77286_0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7e47e77286_0_5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g37e47e77286_0_5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7e47e77286_0_5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7e47e77286_0_5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7e47e77286_0_5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8" name="Google Shape;588;g37e47e77286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7e47e77286_0_6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7e47e77286_0_6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7e47e77286_0_6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2" name="Google Shape;602;g37e47e77286_0_6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7e47e77286_0_6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g37e47e77286_0_6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7e47e77286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7e47e77286_0_1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g37e47e77286_0_1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MY"/>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7e47e77286_0_6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MY"/>
              <a:t>Reference:</a:t>
            </a:r>
            <a:endParaRPr/>
          </a:p>
          <a:p>
            <a:pPr indent="0" lvl="0" marL="0" rtl="0" algn="l">
              <a:lnSpc>
                <a:spcPct val="100000"/>
              </a:lnSpc>
              <a:spcBef>
                <a:spcPts val="0"/>
              </a:spcBef>
              <a:spcAft>
                <a:spcPts val="0"/>
              </a:spcAft>
              <a:buSzPts val="1400"/>
              <a:buNone/>
            </a:pPr>
            <a:r>
              <a:rPr lang="en-MY" u="sng">
                <a:solidFill>
                  <a:schemeClr val="hlink"/>
                </a:solidFill>
                <a:hlinkClick r:id="rId2"/>
              </a:rPr>
              <a:t>User Stories | Examples and Template | Atlassian</a:t>
            </a:r>
            <a:endParaRPr/>
          </a:p>
          <a:p>
            <a:pPr indent="0" lvl="0" marL="0" rtl="0" algn="l">
              <a:lnSpc>
                <a:spcPct val="100000"/>
              </a:lnSpc>
              <a:spcBef>
                <a:spcPts val="0"/>
              </a:spcBef>
              <a:spcAft>
                <a:spcPts val="0"/>
              </a:spcAft>
              <a:buSzPts val="1400"/>
              <a:buNone/>
            </a:pPr>
            <a:r>
              <a:t/>
            </a:r>
            <a:endParaRPr/>
          </a:p>
        </p:txBody>
      </p:sp>
      <p:sp>
        <p:nvSpPr>
          <p:cNvPr id="623" name="Google Shape;623;g37e47e77286_0_6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MY"/>
              <a:t>Reference:</a:t>
            </a:r>
            <a:endParaRPr/>
          </a:p>
          <a:p>
            <a:pPr indent="0" lvl="0" marL="0" rtl="0" algn="l">
              <a:lnSpc>
                <a:spcPct val="100000"/>
              </a:lnSpc>
              <a:spcBef>
                <a:spcPts val="0"/>
              </a:spcBef>
              <a:spcAft>
                <a:spcPts val="0"/>
              </a:spcAft>
              <a:buSzPts val="1400"/>
              <a:buNone/>
            </a:pPr>
            <a:r>
              <a:rPr lang="en-MY" u="sng">
                <a:solidFill>
                  <a:schemeClr val="hlink"/>
                </a:solidFill>
                <a:hlinkClick r:id="rId2"/>
              </a:rPr>
              <a:t>User Stories | Examples and Template | Atlassian</a:t>
            </a:r>
            <a:endParaRPr/>
          </a:p>
          <a:p>
            <a:pPr indent="0" lvl="0" marL="0" rtl="0" algn="l">
              <a:lnSpc>
                <a:spcPct val="100000"/>
              </a:lnSpc>
              <a:spcBef>
                <a:spcPts val="0"/>
              </a:spcBef>
              <a:spcAft>
                <a:spcPts val="0"/>
              </a:spcAft>
              <a:buSzPts val="1400"/>
              <a:buNone/>
            </a:pPr>
            <a:r>
              <a:t/>
            </a:r>
            <a:endParaRPr/>
          </a:p>
        </p:txBody>
      </p:sp>
      <p:sp>
        <p:nvSpPr>
          <p:cNvPr id="630" name="Google Shape;6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7e47e77286_0_6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7e47e77286_0_6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7e47e77286_0_6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7e47e77286_0_6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2" name="Google Shape;6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7e47e77286_0_6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g37e47e77286_0_6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7e47e77286_0_6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g37e47e77286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7e47e77286_0_6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7" name="Google Shape;697;g37e47e77286_0_6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7e47e77286_0_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1" lang="en-MY"/>
              <a:t>User Story Mapping – Easy Examples</a:t>
            </a:r>
            <a:endParaRPr/>
          </a:p>
          <a:p>
            <a:pPr indent="-228600" lvl="0" marL="457200" marR="0" rtl="0" algn="l">
              <a:lnSpc>
                <a:spcPct val="100000"/>
              </a:lnSpc>
              <a:spcBef>
                <a:spcPts val="0"/>
              </a:spcBef>
              <a:spcAft>
                <a:spcPts val="0"/>
              </a:spcAft>
              <a:buClr>
                <a:srgbClr val="000000"/>
              </a:buClr>
              <a:buSzPts val="1400"/>
              <a:buFont typeface="Arial"/>
              <a:buNone/>
            </a:pPr>
            <a:r>
              <a:rPr b="1" lang="en-MY"/>
              <a:t>Visual practice for organizing work</a:t>
            </a:r>
            <a:br>
              <a:rPr lang="en-MY"/>
            </a:br>
            <a:r>
              <a:rPr lang="en-MY"/>
              <a:t>👉 Example: Arrange stories like </a:t>
            </a:r>
            <a:r>
              <a:rPr i="1" lang="en-MY"/>
              <a:t>“Login” → “View Account” → “Transfer Money” → “View Transaction History”</a:t>
            </a:r>
            <a:r>
              <a:rPr lang="en-MY"/>
              <a:t> in sequence, so the team sees the </a:t>
            </a:r>
            <a:r>
              <a:rPr b="1" lang="en-MY"/>
              <a:t>user journey</a:t>
            </a:r>
            <a:r>
              <a:rPr lang="en-MY"/>
              <a:t> clearly.</a:t>
            </a:r>
            <a:endParaRPr/>
          </a:p>
          <a:p>
            <a:pPr indent="-228600" lvl="0" marL="457200" marR="0" rtl="0" algn="l">
              <a:lnSpc>
                <a:spcPct val="100000"/>
              </a:lnSpc>
              <a:spcBef>
                <a:spcPts val="0"/>
              </a:spcBef>
              <a:spcAft>
                <a:spcPts val="0"/>
              </a:spcAft>
              <a:buClr>
                <a:srgbClr val="000000"/>
              </a:buClr>
              <a:buSzPts val="1400"/>
              <a:buFont typeface="Arial"/>
              <a:buNone/>
            </a:pPr>
            <a:r>
              <a:rPr b="1" lang="en-MY"/>
              <a:t>Helps identify sets of high-value features</a:t>
            </a:r>
            <a:br>
              <a:rPr lang="en-MY"/>
            </a:br>
            <a:r>
              <a:rPr lang="en-MY"/>
              <a:t>👉 Example: Group stories like </a:t>
            </a:r>
            <a:r>
              <a:rPr i="1" lang="en-MY"/>
              <a:t>“Transfer Money” + “Bill Payment” + “Fund Transfer to Other Bank”</a:t>
            </a:r>
            <a:r>
              <a:rPr lang="en-MY"/>
              <a:t> as </a:t>
            </a:r>
            <a:r>
              <a:rPr b="1" lang="en-MY"/>
              <a:t>high-value</a:t>
            </a:r>
            <a:r>
              <a:rPr lang="en-MY"/>
              <a:t> features for release since they’re core to banking.</a:t>
            </a:r>
            <a:endParaRPr/>
          </a:p>
          <a:p>
            <a:pPr indent="-228600" lvl="0" marL="457200" marR="0" rtl="0" algn="l">
              <a:lnSpc>
                <a:spcPct val="100000"/>
              </a:lnSpc>
              <a:spcBef>
                <a:spcPts val="0"/>
              </a:spcBef>
              <a:spcAft>
                <a:spcPts val="0"/>
              </a:spcAft>
              <a:buClr>
                <a:srgbClr val="000000"/>
              </a:buClr>
              <a:buSzPts val="1400"/>
              <a:buFont typeface="Arial"/>
              <a:buNone/>
            </a:pPr>
            <a:r>
              <a:rPr b="1" lang="en-MY"/>
              <a:t>Detects omissions in backlog</a:t>
            </a:r>
            <a:br>
              <a:rPr lang="en-MY"/>
            </a:br>
            <a:r>
              <a:rPr lang="en-MY"/>
              <a:t>👉 Example: While mapping, the team realizes they forgot </a:t>
            </a:r>
            <a:r>
              <a:rPr i="1" lang="en-MY"/>
              <a:t>“Error messages for failed transactions”</a:t>
            </a:r>
            <a:r>
              <a:rPr lang="en-MY"/>
              <a:t>. Mapping helps catch what’s missing.</a:t>
            </a:r>
            <a:endParaRPr/>
          </a:p>
          <a:p>
            <a:pPr indent="-228600" lvl="0" marL="457200" marR="0" rtl="0" algn="l">
              <a:lnSpc>
                <a:spcPct val="100000"/>
              </a:lnSpc>
              <a:spcBef>
                <a:spcPts val="0"/>
              </a:spcBef>
              <a:spcAft>
                <a:spcPts val="0"/>
              </a:spcAft>
              <a:buClr>
                <a:srgbClr val="000000"/>
              </a:buClr>
              <a:buSzPts val="1400"/>
              <a:buFont typeface="Arial"/>
              <a:buNone/>
            </a:pPr>
            <a:r>
              <a:rPr b="1" lang="en-MY"/>
              <a:t>Supports effective release planning</a:t>
            </a:r>
            <a:br>
              <a:rPr lang="en-MY"/>
            </a:br>
            <a:r>
              <a:rPr lang="en-MY"/>
              <a:t>👉 Example: Plan Release 1 with </a:t>
            </a:r>
            <a:r>
              <a:rPr i="1" lang="en-MY"/>
              <a:t>“Login, View Balance, Transfer Money”</a:t>
            </a:r>
            <a:r>
              <a:rPr lang="en-MY"/>
              <a:t> (core banking). Release 2 can include </a:t>
            </a:r>
            <a:r>
              <a:rPr i="1" lang="en-MY"/>
              <a:t>“Bill Payments, Notifications”</a:t>
            </a:r>
            <a:r>
              <a:rPr lang="en-MY"/>
              <a:t>. Mapping helps decide </a:t>
            </a:r>
            <a:r>
              <a:rPr b="1" lang="en-MY"/>
              <a:t>what to release first</a:t>
            </a:r>
            <a:r>
              <a:rPr lang="en-MY"/>
              <a:t>.</a:t>
            </a:r>
            <a:endParaRPr/>
          </a:p>
          <a:p>
            <a:pPr indent="0" lvl="0" marL="0" rtl="0" algn="l">
              <a:lnSpc>
                <a:spcPct val="100000"/>
              </a:lnSpc>
              <a:spcBef>
                <a:spcPts val="0"/>
              </a:spcBef>
              <a:spcAft>
                <a:spcPts val="0"/>
              </a:spcAft>
              <a:buSzPts val="1400"/>
              <a:buNone/>
            </a:pPr>
            <a:r>
              <a:t/>
            </a:r>
            <a:endParaRPr/>
          </a:p>
        </p:txBody>
      </p:sp>
      <p:sp>
        <p:nvSpPr>
          <p:cNvPr id="704" name="Google Shape;704;g37e47e77286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7e47e77286_0_6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7e47e77286_0_6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7e47e77286_0_6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g37e47e77286_0_6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7e47e77286_0_6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7" name="Google Shape;727;g37e47e77286_0_6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7e47e77286_0_6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7e47e77286_0_6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7e47e77286_0_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7e47e77286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7e47e77286_0_7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7e47e77286_0_7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9.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1" showMasterSp="0">
  <p:cSld name="Layout01">
    <p:spTree>
      <p:nvGrpSpPr>
        <p:cNvPr id="19" name="Shape 19"/>
        <p:cNvGrpSpPr/>
        <p:nvPr/>
      </p:nvGrpSpPr>
      <p:grpSpPr>
        <a:xfrm>
          <a:off x="0" y="0"/>
          <a:ext cx="0" cy="0"/>
          <a:chOff x="0" y="0"/>
          <a:chExt cx="0" cy="0"/>
        </a:xfrm>
      </p:grpSpPr>
      <p:pic>
        <p:nvPicPr>
          <p:cNvPr descr="Background pattern&#10;&#10;Description automatically generated" id="20" name="Google Shape;20;p14"/>
          <p:cNvPicPr preferRelativeResize="0"/>
          <p:nvPr/>
        </p:nvPicPr>
        <p:blipFill rotWithShape="1">
          <a:blip r:embed="rId2">
            <a:alphaModFix amt="63000"/>
          </a:blip>
          <a:srcRect b="0" l="0" r="0" t="0"/>
          <a:stretch/>
        </p:blipFill>
        <p:spPr>
          <a:xfrm flipH="1" rot="10800000">
            <a:off x="1390488" y="0"/>
            <a:ext cx="10801512" cy="6858000"/>
          </a:xfrm>
          <a:prstGeom prst="rect">
            <a:avLst/>
          </a:prstGeom>
          <a:noFill/>
          <a:ln>
            <a:noFill/>
          </a:ln>
        </p:spPr>
      </p:pic>
      <p:sp>
        <p:nvSpPr>
          <p:cNvPr id="21" name="Google Shape;21;p14"/>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 name="Google Shape;22;p14"/>
          <p:cNvSpPr/>
          <p:nvPr/>
        </p:nvSpPr>
        <p:spPr>
          <a:xfrm flipH="1" rot="10800000">
            <a:off x="2395148" y="-4501"/>
            <a:ext cx="4843223" cy="6862501"/>
          </a:xfrm>
          <a:custGeom>
            <a:rect b="b" l="l" r="r" t="t"/>
            <a:pathLst>
              <a:path extrusionOk="0" h="6834887" w="3347129">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4"/>
          <p:cNvSpPr txBox="1"/>
          <p:nvPr>
            <p:ph type="title"/>
          </p:nvPr>
        </p:nvSpPr>
        <p:spPr>
          <a:xfrm>
            <a:off x="584603" y="2120702"/>
            <a:ext cx="4120911" cy="264429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 name="Google Shape;24;p14"/>
          <p:cNvSpPr/>
          <p:nvPr/>
        </p:nvSpPr>
        <p:spPr>
          <a:xfrm rot="5400000">
            <a:off x="-765719" y="3361414"/>
            <a:ext cx="1662113" cy="130676"/>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25" name="Google Shape;25;p14"/>
          <p:cNvPicPr preferRelativeResize="0"/>
          <p:nvPr/>
        </p:nvPicPr>
        <p:blipFill rotWithShape="1">
          <a:blip r:embed="rId3">
            <a:alphaModFix/>
          </a:blip>
          <a:srcRect b="0" l="0" r="0" t="0"/>
          <a:stretch/>
        </p:blipFill>
        <p:spPr>
          <a:xfrm>
            <a:off x="9371467" y="404628"/>
            <a:ext cx="2133841" cy="720849"/>
          </a:xfrm>
          <a:prstGeom prst="rect">
            <a:avLst/>
          </a:prstGeom>
          <a:noFill/>
          <a:ln>
            <a:noFill/>
          </a:ln>
        </p:spPr>
      </p:pic>
      <p:pic>
        <p:nvPicPr>
          <p:cNvPr id="26" name="Google Shape;26;p14"/>
          <p:cNvPicPr preferRelativeResize="0"/>
          <p:nvPr/>
        </p:nvPicPr>
        <p:blipFill rotWithShape="1">
          <a:blip r:embed="rId4">
            <a:alphaModFix/>
          </a:blip>
          <a:srcRect b="0" l="0" r="0" t="0"/>
          <a:stretch/>
        </p:blipFill>
        <p:spPr>
          <a:xfrm>
            <a:off x="8044256" y="6511235"/>
            <a:ext cx="3922822" cy="2198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
                                        </p:tgtEl>
                                        <p:attrNameLst>
                                          <p:attrName>style.visibility</p:attrName>
                                        </p:attrNameLst>
                                      </p:cBhvr>
                                      <p:to>
                                        <p:strVal val="visible"/>
                                      </p:to>
                                    </p:set>
                                    <p:animEffect filter="fade" transition="in">
                                      <p:cBhvr>
                                        <p:cTn dur="500"/>
                                        <p:tgtEl>
                                          <p:spTgt spid="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6">
  <p:cSld name="Layout06">
    <p:spTree>
      <p:nvGrpSpPr>
        <p:cNvPr id="27" name="Shape 27"/>
        <p:cNvGrpSpPr/>
        <p:nvPr/>
      </p:nvGrpSpPr>
      <p:grpSpPr>
        <a:xfrm>
          <a:off x="0" y="0"/>
          <a:ext cx="0" cy="0"/>
          <a:chOff x="0" y="0"/>
          <a:chExt cx="0" cy="0"/>
        </a:xfrm>
      </p:grpSpPr>
      <p:cxnSp>
        <p:nvCxnSpPr>
          <p:cNvPr id="28" name="Google Shape;28;p15"/>
          <p:cNvCxnSpPr/>
          <p:nvPr/>
        </p:nvCxnSpPr>
        <p:spPr>
          <a:xfrm>
            <a:off x="480645" y="1465384"/>
            <a:ext cx="11711354" cy="0"/>
          </a:xfrm>
          <a:prstGeom prst="straightConnector1">
            <a:avLst/>
          </a:prstGeom>
          <a:noFill/>
          <a:ln cap="flat" cmpd="sng" w="9525">
            <a:solidFill>
              <a:schemeClr val="accent1"/>
            </a:solidFill>
            <a:prstDash val="solid"/>
            <a:miter lim="800000"/>
            <a:headEnd len="sm" w="sm" type="none"/>
            <a:tailEnd len="sm" w="sm" type="none"/>
          </a:ln>
        </p:spPr>
      </p:cxnSp>
      <p:sp>
        <p:nvSpPr>
          <p:cNvPr id="29" name="Google Shape;29;p15"/>
          <p:cNvSpPr txBox="1"/>
          <p:nvPr>
            <p:ph type="title"/>
          </p:nvPr>
        </p:nvSpPr>
        <p:spPr>
          <a:xfrm>
            <a:off x="712787" y="38556"/>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15"/>
          <p:cNvSpPr txBox="1"/>
          <p:nvPr>
            <p:ph idx="1" type="body"/>
          </p:nvPr>
        </p:nvSpPr>
        <p:spPr>
          <a:xfrm>
            <a:off x="839788" y="1828799"/>
            <a:ext cx="10261599" cy="67627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595959"/>
              </a:buClr>
              <a:buSzPts val="1600"/>
              <a:buNone/>
              <a:defRPr b="0" i="0" sz="1600">
                <a:latin typeface="Lato"/>
                <a:ea typeface="Lato"/>
                <a:cs typeface="Lato"/>
                <a:sym typeface="Lato"/>
              </a:defRPr>
            </a:lvl1pPr>
            <a:lvl2pPr indent="-228600" lvl="1" marL="914400" algn="l">
              <a:lnSpc>
                <a:spcPct val="90000"/>
              </a:lnSpc>
              <a:spcBef>
                <a:spcPts val="500"/>
              </a:spcBef>
              <a:spcAft>
                <a:spcPts val="0"/>
              </a:spcAft>
              <a:buClr>
                <a:srgbClr val="595959"/>
              </a:buClr>
              <a:buSzPts val="2000"/>
              <a:buNone/>
              <a:defRPr b="1" sz="2000"/>
            </a:lvl2pPr>
            <a:lvl3pPr indent="-228600" lvl="2" marL="1371600" algn="l">
              <a:lnSpc>
                <a:spcPct val="90000"/>
              </a:lnSpc>
              <a:spcBef>
                <a:spcPts val="500"/>
              </a:spcBef>
              <a:spcAft>
                <a:spcPts val="0"/>
              </a:spcAft>
              <a:buClr>
                <a:srgbClr val="595959"/>
              </a:buClr>
              <a:buSzPts val="1800"/>
              <a:buNone/>
              <a:defRPr b="1" sz="1800"/>
            </a:lvl3pPr>
            <a:lvl4pPr indent="-228600" lvl="3" marL="1828800" algn="l">
              <a:lnSpc>
                <a:spcPct val="90000"/>
              </a:lnSpc>
              <a:spcBef>
                <a:spcPts val="500"/>
              </a:spcBef>
              <a:spcAft>
                <a:spcPts val="0"/>
              </a:spcAft>
              <a:buClr>
                <a:srgbClr val="595959"/>
              </a:buClr>
              <a:buSzPts val="1600"/>
              <a:buNone/>
              <a:defRPr b="1" sz="1600"/>
            </a:lvl4pPr>
            <a:lvl5pPr indent="-228600" lvl="4" marL="2286000" algn="l">
              <a:lnSpc>
                <a:spcPct val="90000"/>
              </a:lnSpc>
              <a:spcBef>
                <a:spcPts val="500"/>
              </a:spcBef>
              <a:spcAft>
                <a:spcPts val="0"/>
              </a:spcAft>
              <a:buClr>
                <a:srgbClr val="595959"/>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 name="Google Shape;31;p1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2" name="Google Shape;32;p15"/>
          <p:cNvSpPr/>
          <p:nvPr/>
        </p:nvSpPr>
        <p:spPr>
          <a:xfrm>
            <a:off x="0" y="1383280"/>
            <a:ext cx="2128058" cy="16625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0">
  <p:cSld name="Layout10">
    <p:spTree>
      <p:nvGrpSpPr>
        <p:cNvPr id="33" name="Shape 33"/>
        <p:cNvGrpSpPr/>
        <p:nvPr/>
      </p:nvGrpSpPr>
      <p:grpSpPr>
        <a:xfrm>
          <a:off x="0" y="0"/>
          <a:ext cx="0" cy="0"/>
          <a:chOff x="0" y="0"/>
          <a:chExt cx="0" cy="0"/>
        </a:xfrm>
      </p:grpSpPr>
      <p:sp>
        <p:nvSpPr>
          <p:cNvPr id="34" name="Google Shape;34;p26"/>
          <p:cNvSpPr/>
          <p:nvPr/>
        </p:nvSpPr>
        <p:spPr>
          <a:xfrm>
            <a:off x="0" y="-13856"/>
            <a:ext cx="8423564" cy="6871855"/>
          </a:xfrm>
          <a:custGeom>
            <a:rect b="b" l="l" r="r" t="t"/>
            <a:pathLst>
              <a:path extrusionOk="0" h="6871855" w="8423564">
                <a:moveTo>
                  <a:pt x="0" y="13855"/>
                </a:moveTo>
                <a:lnTo>
                  <a:pt x="8423564"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 name="Google Shape;35;p26"/>
          <p:cNvSpPr txBox="1"/>
          <p:nvPr>
            <p:ph type="title"/>
          </p:nvPr>
        </p:nvSpPr>
        <p:spPr>
          <a:xfrm>
            <a:off x="7120335" y="4237932"/>
            <a:ext cx="4677218" cy="1878998"/>
          </a:xfrm>
          <a:prstGeom prst="rect">
            <a:avLst/>
          </a:prstGeom>
          <a:noFill/>
          <a:ln>
            <a:noFill/>
          </a:ln>
        </p:spPr>
        <p:txBody>
          <a:bodyPr anchorCtr="0" anchor="ctr" bIns="45700" lIns="91425" spcFirstLastPara="1" rIns="91425" wrap="square" tIns="4570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6" name="Google Shape;36;p26"/>
          <p:cNvSpPr/>
          <p:nvPr>
            <p:ph idx="2" type="pic"/>
          </p:nvPr>
        </p:nvSpPr>
        <p:spPr>
          <a:xfrm>
            <a:off x="0" y="-13856"/>
            <a:ext cx="7647882" cy="6871856"/>
          </a:xfrm>
          <a:prstGeom prst="parallelogram">
            <a:avLst>
              <a:gd fmla="val 33669" name="adj"/>
            </a:avLst>
          </a:prstGeom>
          <a:noFill/>
          <a:ln>
            <a:noFill/>
          </a:ln>
        </p:spPr>
      </p:sp>
      <p:sp>
        <p:nvSpPr>
          <p:cNvPr id="37" name="Google Shape;37;p2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38" name="Google Shape;38;p26"/>
          <p:cNvPicPr preferRelativeResize="0"/>
          <p:nvPr/>
        </p:nvPicPr>
        <p:blipFill rotWithShape="1">
          <a:blip r:embed="rId2">
            <a:alphaModFix/>
          </a:blip>
          <a:srcRect b="0" l="0" r="0" t="0"/>
          <a:stretch/>
        </p:blipFill>
        <p:spPr>
          <a:xfrm>
            <a:off x="838200" y="6513174"/>
            <a:ext cx="2824372" cy="15826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6">
  <p:cSld name="Layout26">
    <p:bg>
      <p:bgPr>
        <a:solidFill>
          <a:srgbClr val="F2F2F2"/>
        </a:solidFill>
      </p:bgPr>
    </p:bg>
    <p:spTree>
      <p:nvGrpSpPr>
        <p:cNvPr id="39" name="Shape 39"/>
        <p:cNvGrpSpPr/>
        <p:nvPr/>
      </p:nvGrpSpPr>
      <p:grpSpPr>
        <a:xfrm>
          <a:off x="0" y="0"/>
          <a:ext cx="0" cy="0"/>
          <a:chOff x="0" y="0"/>
          <a:chExt cx="0" cy="0"/>
        </a:xfrm>
      </p:grpSpPr>
      <p:sp>
        <p:nvSpPr>
          <p:cNvPr id="40" name="Google Shape;40;p18"/>
          <p:cNvSpPr/>
          <p:nvPr/>
        </p:nvSpPr>
        <p:spPr>
          <a:xfrm rot="10800000">
            <a:off x="6096000" y="0"/>
            <a:ext cx="6096000" cy="6871855"/>
          </a:xfrm>
          <a:custGeom>
            <a:rect b="b" l="l" r="r" t="t"/>
            <a:pathLst>
              <a:path extrusionOk="0" h="6871855" w="6096000">
                <a:moveTo>
                  <a:pt x="0" y="13855"/>
                </a:moveTo>
                <a:lnTo>
                  <a:pt x="4544292"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1" name="Google Shape;41;p18"/>
          <p:cNvPicPr preferRelativeResize="0"/>
          <p:nvPr/>
        </p:nvPicPr>
        <p:blipFill rotWithShape="1">
          <a:blip r:embed="rId2">
            <a:alphaModFix amt="17000"/>
          </a:blip>
          <a:srcRect b="0" l="0" r="0" t="0"/>
          <a:stretch/>
        </p:blipFill>
        <p:spPr>
          <a:xfrm>
            <a:off x="6082780" y="9216"/>
            <a:ext cx="6109220" cy="6858000"/>
          </a:xfrm>
          <a:prstGeom prst="rect">
            <a:avLst/>
          </a:prstGeom>
          <a:noFill/>
          <a:ln>
            <a:noFill/>
          </a:ln>
        </p:spPr>
      </p:pic>
      <p:sp>
        <p:nvSpPr>
          <p:cNvPr id="42" name="Google Shape;42;p18"/>
          <p:cNvSpPr/>
          <p:nvPr>
            <p:ph idx="2" type="pic"/>
          </p:nvPr>
        </p:nvSpPr>
        <p:spPr>
          <a:xfrm>
            <a:off x="0" y="0"/>
            <a:ext cx="7645186" cy="6861429"/>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2">
  <p:cSld name="Layout02">
    <p:spTree>
      <p:nvGrpSpPr>
        <p:cNvPr id="43" name="Shape 43"/>
        <p:cNvGrpSpPr/>
        <p:nvPr/>
      </p:nvGrpSpPr>
      <p:grpSpPr>
        <a:xfrm>
          <a:off x="0" y="0"/>
          <a:ext cx="0" cy="0"/>
          <a:chOff x="0" y="0"/>
          <a:chExt cx="0" cy="0"/>
        </a:xfrm>
      </p:grpSpPr>
      <p:sp>
        <p:nvSpPr>
          <p:cNvPr id="44" name="Google Shape;44;p1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5" name="Google Shape;45;p19"/>
          <p:cNvSpPr/>
          <p:nvPr/>
        </p:nvSpPr>
        <p:spPr>
          <a:xfrm>
            <a:off x="3400700"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 name="Google Shape;46;p19"/>
          <p:cNvSpPr/>
          <p:nvPr/>
        </p:nvSpPr>
        <p:spPr>
          <a:xfrm>
            <a:off x="-237846" y="-3393"/>
            <a:ext cx="3801533" cy="344098"/>
          </a:xfrm>
          <a:custGeom>
            <a:rect b="b" l="l" r="r" t="t"/>
            <a:pathLst>
              <a:path extrusionOk="0" h="791286" w="10556322">
                <a:moveTo>
                  <a:pt x="0" y="0"/>
                </a:moveTo>
                <a:lnTo>
                  <a:pt x="9998765" y="0"/>
                </a:lnTo>
                <a:lnTo>
                  <a:pt x="10556322"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 name="Google Shape;47;p19"/>
          <p:cNvSpPr/>
          <p:nvPr/>
        </p:nvSpPr>
        <p:spPr>
          <a:xfrm>
            <a:off x="3724602"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 name="Google Shape;4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3">
  <p:cSld name="Layout03">
    <p:spTree>
      <p:nvGrpSpPr>
        <p:cNvPr id="49" name="Shape 49"/>
        <p:cNvGrpSpPr/>
        <p:nvPr/>
      </p:nvGrpSpPr>
      <p:grpSpPr>
        <a:xfrm>
          <a:off x="0" y="0"/>
          <a:ext cx="0" cy="0"/>
          <a:chOff x="0" y="0"/>
          <a:chExt cx="0" cy="0"/>
        </a:xfrm>
      </p:grpSpPr>
      <p:sp>
        <p:nvSpPr>
          <p:cNvPr id="50" name="Google Shape;50;p20"/>
          <p:cNvSpPr/>
          <p:nvPr/>
        </p:nvSpPr>
        <p:spPr>
          <a:xfrm>
            <a:off x="64158" y="507763"/>
            <a:ext cx="325728" cy="327043"/>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 name="Google Shape;51;p2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52" name="Google Shape;52;p20"/>
          <p:cNvSpPr/>
          <p:nvPr/>
        </p:nvSpPr>
        <p:spPr>
          <a:xfrm>
            <a:off x="201412" y="344385"/>
            <a:ext cx="638687" cy="64126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4">
  <p:cSld name="Layout04">
    <p:spTree>
      <p:nvGrpSpPr>
        <p:cNvPr id="54" name="Shape 54"/>
        <p:cNvGrpSpPr/>
        <p:nvPr/>
      </p:nvGrpSpPr>
      <p:grpSpPr>
        <a:xfrm>
          <a:off x="0" y="0"/>
          <a:ext cx="0" cy="0"/>
          <a:chOff x="0" y="0"/>
          <a:chExt cx="0" cy="0"/>
        </a:xfrm>
      </p:grpSpPr>
      <p:sp>
        <p:nvSpPr>
          <p:cNvPr id="55" name="Google Shape;55;p2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56" name="Google Shape;56;p21"/>
          <p:cNvSpPr/>
          <p:nvPr/>
        </p:nvSpPr>
        <p:spPr>
          <a:xfrm>
            <a:off x="-607982" y="448235"/>
            <a:ext cx="1000815" cy="1004858"/>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21"/>
          <p:cNvSpPr txBox="1"/>
          <p:nvPr>
            <p:ph type="title"/>
          </p:nvPr>
        </p:nvSpPr>
        <p:spPr>
          <a:xfrm>
            <a:off x="497541" y="31133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5">
  <p:cSld name="Layout05">
    <p:bg>
      <p:bgPr>
        <a:solidFill>
          <a:srgbClr val="6C1D35"/>
        </a:solidFill>
      </p:bgPr>
    </p:bg>
    <p:spTree>
      <p:nvGrpSpPr>
        <p:cNvPr id="58" name="Shape 58"/>
        <p:cNvGrpSpPr/>
        <p:nvPr/>
      </p:nvGrpSpPr>
      <p:grpSpPr>
        <a:xfrm>
          <a:off x="0" y="0"/>
          <a:ext cx="0" cy="0"/>
          <a:chOff x="0" y="0"/>
          <a:chExt cx="0" cy="0"/>
        </a:xfrm>
      </p:grpSpPr>
      <p:cxnSp>
        <p:nvCxnSpPr>
          <p:cNvPr id="59" name="Google Shape;59;p22"/>
          <p:cNvCxnSpPr/>
          <p:nvPr/>
        </p:nvCxnSpPr>
        <p:spPr>
          <a:xfrm>
            <a:off x="480645" y="1172309"/>
            <a:ext cx="11711354" cy="0"/>
          </a:xfrm>
          <a:prstGeom prst="straightConnector1">
            <a:avLst/>
          </a:prstGeom>
          <a:noFill/>
          <a:ln cap="flat" cmpd="sng" w="9525">
            <a:solidFill>
              <a:srgbClr val="F2F2F2"/>
            </a:solidFill>
            <a:prstDash val="solid"/>
            <a:miter lim="800000"/>
            <a:headEnd len="sm" w="sm" type="none"/>
            <a:tailEnd len="sm" w="sm" type="none"/>
          </a:ln>
        </p:spPr>
      </p:cxnSp>
      <p:sp>
        <p:nvSpPr>
          <p:cNvPr id="60" name="Google Shape;60;p22"/>
          <p:cNvSpPr/>
          <p:nvPr/>
        </p:nvSpPr>
        <p:spPr>
          <a:xfrm>
            <a:off x="0" y="1101927"/>
            <a:ext cx="2128058" cy="166255"/>
          </a:xfrm>
          <a:prstGeom prst="rect">
            <a:avLst/>
          </a:prstGeom>
          <a:solidFill>
            <a:srgbClr val="D0CE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 name="Google Shape;61;p22"/>
          <p:cNvSpPr txBox="1"/>
          <p:nvPr>
            <p:ph idx="1" type="body"/>
          </p:nvPr>
        </p:nvSpPr>
        <p:spPr>
          <a:xfrm>
            <a:off x="814385"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22"/>
          <p:cNvSpPr txBox="1"/>
          <p:nvPr>
            <p:ph type="title"/>
          </p:nvPr>
        </p:nvSpPr>
        <p:spPr>
          <a:xfrm>
            <a:off x="2057393" y="188182"/>
            <a:ext cx="7883842" cy="9037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22"/>
          <p:cNvSpPr txBox="1"/>
          <p:nvPr>
            <p:ph idx="2" type="body"/>
          </p:nvPr>
        </p:nvSpPr>
        <p:spPr>
          <a:xfrm>
            <a:off x="4386254"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2"/>
          <p:cNvSpPr txBox="1"/>
          <p:nvPr>
            <p:ph idx="3" type="body"/>
          </p:nvPr>
        </p:nvSpPr>
        <p:spPr>
          <a:xfrm>
            <a:off x="7929556"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7">
  <p:cSld name="Layout07">
    <p:spTree>
      <p:nvGrpSpPr>
        <p:cNvPr id="66" name="Shape 66"/>
        <p:cNvGrpSpPr/>
        <p:nvPr/>
      </p:nvGrpSpPr>
      <p:grpSpPr>
        <a:xfrm>
          <a:off x="0" y="0"/>
          <a:ext cx="0" cy="0"/>
          <a:chOff x="0" y="0"/>
          <a:chExt cx="0" cy="0"/>
        </a:xfrm>
      </p:grpSpPr>
      <p:sp>
        <p:nvSpPr>
          <p:cNvPr id="67" name="Google Shape;67;p23"/>
          <p:cNvSpPr/>
          <p:nvPr/>
        </p:nvSpPr>
        <p:spPr>
          <a:xfrm>
            <a:off x="0" y="668539"/>
            <a:ext cx="574431" cy="59372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 name="Google Shape;68;p2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 name="Google Shape;70;p23"/>
          <p:cNvSpPr/>
          <p:nvPr>
            <p:ph idx="2" type="pic"/>
          </p:nvPr>
        </p:nvSpPr>
        <p:spPr>
          <a:xfrm>
            <a:off x="738551" y="2110157"/>
            <a:ext cx="3681046" cy="3910612"/>
          </a:xfrm>
          <a:prstGeom prst="flowChartInputOutput">
            <a:avLst/>
          </a:prstGeom>
          <a:noFill/>
          <a:ln>
            <a:noFill/>
          </a:ln>
        </p:spPr>
      </p:sp>
      <p:sp>
        <p:nvSpPr>
          <p:cNvPr id="71" name="Google Shape;71;p23"/>
          <p:cNvSpPr/>
          <p:nvPr>
            <p:ph idx="3" type="pic"/>
          </p:nvPr>
        </p:nvSpPr>
        <p:spPr>
          <a:xfrm>
            <a:off x="4112204" y="2110157"/>
            <a:ext cx="3681046" cy="3910612"/>
          </a:xfrm>
          <a:prstGeom prst="flowChartInputOutput">
            <a:avLst/>
          </a:prstGeom>
          <a:noFill/>
          <a:ln>
            <a:noFill/>
          </a:ln>
        </p:spPr>
      </p:sp>
      <p:sp>
        <p:nvSpPr>
          <p:cNvPr id="72" name="Google Shape;72;p23"/>
          <p:cNvSpPr/>
          <p:nvPr>
            <p:ph idx="4" type="pic"/>
          </p:nvPr>
        </p:nvSpPr>
        <p:spPr>
          <a:xfrm>
            <a:off x="7504930" y="2110157"/>
            <a:ext cx="3681046" cy="3910612"/>
          </a:xfrm>
          <a:prstGeom prst="flowChartInputOutpu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8">
  <p:cSld name="Layout08">
    <p:spTree>
      <p:nvGrpSpPr>
        <p:cNvPr id="73" name="Shape 73"/>
        <p:cNvGrpSpPr/>
        <p:nvPr/>
      </p:nvGrpSpPr>
      <p:grpSpPr>
        <a:xfrm>
          <a:off x="0" y="0"/>
          <a:ext cx="0" cy="0"/>
          <a:chOff x="0" y="0"/>
          <a:chExt cx="0" cy="0"/>
        </a:xfrm>
      </p:grpSpPr>
      <p:sp>
        <p:nvSpPr>
          <p:cNvPr id="74" name="Google Shape;74;p24"/>
          <p:cNvSpPr/>
          <p:nvPr/>
        </p:nvSpPr>
        <p:spPr>
          <a:xfrm>
            <a:off x="3708"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 name="Google Shape;75;p24"/>
          <p:cNvSpPr/>
          <p:nvPr/>
        </p:nvSpPr>
        <p:spPr>
          <a:xfrm rot="10800000">
            <a:off x="4596135"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76" name="Google Shape;76;p24"/>
          <p:cNvCxnSpPr/>
          <p:nvPr/>
        </p:nvCxnSpPr>
        <p:spPr>
          <a:xfrm>
            <a:off x="0" y="6534150"/>
            <a:ext cx="0" cy="0"/>
          </a:xfrm>
          <a:prstGeom prst="straightConnector1">
            <a:avLst/>
          </a:prstGeom>
          <a:noFill/>
          <a:ln cap="flat" cmpd="sng" w="19050">
            <a:solidFill>
              <a:srgbClr val="D8D8D8"/>
            </a:solidFill>
            <a:prstDash val="solid"/>
            <a:miter lim="800000"/>
            <a:headEnd len="sm" w="sm" type="none"/>
            <a:tailEnd len="sm" w="sm" type="none"/>
          </a:ln>
        </p:spPr>
      </p:cxnSp>
      <p:sp>
        <p:nvSpPr>
          <p:cNvPr id="77" name="Google Shape;77;p2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78" name="Google Shape;78;p24"/>
          <p:cNvSpPr/>
          <p:nvPr>
            <p:ph idx="2" type="pic"/>
          </p:nvPr>
        </p:nvSpPr>
        <p:spPr>
          <a:xfrm>
            <a:off x="103240" y="0"/>
            <a:ext cx="5615898" cy="6442797"/>
          </a:xfrm>
          <a:prstGeom prst="flowChartInputOutput">
            <a:avLst/>
          </a:prstGeom>
          <a:noFill/>
          <a:ln>
            <a:noFill/>
          </a:ln>
        </p:spPr>
      </p:sp>
      <p:sp>
        <p:nvSpPr>
          <p:cNvPr id="79" name="Google Shape;79;p24"/>
          <p:cNvSpPr txBox="1"/>
          <p:nvPr>
            <p:ph type="title"/>
          </p:nvPr>
        </p:nvSpPr>
        <p:spPr>
          <a:xfrm>
            <a:off x="6201508" y="2686295"/>
            <a:ext cx="5562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9">
  <p:cSld name="Layout09">
    <p:spTree>
      <p:nvGrpSpPr>
        <p:cNvPr id="80" name="Shape 80"/>
        <p:cNvGrpSpPr/>
        <p:nvPr/>
      </p:nvGrpSpPr>
      <p:grpSpPr>
        <a:xfrm>
          <a:off x="0" y="0"/>
          <a:ext cx="0" cy="0"/>
          <a:chOff x="0" y="0"/>
          <a:chExt cx="0" cy="0"/>
        </a:xfrm>
      </p:grpSpPr>
      <p:sp>
        <p:nvSpPr>
          <p:cNvPr id="81" name="Google Shape;81;p25"/>
          <p:cNvSpPr/>
          <p:nvPr/>
        </p:nvSpPr>
        <p:spPr>
          <a:xfrm>
            <a:off x="4778476" y="819148"/>
            <a:ext cx="7413523" cy="4976967"/>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 name="Google Shape;82;p25"/>
          <p:cNvSpPr txBox="1"/>
          <p:nvPr>
            <p:ph type="title"/>
          </p:nvPr>
        </p:nvSpPr>
        <p:spPr>
          <a:xfrm>
            <a:off x="5153891" y="1316968"/>
            <a:ext cx="6480896" cy="11312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3" name="Google Shape;83;p25"/>
          <p:cNvSpPr/>
          <p:nvPr>
            <p:ph idx="2" type="pic"/>
          </p:nvPr>
        </p:nvSpPr>
        <p:spPr>
          <a:xfrm>
            <a:off x="0" y="0"/>
            <a:ext cx="4763924" cy="6356350"/>
          </a:xfrm>
          <a:prstGeom prst="rect">
            <a:avLst/>
          </a:prstGeom>
          <a:noFill/>
          <a:ln>
            <a:noFill/>
          </a:ln>
        </p:spPr>
      </p:sp>
      <p:sp>
        <p:nvSpPr>
          <p:cNvPr id="84" name="Google Shape;84;p25"/>
          <p:cNvSpPr txBox="1"/>
          <p:nvPr>
            <p:ph idx="1" type="body"/>
          </p:nvPr>
        </p:nvSpPr>
        <p:spPr>
          <a:xfrm>
            <a:off x="5153890" y="2580967"/>
            <a:ext cx="6480897" cy="25957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i="0" sz="1400">
                <a:solidFill>
                  <a:schemeClr val="lt1"/>
                </a:solidFill>
                <a:latin typeface="Lato"/>
                <a:ea typeface="Lato"/>
                <a:cs typeface="Lato"/>
                <a:sym typeface="Lato"/>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1">
  <p:cSld name="Layout11">
    <p:bg>
      <p:bgPr>
        <a:solidFill>
          <a:srgbClr val="6C1D35"/>
        </a:solidFill>
      </p:bgPr>
    </p:bg>
    <p:spTree>
      <p:nvGrpSpPr>
        <p:cNvPr id="86" name="Shape 86"/>
        <p:cNvGrpSpPr/>
        <p:nvPr/>
      </p:nvGrpSpPr>
      <p:grpSpPr>
        <a:xfrm>
          <a:off x="0" y="0"/>
          <a:ext cx="0" cy="0"/>
          <a:chOff x="0" y="0"/>
          <a:chExt cx="0" cy="0"/>
        </a:xfrm>
      </p:grpSpPr>
      <p:sp>
        <p:nvSpPr>
          <p:cNvPr id="87" name="Google Shape;87;p2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88" name="Google Shape;8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sz="3600">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2">
  <p:cSld name="Layout12">
    <p:spTree>
      <p:nvGrpSpPr>
        <p:cNvPr id="89" name="Shape 89"/>
        <p:cNvGrpSpPr/>
        <p:nvPr/>
      </p:nvGrpSpPr>
      <p:grpSpPr>
        <a:xfrm>
          <a:off x="0" y="0"/>
          <a:ext cx="0" cy="0"/>
          <a:chOff x="0" y="0"/>
          <a:chExt cx="0" cy="0"/>
        </a:xfrm>
      </p:grpSpPr>
      <p:sp>
        <p:nvSpPr>
          <p:cNvPr id="90" name="Google Shape;90;p28"/>
          <p:cNvSpPr/>
          <p:nvPr>
            <p:ph idx="2" type="pic"/>
          </p:nvPr>
        </p:nvSpPr>
        <p:spPr>
          <a:xfrm>
            <a:off x="-1" y="-2358"/>
            <a:ext cx="7753847" cy="6863012"/>
          </a:xfrm>
          <a:prstGeom prst="rect">
            <a:avLst/>
          </a:prstGeom>
          <a:noFill/>
          <a:ln>
            <a:noFill/>
          </a:ln>
        </p:spPr>
      </p:sp>
      <p:sp>
        <p:nvSpPr>
          <p:cNvPr id="91" name="Google Shape;91;p28"/>
          <p:cNvSpPr/>
          <p:nvPr/>
        </p:nvSpPr>
        <p:spPr>
          <a:xfrm>
            <a:off x="9476509" y="1"/>
            <a:ext cx="2715490" cy="6880888"/>
          </a:xfrm>
          <a:prstGeom prst="rect">
            <a:avLst/>
          </a:prstGeom>
          <a:solidFill>
            <a:srgbClr val="4B47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28"/>
          <p:cNvSpPr/>
          <p:nvPr/>
        </p:nvSpPr>
        <p:spPr>
          <a:xfrm rot="10800000">
            <a:off x="5250869" y="-1"/>
            <a:ext cx="6858001" cy="688570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8"/>
          <p:cNvSpPr txBox="1"/>
          <p:nvPr>
            <p:ph type="title"/>
          </p:nvPr>
        </p:nvSpPr>
        <p:spPr>
          <a:xfrm>
            <a:off x="5832762" y="1995054"/>
            <a:ext cx="3768438" cy="30895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sz="36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4" name="Google Shape;94;p2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3">
  <p:cSld name="Layout13">
    <p:spTree>
      <p:nvGrpSpPr>
        <p:cNvPr id="95" name="Shape 95"/>
        <p:cNvGrpSpPr/>
        <p:nvPr/>
      </p:nvGrpSpPr>
      <p:grpSpPr>
        <a:xfrm>
          <a:off x="0" y="0"/>
          <a:ext cx="0" cy="0"/>
          <a:chOff x="0" y="0"/>
          <a:chExt cx="0" cy="0"/>
        </a:xfrm>
      </p:grpSpPr>
      <p:sp>
        <p:nvSpPr>
          <p:cNvPr id="96" name="Google Shape;96;p29"/>
          <p:cNvSpPr/>
          <p:nvPr/>
        </p:nvSpPr>
        <p:spPr>
          <a:xfrm>
            <a:off x="6350" y="1"/>
            <a:ext cx="4329113" cy="6880888"/>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7" name="Google Shape;97;p29"/>
          <p:cNvPicPr preferRelativeResize="0"/>
          <p:nvPr/>
        </p:nvPicPr>
        <p:blipFill rotWithShape="1">
          <a:blip r:embed="rId2">
            <a:alphaModFix amt="11000"/>
          </a:blip>
          <a:srcRect b="0" l="0" r="0" t="0"/>
          <a:stretch/>
        </p:blipFill>
        <p:spPr>
          <a:xfrm>
            <a:off x="0" y="-1"/>
            <a:ext cx="4336976" cy="6858000"/>
          </a:xfrm>
          <a:prstGeom prst="rect">
            <a:avLst/>
          </a:prstGeom>
          <a:noFill/>
          <a:ln>
            <a:noFill/>
          </a:ln>
        </p:spPr>
      </p:pic>
      <p:sp>
        <p:nvSpPr>
          <p:cNvPr id="98" name="Google Shape;98;p29"/>
          <p:cNvSpPr/>
          <p:nvPr/>
        </p:nvSpPr>
        <p:spPr>
          <a:xfrm>
            <a:off x="1431389" y="0"/>
            <a:ext cx="1662113" cy="682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2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00" name="Google Shape;100;p29"/>
          <p:cNvSpPr txBox="1"/>
          <p:nvPr>
            <p:ph type="title"/>
          </p:nvPr>
        </p:nvSpPr>
        <p:spPr>
          <a:xfrm>
            <a:off x="352821" y="2616709"/>
            <a:ext cx="3523452" cy="105276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0" i="0" sz="360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1" name="Google Shape;101;p29"/>
          <p:cNvSpPr txBox="1"/>
          <p:nvPr>
            <p:ph idx="1" type="body"/>
          </p:nvPr>
        </p:nvSpPr>
        <p:spPr>
          <a:xfrm>
            <a:off x="352821" y="3880241"/>
            <a:ext cx="3523452" cy="11667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2F2F2"/>
              </a:buClr>
              <a:buSzPts val="1600"/>
              <a:buNone/>
              <a:defRPr b="0" i="0" sz="1600">
                <a:solidFill>
                  <a:srgbClr val="F2F2F2"/>
                </a:solidFill>
                <a:latin typeface="Lato"/>
                <a:ea typeface="Lato"/>
                <a:cs typeface="Lato"/>
                <a:sym typeface="Lato"/>
              </a:defRPr>
            </a:lvl1pPr>
            <a:lvl2pPr indent="-228600" lvl="1" marL="914400" algn="l">
              <a:lnSpc>
                <a:spcPct val="90000"/>
              </a:lnSpc>
              <a:spcBef>
                <a:spcPts val="500"/>
              </a:spcBef>
              <a:spcAft>
                <a:spcPts val="0"/>
              </a:spcAft>
              <a:buClr>
                <a:srgbClr val="595959"/>
              </a:buClr>
              <a:buSzPts val="1400"/>
              <a:buNone/>
              <a:defRPr sz="1400"/>
            </a:lvl2pPr>
            <a:lvl3pPr indent="-228600" lvl="2" marL="1371600" algn="l">
              <a:lnSpc>
                <a:spcPct val="90000"/>
              </a:lnSpc>
              <a:spcBef>
                <a:spcPts val="500"/>
              </a:spcBef>
              <a:spcAft>
                <a:spcPts val="0"/>
              </a:spcAft>
              <a:buClr>
                <a:srgbClr val="595959"/>
              </a:buClr>
              <a:buSzPts val="1200"/>
              <a:buNone/>
              <a:defRPr sz="1200"/>
            </a:lvl3pPr>
            <a:lvl4pPr indent="-228600" lvl="3" marL="1828800" algn="l">
              <a:lnSpc>
                <a:spcPct val="90000"/>
              </a:lnSpc>
              <a:spcBef>
                <a:spcPts val="500"/>
              </a:spcBef>
              <a:spcAft>
                <a:spcPts val="0"/>
              </a:spcAft>
              <a:buClr>
                <a:srgbClr val="595959"/>
              </a:buClr>
              <a:buSzPts val="1000"/>
              <a:buNone/>
              <a:defRPr sz="1000"/>
            </a:lvl4pPr>
            <a:lvl5pPr indent="-228600" lvl="4" marL="2286000" algn="l">
              <a:lnSpc>
                <a:spcPct val="90000"/>
              </a:lnSpc>
              <a:spcBef>
                <a:spcPts val="500"/>
              </a:spcBef>
              <a:spcAft>
                <a:spcPts val="0"/>
              </a:spcAft>
              <a:buClr>
                <a:srgbClr val="595959"/>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2" name="Google Shape;102;p29"/>
          <p:cNvSpPr/>
          <p:nvPr>
            <p:ph idx="2" type="pic"/>
          </p:nvPr>
        </p:nvSpPr>
        <p:spPr>
          <a:xfrm>
            <a:off x="4322618" y="0"/>
            <a:ext cx="7552707" cy="6858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4">
  <p:cSld name="Layout14">
    <p:spTree>
      <p:nvGrpSpPr>
        <p:cNvPr id="103" name="Shape 103"/>
        <p:cNvGrpSpPr/>
        <p:nvPr/>
      </p:nvGrpSpPr>
      <p:grpSpPr>
        <a:xfrm>
          <a:off x="0" y="0"/>
          <a:ext cx="0" cy="0"/>
          <a:chOff x="0" y="0"/>
          <a:chExt cx="0" cy="0"/>
        </a:xfrm>
      </p:grpSpPr>
      <p:sp>
        <p:nvSpPr>
          <p:cNvPr id="104" name="Google Shape;104;p30"/>
          <p:cNvSpPr/>
          <p:nvPr/>
        </p:nvSpPr>
        <p:spPr>
          <a:xfrm>
            <a:off x="-324" y="-2845"/>
            <a:ext cx="2589145"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alpha val="7568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3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06" name="Google Shape;10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5">
  <p:cSld name="Layout15">
    <p:bg>
      <p:bgPr>
        <a:solidFill>
          <a:srgbClr val="6C1D35"/>
        </a:solidFill>
      </p:bgPr>
    </p:bg>
    <p:spTree>
      <p:nvGrpSpPr>
        <p:cNvPr id="107" name="Shape 107"/>
        <p:cNvGrpSpPr/>
        <p:nvPr/>
      </p:nvGrpSpPr>
      <p:grpSpPr>
        <a:xfrm>
          <a:off x="0" y="0"/>
          <a:ext cx="0" cy="0"/>
          <a:chOff x="0" y="0"/>
          <a:chExt cx="0" cy="0"/>
        </a:xfrm>
      </p:grpSpPr>
      <p:sp>
        <p:nvSpPr>
          <p:cNvPr id="108" name="Google Shape;108;p31"/>
          <p:cNvSpPr/>
          <p:nvPr/>
        </p:nvSpPr>
        <p:spPr>
          <a:xfrm rot="5400000">
            <a:off x="5964357" y="-1538287"/>
            <a:ext cx="134938" cy="3211512"/>
          </a:xfrm>
          <a:prstGeom prst="rect">
            <a:avLst/>
          </a:pr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 name="Google Shape;10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0" name="Google Shape;110;p3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6">
  <p:cSld name="Layout16">
    <p:bg>
      <p:bgPr>
        <a:solidFill>
          <a:srgbClr val="F2F2F2">
            <a:alpha val="32549"/>
          </a:srgbClr>
        </a:solidFill>
      </p:bgPr>
    </p:bg>
    <p:spTree>
      <p:nvGrpSpPr>
        <p:cNvPr id="111" name="Shape 111"/>
        <p:cNvGrpSpPr/>
        <p:nvPr/>
      </p:nvGrpSpPr>
      <p:grpSpPr>
        <a:xfrm>
          <a:off x="0" y="0"/>
          <a:ext cx="0" cy="0"/>
          <a:chOff x="0" y="0"/>
          <a:chExt cx="0" cy="0"/>
        </a:xfrm>
      </p:grpSpPr>
      <p:sp>
        <p:nvSpPr>
          <p:cNvPr id="112" name="Google Shape;112;p32"/>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2"/>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32"/>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3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16" name="Google Shape;116;p32"/>
          <p:cNvSpPr txBox="1"/>
          <p:nvPr>
            <p:ph type="title"/>
          </p:nvPr>
        </p:nvSpPr>
        <p:spPr>
          <a:xfrm>
            <a:off x="1389318"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7">
  <p:cSld name="Layout17">
    <p:bg>
      <p:bgPr>
        <a:solidFill>
          <a:srgbClr val="F2F2F2">
            <a:alpha val="32549"/>
          </a:srgbClr>
        </a:solidFill>
      </p:bgPr>
    </p:bg>
    <p:spTree>
      <p:nvGrpSpPr>
        <p:cNvPr id="117" name="Shape 117"/>
        <p:cNvGrpSpPr/>
        <p:nvPr/>
      </p:nvGrpSpPr>
      <p:grpSpPr>
        <a:xfrm>
          <a:off x="0" y="0"/>
          <a:ext cx="0" cy="0"/>
          <a:chOff x="0" y="0"/>
          <a:chExt cx="0" cy="0"/>
        </a:xfrm>
      </p:grpSpPr>
      <p:sp>
        <p:nvSpPr>
          <p:cNvPr id="118" name="Google Shape;118;p33"/>
          <p:cNvSpPr/>
          <p:nvPr/>
        </p:nvSpPr>
        <p:spPr>
          <a:xfrm>
            <a:off x="8688288" y="253363"/>
            <a:ext cx="1091121" cy="781258"/>
          </a:xfrm>
          <a:custGeom>
            <a:rect b="b" l="l" r="r" t="t"/>
            <a:pathLst>
              <a:path extrusionOk="0" h="794993" w="1110304">
                <a:moveTo>
                  <a:pt x="0" y="0"/>
                </a:moveTo>
                <a:lnTo>
                  <a:pt x="668996" y="0"/>
                </a:lnTo>
                <a:lnTo>
                  <a:pt x="1110304" y="794993"/>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 name="Google Shape;119;p33"/>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 name="Google Shape;120;p33"/>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33"/>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3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23" name="Google Shape;123;p33"/>
          <p:cNvSpPr txBox="1"/>
          <p:nvPr>
            <p:ph type="title"/>
          </p:nvPr>
        </p:nvSpPr>
        <p:spPr>
          <a:xfrm>
            <a:off x="1391093"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8">
  <p:cSld name="Layout18">
    <p:spTree>
      <p:nvGrpSpPr>
        <p:cNvPr id="124" name="Shape 124"/>
        <p:cNvGrpSpPr/>
        <p:nvPr/>
      </p:nvGrpSpPr>
      <p:grpSpPr>
        <a:xfrm>
          <a:off x="0" y="0"/>
          <a:ext cx="0" cy="0"/>
          <a:chOff x="0" y="0"/>
          <a:chExt cx="0" cy="0"/>
        </a:xfrm>
      </p:grpSpPr>
      <p:sp>
        <p:nvSpPr>
          <p:cNvPr id="125" name="Google Shape;125;p34"/>
          <p:cNvSpPr/>
          <p:nvPr/>
        </p:nvSpPr>
        <p:spPr>
          <a:xfrm flipH="1">
            <a:off x="0" y="0"/>
            <a:ext cx="12192000" cy="6329548"/>
          </a:xfrm>
          <a:custGeom>
            <a:rect b="b" l="l" r="r" t="t"/>
            <a:pathLst>
              <a:path extrusionOk="0" h="10000" w="10003">
                <a:moveTo>
                  <a:pt x="3" y="5641"/>
                </a:moveTo>
                <a:lnTo>
                  <a:pt x="2003" y="0"/>
                </a:lnTo>
                <a:lnTo>
                  <a:pt x="10003" y="0"/>
                </a:lnTo>
                <a:lnTo>
                  <a:pt x="10003" y="10000"/>
                </a:lnTo>
                <a:lnTo>
                  <a:pt x="3" y="10000"/>
                </a:lnTo>
                <a:cubicBezTo>
                  <a:pt x="-7" y="8290"/>
                  <a:pt x="13" y="7351"/>
                  <a:pt x="3" y="5641"/>
                </a:cubicBezTo>
                <a:close/>
              </a:path>
            </a:pathLst>
          </a:custGeom>
          <a:solidFill>
            <a:srgbClr val="6C1D35"/>
          </a:solidFill>
          <a:ln cap="flat" cmpd="sng" w="12700">
            <a:solidFill>
              <a:srgbClr val="5F192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34"/>
          <p:cNvSpPr txBox="1"/>
          <p:nvPr>
            <p:ph type="title"/>
          </p:nvPr>
        </p:nvSpPr>
        <p:spPr>
          <a:xfrm>
            <a:off x="1804589" y="430242"/>
            <a:ext cx="8686800" cy="9663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7" name="Google Shape;127;p3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9">
  <p:cSld name="Layout19">
    <p:spTree>
      <p:nvGrpSpPr>
        <p:cNvPr id="128" name="Shape 128"/>
        <p:cNvGrpSpPr/>
        <p:nvPr/>
      </p:nvGrpSpPr>
      <p:grpSpPr>
        <a:xfrm>
          <a:off x="0" y="0"/>
          <a:ext cx="0" cy="0"/>
          <a:chOff x="0" y="0"/>
          <a:chExt cx="0" cy="0"/>
        </a:xfrm>
      </p:grpSpPr>
      <p:sp>
        <p:nvSpPr>
          <p:cNvPr id="129" name="Google Shape;129;p35"/>
          <p:cNvSpPr/>
          <p:nvPr/>
        </p:nvSpPr>
        <p:spPr>
          <a:xfrm>
            <a:off x="0" y="3049589"/>
            <a:ext cx="12192000" cy="3808412"/>
          </a:xfrm>
          <a:prstGeom prst="rect">
            <a:avLst/>
          </a:prstGeom>
          <a:solidFill>
            <a:schemeClr val="lt1">
              <a:alpha val="6745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35"/>
          <p:cNvSpPr/>
          <p:nvPr>
            <p:ph idx="2" type="pic"/>
          </p:nvPr>
        </p:nvSpPr>
        <p:spPr>
          <a:xfrm>
            <a:off x="0" y="-11393"/>
            <a:ext cx="12192000" cy="3060981"/>
          </a:xfrm>
          <a:prstGeom prst="rect">
            <a:avLst/>
          </a:prstGeom>
          <a:noFill/>
          <a:ln>
            <a:noFill/>
          </a:ln>
        </p:spPr>
      </p:sp>
      <p:sp>
        <p:nvSpPr>
          <p:cNvPr id="131" name="Google Shape;131;p3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132" name="Shape 132"/>
        <p:cNvGrpSpPr/>
        <p:nvPr/>
      </p:nvGrpSpPr>
      <p:grpSpPr>
        <a:xfrm>
          <a:off x="0" y="0"/>
          <a:ext cx="0" cy="0"/>
          <a:chOff x="0" y="0"/>
          <a:chExt cx="0" cy="0"/>
        </a:xfrm>
      </p:grpSpPr>
      <p:sp>
        <p:nvSpPr>
          <p:cNvPr id="133" name="Google Shape;13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4" name="Google Shape;134;p3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cxnSp>
        <p:nvCxnSpPr>
          <p:cNvPr id="135" name="Google Shape;135;p36"/>
          <p:cNvCxnSpPr/>
          <p:nvPr/>
        </p:nvCxnSpPr>
        <p:spPr>
          <a:xfrm>
            <a:off x="-12700" y="101600"/>
            <a:ext cx="12192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1">
  <p:cSld name="Layout21">
    <p:bg>
      <p:bgPr>
        <a:solidFill>
          <a:schemeClr val="lt1"/>
        </a:solidFill>
      </p:bgPr>
    </p:bg>
    <p:spTree>
      <p:nvGrpSpPr>
        <p:cNvPr id="136" name="Shape 136"/>
        <p:cNvGrpSpPr/>
        <p:nvPr/>
      </p:nvGrpSpPr>
      <p:grpSpPr>
        <a:xfrm>
          <a:off x="0" y="0"/>
          <a:ext cx="0" cy="0"/>
          <a:chOff x="0" y="0"/>
          <a:chExt cx="0" cy="0"/>
        </a:xfrm>
      </p:grpSpPr>
      <p:sp>
        <p:nvSpPr>
          <p:cNvPr id="137" name="Google Shape;137;p3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2">
  <p:cSld name="Layout22">
    <p:spTree>
      <p:nvGrpSpPr>
        <p:cNvPr id="138" name="Shape 138"/>
        <p:cNvGrpSpPr/>
        <p:nvPr/>
      </p:nvGrpSpPr>
      <p:grpSpPr>
        <a:xfrm>
          <a:off x="0" y="0"/>
          <a:ext cx="0" cy="0"/>
          <a:chOff x="0" y="0"/>
          <a:chExt cx="0" cy="0"/>
        </a:xfrm>
      </p:grpSpPr>
      <p:sp>
        <p:nvSpPr>
          <p:cNvPr id="139" name="Google Shape;13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0" name="Google Shape;140;p3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41" name="Google Shape;141;p38"/>
          <p:cNvSpPr/>
          <p:nvPr/>
        </p:nvSpPr>
        <p:spPr>
          <a:xfrm rot="5400000">
            <a:off x="6013275" y="327219"/>
            <a:ext cx="214683" cy="1164747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3">
  <p:cSld name="Layout23">
    <p:bg>
      <p:bgPr>
        <a:solidFill>
          <a:schemeClr val="lt1"/>
        </a:solidFill>
      </p:bgPr>
    </p:bg>
    <p:spTree>
      <p:nvGrpSpPr>
        <p:cNvPr id="142" name="Shape 142"/>
        <p:cNvGrpSpPr/>
        <p:nvPr/>
      </p:nvGrpSpPr>
      <p:grpSpPr>
        <a:xfrm>
          <a:off x="0" y="0"/>
          <a:ext cx="0" cy="0"/>
          <a:chOff x="0" y="0"/>
          <a:chExt cx="0" cy="0"/>
        </a:xfrm>
      </p:grpSpPr>
      <p:sp>
        <p:nvSpPr>
          <p:cNvPr id="143" name="Google Shape;14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4" name="Google Shape;144;p3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45" name="Google Shape;145;p39"/>
          <p:cNvSpPr/>
          <p:nvPr/>
        </p:nvSpPr>
        <p:spPr>
          <a:xfrm rot="5400000">
            <a:off x="6070760" y="476921"/>
            <a:ext cx="45719" cy="1170146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4">
  <p:cSld name="Layout24">
    <p:spTree>
      <p:nvGrpSpPr>
        <p:cNvPr id="146" name="Shape 146"/>
        <p:cNvGrpSpPr/>
        <p:nvPr/>
      </p:nvGrpSpPr>
      <p:grpSpPr>
        <a:xfrm>
          <a:off x="0" y="0"/>
          <a:ext cx="0" cy="0"/>
          <a:chOff x="0" y="0"/>
          <a:chExt cx="0" cy="0"/>
        </a:xfrm>
      </p:grpSpPr>
      <p:sp>
        <p:nvSpPr>
          <p:cNvPr id="147" name="Google Shape;147;p40"/>
          <p:cNvSpPr/>
          <p:nvPr/>
        </p:nvSpPr>
        <p:spPr>
          <a:xfrm>
            <a:off x="0" y="-2845"/>
            <a:ext cx="7528884"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48" name="Google Shape;148;p40"/>
          <p:cNvPicPr preferRelativeResize="0"/>
          <p:nvPr/>
        </p:nvPicPr>
        <p:blipFill rotWithShape="1">
          <a:blip r:embed="rId2">
            <a:alphaModFix/>
          </a:blip>
          <a:srcRect b="0" l="0" r="0" t="0"/>
          <a:stretch/>
        </p:blipFill>
        <p:spPr>
          <a:xfrm>
            <a:off x="0" y="847435"/>
            <a:ext cx="6356825" cy="5497382"/>
          </a:xfrm>
          <a:prstGeom prst="rect">
            <a:avLst/>
          </a:prstGeom>
          <a:noFill/>
          <a:ln>
            <a:noFill/>
          </a:ln>
        </p:spPr>
      </p:pic>
      <p:sp>
        <p:nvSpPr>
          <p:cNvPr id="149" name="Google Shape;149;p40"/>
          <p:cNvSpPr txBox="1"/>
          <p:nvPr>
            <p:ph type="title"/>
          </p:nvPr>
        </p:nvSpPr>
        <p:spPr>
          <a:xfrm>
            <a:off x="6705600" y="2239645"/>
            <a:ext cx="498348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0" name="Google Shape;150;p4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51" name="Google Shape;151;p40"/>
          <p:cNvSpPr/>
          <p:nvPr>
            <p:ph idx="2" type="pic"/>
          </p:nvPr>
        </p:nvSpPr>
        <p:spPr>
          <a:xfrm>
            <a:off x="270294" y="1112838"/>
            <a:ext cx="5810466" cy="326363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5">
  <p:cSld name="Layout25">
    <p:spTree>
      <p:nvGrpSpPr>
        <p:cNvPr id="152" name="Shape 152"/>
        <p:cNvGrpSpPr/>
        <p:nvPr/>
      </p:nvGrpSpPr>
      <p:grpSpPr>
        <a:xfrm>
          <a:off x="0" y="0"/>
          <a:ext cx="0" cy="0"/>
          <a:chOff x="0" y="0"/>
          <a:chExt cx="0" cy="0"/>
        </a:xfrm>
      </p:grpSpPr>
      <p:sp>
        <p:nvSpPr>
          <p:cNvPr id="153" name="Google Shape;153;p41"/>
          <p:cNvSpPr/>
          <p:nvPr/>
        </p:nvSpPr>
        <p:spPr>
          <a:xfrm>
            <a:off x="0" y="-2845"/>
            <a:ext cx="7528884" cy="6486772"/>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5" name="Google Shape;155;p4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156" name="Google Shape;156;p41"/>
          <p:cNvPicPr preferRelativeResize="0"/>
          <p:nvPr/>
        </p:nvPicPr>
        <p:blipFill rotWithShape="1">
          <a:blip r:embed="rId2">
            <a:alphaModFix/>
          </a:blip>
          <a:srcRect b="0" l="0" r="0" t="0"/>
          <a:stretch/>
        </p:blipFill>
        <p:spPr>
          <a:xfrm>
            <a:off x="708409" y="2103120"/>
            <a:ext cx="1944123" cy="3956064"/>
          </a:xfrm>
          <a:prstGeom prst="rect">
            <a:avLst/>
          </a:prstGeom>
          <a:noFill/>
          <a:ln>
            <a:noFill/>
          </a:ln>
        </p:spPr>
      </p:pic>
      <p:sp>
        <p:nvSpPr>
          <p:cNvPr id="157" name="Google Shape;157;p41"/>
          <p:cNvSpPr/>
          <p:nvPr>
            <p:ph idx="2" type="pic"/>
          </p:nvPr>
        </p:nvSpPr>
        <p:spPr>
          <a:xfrm>
            <a:off x="824948" y="2225675"/>
            <a:ext cx="1709530" cy="3702050"/>
          </a:xfrm>
          <a:prstGeom prst="roundRect">
            <a:avLst>
              <a:gd fmla="val 7790" name="adj"/>
            </a:avLst>
          </a:prstGeom>
          <a:noFill/>
          <a:ln>
            <a:noFill/>
          </a:ln>
        </p:spPr>
      </p:sp>
      <p:pic>
        <p:nvPicPr>
          <p:cNvPr id="158" name="Google Shape;158;p41"/>
          <p:cNvPicPr preferRelativeResize="0"/>
          <p:nvPr/>
        </p:nvPicPr>
        <p:blipFill rotWithShape="1">
          <a:blip r:embed="rId3">
            <a:alphaModFix/>
          </a:blip>
          <a:srcRect b="0" l="0" r="0" t="0"/>
          <a:stretch/>
        </p:blipFill>
        <p:spPr>
          <a:xfrm>
            <a:off x="2717545" y="1816925"/>
            <a:ext cx="3481374" cy="4567444"/>
          </a:xfrm>
          <a:prstGeom prst="rect">
            <a:avLst/>
          </a:prstGeom>
          <a:noFill/>
          <a:ln>
            <a:noFill/>
          </a:ln>
        </p:spPr>
      </p:pic>
      <p:sp>
        <p:nvSpPr>
          <p:cNvPr id="159" name="Google Shape;159;p41"/>
          <p:cNvSpPr/>
          <p:nvPr>
            <p:ph idx="3" type="pic"/>
          </p:nvPr>
        </p:nvSpPr>
        <p:spPr>
          <a:xfrm>
            <a:off x="2869284" y="1977842"/>
            <a:ext cx="3185349" cy="4266203"/>
          </a:xfrm>
          <a:prstGeom prst="roundRect">
            <a:avLst>
              <a:gd fmla="val 1868" name="adj"/>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22" Type="http://schemas.openxmlformats.org/officeDocument/2006/relationships/slideLayout" Target="../slideLayouts/slideLayout20.xml"/><Relationship Id="rId21" Type="http://schemas.openxmlformats.org/officeDocument/2006/relationships/slideLayout" Target="../slideLayouts/slideLayout19.xml"/><Relationship Id="rId24" Type="http://schemas.openxmlformats.org/officeDocument/2006/relationships/slideLayout" Target="../slideLayouts/slideLayout22.xml"/><Relationship Id="rId23" Type="http://schemas.openxmlformats.org/officeDocument/2006/relationships/slideLayout" Target="../slideLayouts/slideLayout21.xml"/><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26" Type="http://schemas.openxmlformats.org/officeDocument/2006/relationships/slideLayout" Target="../slideLayouts/slideLayout24.xml"/><Relationship Id="rId25" Type="http://schemas.openxmlformats.org/officeDocument/2006/relationships/slideLayout" Target="../slideLayouts/slideLayout23.xml"/><Relationship Id="rId28" Type="http://schemas.openxmlformats.org/officeDocument/2006/relationships/slideLayout" Target="../slideLayouts/slideLayout26.xml"/><Relationship Id="rId27" Type="http://schemas.openxmlformats.org/officeDocument/2006/relationships/slideLayout" Target="../slideLayouts/slideLayout25.xml"/><Relationship Id="rId5" Type="http://schemas.openxmlformats.org/officeDocument/2006/relationships/slideLayout" Target="../slideLayouts/slideLayout3.xml"/><Relationship Id="rId6" Type="http://schemas.openxmlformats.org/officeDocument/2006/relationships/slideLayout" Target="../slideLayouts/slideLayout4.xml"/><Relationship Id="rId29" Type="http://schemas.openxmlformats.org/officeDocument/2006/relationships/theme" Target="../theme/theme2.xml"/><Relationship Id="rId7" Type="http://schemas.openxmlformats.org/officeDocument/2006/relationships/slideLayout" Target="../slideLayouts/slideLayout5.xml"/><Relationship Id="rId8" Type="http://schemas.openxmlformats.org/officeDocument/2006/relationships/slideLayout" Target="../slideLayouts/slideLayout6.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19" Type="http://schemas.openxmlformats.org/officeDocument/2006/relationships/slideLayout" Target="../slideLayouts/slideLayout17.xml"/><Relationship Id="rId1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32549"/>
          </a:srgbClr>
        </a:solidFill>
      </p:bgPr>
    </p:bg>
    <p:spTree>
      <p:nvGrpSpPr>
        <p:cNvPr id="9" name="Shape 9"/>
        <p:cNvGrpSpPr/>
        <p:nvPr/>
      </p:nvGrpSpPr>
      <p:grpSpPr>
        <a:xfrm>
          <a:off x="0" y="0"/>
          <a:ext cx="0" cy="0"/>
          <a:chOff x="0" y="0"/>
          <a:chExt cx="0" cy="0"/>
        </a:xfrm>
      </p:grpSpPr>
      <p:sp>
        <p:nvSpPr>
          <p:cNvPr id="10" name="Google Shape;10;p13"/>
          <p:cNvSpPr/>
          <p:nvPr/>
        </p:nvSpPr>
        <p:spPr>
          <a:xfrm>
            <a:off x="628226" y="6484103"/>
            <a:ext cx="3185744" cy="212676"/>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1" name="Google Shape;11;p13"/>
          <p:cNvCxnSpPr/>
          <p:nvPr/>
        </p:nvCxnSpPr>
        <p:spPr>
          <a:xfrm>
            <a:off x="0" y="6580451"/>
            <a:ext cx="12192000" cy="0"/>
          </a:xfrm>
          <a:prstGeom prst="straightConnector1">
            <a:avLst/>
          </a:prstGeom>
          <a:noFill/>
          <a:ln cap="flat" cmpd="sng" w="19050">
            <a:solidFill>
              <a:schemeClr val="lt1"/>
            </a:solidFill>
            <a:prstDash val="solid"/>
            <a:miter lim="800000"/>
            <a:headEnd len="sm" w="sm" type="none"/>
            <a:tailEnd len="sm" w="sm" type="none"/>
          </a:ln>
        </p:spPr>
      </p:cxnSp>
      <p:sp>
        <p:nvSpPr>
          <p:cNvPr id="12" name="Google Shape;12;p13"/>
          <p:cNvSpPr/>
          <p:nvPr/>
        </p:nvSpPr>
        <p:spPr>
          <a:xfrm>
            <a:off x="10637134" y="6470465"/>
            <a:ext cx="756421" cy="260177"/>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 name="Google Shape;13;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3600" u="none" cap="none" strike="noStrike">
                <a:solidFill>
                  <a:srgbClr val="3F3F3F"/>
                </a:solidFill>
                <a:latin typeface="Lato"/>
                <a:ea typeface="Lato"/>
                <a:cs typeface="Lato"/>
                <a:sym typeface="Lato"/>
              </a:defRPr>
            </a:lvl1pPr>
            <a:lvl2pPr lvl="1"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2pPr>
            <a:lvl3pPr lvl="2"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3pPr>
            <a:lvl4pPr lvl="3"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4pPr>
            <a:lvl5pPr lvl="4"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5pPr>
            <a:lvl6pPr lvl="5"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6pPr>
            <a:lvl7pPr lvl="6"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7pPr>
            <a:lvl8pPr lvl="7"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8pPr>
            <a:lvl9pPr lvl="8"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9pPr>
          </a:lstStyle>
          <a:p/>
        </p:txBody>
      </p:sp>
      <p:sp>
        <p:nvSpPr>
          <p:cNvPr id="14" name="Google Shape;14;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595959"/>
              </a:buClr>
              <a:buSzPts val="2800"/>
              <a:buFont typeface="Arial"/>
              <a:buChar char="•"/>
              <a:defRPr b="0" i="0" sz="2800" u="none" cap="none" strike="noStrike">
                <a:solidFill>
                  <a:srgbClr val="595959"/>
                </a:solidFill>
                <a:latin typeface="Lato"/>
                <a:ea typeface="Lato"/>
                <a:cs typeface="Lato"/>
                <a:sym typeface="Lato"/>
              </a:defRPr>
            </a:lvl1pPr>
            <a:lvl2pPr indent="-381000" lvl="1" marL="914400" marR="0" rtl="0" algn="l">
              <a:lnSpc>
                <a:spcPct val="90000"/>
              </a:lnSpc>
              <a:spcBef>
                <a:spcPts val="500"/>
              </a:spcBef>
              <a:spcAft>
                <a:spcPts val="0"/>
              </a:spcAft>
              <a:buClr>
                <a:srgbClr val="595959"/>
              </a:buClr>
              <a:buSzPts val="2400"/>
              <a:buFont typeface="Arial"/>
              <a:buChar char="•"/>
              <a:defRPr b="0" i="0" sz="2400" u="none" cap="none" strike="noStrike">
                <a:solidFill>
                  <a:srgbClr val="595959"/>
                </a:solidFill>
                <a:latin typeface="Lato"/>
                <a:ea typeface="Lato"/>
                <a:cs typeface="Lato"/>
                <a:sym typeface="Lato"/>
              </a:defRPr>
            </a:lvl2pPr>
            <a:lvl3pPr indent="-355600" lvl="2" marL="1371600" marR="0" rtl="0" algn="l">
              <a:lnSpc>
                <a:spcPct val="90000"/>
              </a:lnSpc>
              <a:spcBef>
                <a:spcPts val="500"/>
              </a:spcBef>
              <a:spcAft>
                <a:spcPts val="0"/>
              </a:spcAft>
              <a:buClr>
                <a:srgbClr val="595959"/>
              </a:buClr>
              <a:buSzPts val="2000"/>
              <a:buFont typeface="Arial"/>
              <a:buChar char="•"/>
              <a:defRPr b="0" i="0" sz="2000" u="none" cap="none" strike="noStrike">
                <a:solidFill>
                  <a:srgbClr val="595959"/>
                </a:solidFill>
                <a:latin typeface="Lato"/>
                <a:ea typeface="Lato"/>
                <a:cs typeface="Lato"/>
                <a:sym typeface="Lato"/>
              </a:defRPr>
            </a:lvl3pPr>
            <a:lvl4pPr indent="-342900" lvl="3" marL="18288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4pPr>
            <a:lvl5pPr indent="-342900" lvl="4" marL="22860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 name="Google Shape;15;p1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16" name="Google Shape;16;p13"/>
          <p:cNvPicPr preferRelativeResize="0"/>
          <p:nvPr/>
        </p:nvPicPr>
        <p:blipFill rotWithShape="1">
          <a:blip r:embed="rId1">
            <a:alphaModFix/>
          </a:blip>
          <a:srcRect b="0" l="0" r="0" t="0"/>
          <a:stretch/>
        </p:blipFill>
        <p:spPr>
          <a:xfrm>
            <a:off x="838200" y="6513174"/>
            <a:ext cx="2824372" cy="158262"/>
          </a:xfrm>
          <a:prstGeom prst="rect">
            <a:avLst/>
          </a:prstGeom>
          <a:noFill/>
          <a:ln>
            <a:noFill/>
          </a:ln>
        </p:spPr>
      </p:pic>
      <p:sp>
        <p:nvSpPr>
          <p:cNvPr id="17" name="Google Shape;17;p13"/>
          <p:cNvSpPr/>
          <p:nvPr/>
        </p:nvSpPr>
        <p:spPr>
          <a:xfrm>
            <a:off x="10328961" y="1"/>
            <a:ext cx="1860468" cy="780222"/>
          </a:xfrm>
          <a:custGeom>
            <a:rect b="b" l="l" r="r" t="t"/>
            <a:pathLst>
              <a:path extrusionOk="0" h="997527" w="1860468">
                <a:moveTo>
                  <a:pt x="0" y="0"/>
                </a:moveTo>
                <a:lnTo>
                  <a:pt x="1860468" y="0"/>
                </a:lnTo>
                <a:lnTo>
                  <a:pt x="1860468" y="997527"/>
                </a:lnTo>
                <a:lnTo>
                  <a:pt x="521805" y="997527"/>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18" name="Google Shape;18;p13"/>
          <p:cNvPicPr preferRelativeResize="0"/>
          <p:nvPr/>
        </p:nvPicPr>
        <p:blipFill rotWithShape="1">
          <a:blip r:embed="rId2">
            <a:alphaModFix/>
          </a:blip>
          <a:srcRect b="0" l="0" r="0" t="0"/>
          <a:stretch/>
        </p:blipFill>
        <p:spPr>
          <a:xfrm>
            <a:off x="10742685" y="161365"/>
            <a:ext cx="1344353" cy="4541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
                                        </p:tgtEl>
                                        <p:attrNameLst>
                                          <p:attrName>style.visibility</p:attrName>
                                        </p:attrNameLst>
                                      </p:cBhvr>
                                      <p:to>
                                        <p:strVal val="visible"/>
                                      </p:to>
                                    </p:set>
                                    <p:animEffect filter="fade" transition="in">
                                      <p:cBhvr>
                                        <p:cTn dur="1000"/>
                                        <p:tgtEl>
                                          <p:spTgt spid="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2.png"/><Relationship Id="rId4" Type="http://schemas.openxmlformats.org/officeDocument/2006/relationships/image" Target="../media/image2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 Id="rId3" Type="http://schemas.openxmlformats.org/officeDocument/2006/relationships/image" Target="../media/image20.jpg"/><Relationship Id="rId4" Type="http://schemas.openxmlformats.org/officeDocument/2006/relationships/image" Target="../media/image15.png"/><Relationship Id="rId9"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23.png"/><Relationship Id="rId7" Type="http://schemas.openxmlformats.org/officeDocument/2006/relationships/image" Target="../media/image17.png"/><Relationship Id="rId8"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title"/>
          </p:nvPr>
        </p:nvSpPr>
        <p:spPr>
          <a:xfrm>
            <a:off x="584823" y="2120900"/>
            <a:ext cx="5117700" cy="2874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Software Agile Project Management Principle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Outline</a:t>
            </a:r>
            <a:endParaRPr/>
          </a:p>
        </p:txBody>
      </p:sp>
      <p:sp>
        <p:nvSpPr>
          <p:cNvPr id="170" name="Google Shape;170;p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171" name="Google Shape;171;p2"/>
          <p:cNvSpPr txBox="1"/>
          <p:nvPr/>
        </p:nvSpPr>
        <p:spPr>
          <a:xfrm>
            <a:off x="983375" y="1735450"/>
            <a:ext cx="9973800" cy="4055400"/>
          </a:xfrm>
          <a:prstGeom prst="rect">
            <a:avLst/>
          </a:prstGeom>
          <a:noFill/>
          <a:ln>
            <a:noFill/>
          </a:ln>
        </p:spPr>
        <p:txBody>
          <a:bodyPr anchorCtr="0" anchor="t" bIns="91425" lIns="91425" spcFirstLastPara="1" rIns="91425" wrap="square" tIns="91425">
            <a:noAutofit/>
          </a:bodyPr>
          <a:lstStyle/>
          <a:p>
            <a:pPr indent="-406400" lvl="0" marL="457200" marR="0" rtl="0" algn="l">
              <a:lnSpc>
                <a:spcPct val="150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The fundamental and application of agile project principle.</a:t>
            </a:r>
            <a:endParaRPr b="0" i="0" sz="2800" u="none" cap="none" strike="noStrike">
              <a:solidFill>
                <a:srgbClr val="595959"/>
              </a:solidFill>
              <a:latin typeface="Lato"/>
              <a:ea typeface="Lato"/>
              <a:cs typeface="Lato"/>
              <a:sym typeface="Lato"/>
            </a:endParaRPr>
          </a:p>
          <a:p>
            <a:pPr indent="-406400" lvl="0" marL="457200" marR="0" rtl="0" algn="l">
              <a:lnSpc>
                <a:spcPct val="150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The concepts of project identification, analysis, treatment and monitoring.</a:t>
            </a:r>
            <a:endParaRPr b="0" i="0" sz="2800" u="none" cap="none" strike="noStrike">
              <a:solidFill>
                <a:srgbClr val="595959"/>
              </a:solidFill>
              <a:latin typeface="Lato"/>
              <a:ea typeface="Lato"/>
              <a:cs typeface="Lato"/>
              <a:sym typeface="Lato"/>
            </a:endParaRPr>
          </a:p>
          <a:p>
            <a:pPr indent="-406400" lvl="0" marL="457200" marR="0" rtl="0" algn="l">
              <a:lnSpc>
                <a:spcPct val="150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Documenting planning.</a:t>
            </a:r>
            <a:endParaRPr b="0" i="0" sz="2800" u="none" cap="none" strike="noStrike">
              <a:solidFill>
                <a:srgbClr val="595959"/>
              </a:solidFill>
              <a:latin typeface="Lato"/>
              <a:ea typeface="Lato"/>
              <a:cs typeface="Lato"/>
              <a:sym typeface="Lato"/>
            </a:endParaRPr>
          </a:p>
          <a:p>
            <a:pPr indent="-406400" lvl="0" marL="457200" marR="0" rtl="0" algn="l">
              <a:lnSpc>
                <a:spcPct val="150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User stories.</a:t>
            </a:r>
            <a:endParaRPr b="0" i="0" sz="2800" u="none" cap="none" strike="noStrike">
              <a:solidFill>
                <a:srgbClr val="595959"/>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7e47e77286_0_1"/>
          <p:cNvSpPr txBox="1"/>
          <p:nvPr>
            <p:ph type="title"/>
          </p:nvPr>
        </p:nvSpPr>
        <p:spPr>
          <a:xfrm>
            <a:off x="7377675" y="2149546"/>
            <a:ext cx="4677300" cy="28704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400"/>
              <a:buNone/>
            </a:pPr>
            <a:r>
              <a:rPr lang="en-MY"/>
              <a:t>Fundamental and Application of Agile Project Principle</a:t>
            </a:r>
            <a:endParaRPr/>
          </a:p>
        </p:txBody>
      </p:sp>
      <p:sp>
        <p:nvSpPr>
          <p:cNvPr id="178" name="Google Shape;178;g37e47e77286_0_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MY"/>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7e47e77286_0_180"/>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Learning Outcomes</a:t>
            </a:r>
            <a:endParaRPr/>
          </a:p>
        </p:txBody>
      </p:sp>
      <p:sp>
        <p:nvSpPr>
          <p:cNvPr id="184" name="Google Shape;184;g37e47e77286_0_18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185" name="Google Shape;185;g37e47e77286_0_180"/>
          <p:cNvSpPr txBox="1"/>
          <p:nvPr/>
        </p:nvSpPr>
        <p:spPr>
          <a:xfrm>
            <a:off x="632975" y="1806700"/>
            <a:ext cx="10674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By the end of this chapter, you will be able to explain the foundations of Agile, interpret the Agile Manifesto, and apply its principles in practice. You’ll also learn how Agile principles encourage adaptability, collaboration, and delivering value in projects.</a:t>
            </a:r>
            <a:endParaRPr b="0" i="0" sz="2200" u="none" cap="none" strike="noStrike">
              <a:solidFill>
                <a:srgbClr val="595959"/>
              </a:solidFill>
              <a:latin typeface="Lato"/>
              <a:ea typeface="Lato"/>
              <a:cs typeface="Lato"/>
              <a:sym typeface="Lato"/>
            </a:endParaRPr>
          </a:p>
          <a:p>
            <a:pPr indent="0" lvl="0" marL="457200" marR="0" rtl="0" algn="l">
              <a:lnSpc>
                <a:spcPct val="150000"/>
              </a:lnSpc>
              <a:spcBef>
                <a:spcPts val="0"/>
              </a:spcBef>
              <a:spcAft>
                <a:spcPts val="0"/>
              </a:spcAft>
              <a:buClr>
                <a:srgbClr val="000000"/>
              </a:buClr>
              <a:buSzPts val="800"/>
              <a:buFont typeface="Arial"/>
              <a:buNone/>
            </a:pPr>
            <a:r>
              <a:t/>
            </a:r>
            <a:endParaRPr b="0" i="0" sz="8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Understand the fundamentals of Agile principles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Explain the 12 Agile principles behind the manifesto</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Compare Agile with traditional project management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Apply Agile concepts in software projects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Recognize the benefits of collaboration and adaptability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7e47e77286_0_189"/>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What is Agile Project Management?</a:t>
            </a:r>
            <a:endParaRPr/>
          </a:p>
        </p:txBody>
      </p:sp>
      <p:sp>
        <p:nvSpPr>
          <p:cNvPr id="191" name="Google Shape;191;g37e47e77286_0_18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192" name="Google Shape;192;g37e47e77286_0_189"/>
          <p:cNvSpPr txBox="1"/>
          <p:nvPr/>
        </p:nvSpPr>
        <p:spPr>
          <a:xfrm>
            <a:off x="632975" y="1956300"/>
            <a:ext cx="10674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Project Management is a modern approach that focuses on flexibility and iterative progress. Unlike predictive methods, Agile adapts to change and emphasizes customer value, collaboration, and continuous delivery.</a:t>
            </a:r>
            <a:endParaRPr b="0" i="0" sz="2200" u="none" cap="none" strike="noStrike">
              <a:solidFill>
                <a:srgbClr val="595959"/>
              </a:solidFill>
              <a:latin typeface="Lato"/>
              <a:ea typeface="Lato"/>
              <a:cs typeface="Lato"/>
              <a:sym typeface="Lato"/>
            </a:endParaRPr>
          </a:p>
          <a:p>
            <a:pPr indent="0" lvl="0" marL="457200" marR="0" rtl="0" algn="l">
              <a:lnSpc>
                <a:spcPct val="150000"/>
              </a:lnSpc>
              <a:spcBef>
                <a:spcPts val="0"/>
              </a:spcBef>
              <a:spcAft>
                <a:spcPts val="0"/>
              </a:spcAft>
              <a:buClr>
                <a:srgbClr val="000000"/>
              </a:buClr>
              <a:buSzPts val="800"/>
              <a:buFont typeface="Arial"/>
              <a:buNone/>
            </a:pPr>
            <a:r>
              <a:t/>
            </a:r>
            <a:endParaRPr b="0" i="0" sz="8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 flexible, iterative approach to project management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Delivers value early and continuously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Emphasizes collaboration, feedback, and adaptation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Contrast: adaptive vs. predictive methods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7e47e77286_0_196"/>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Why Agile?</a:t>
            </a:r>
            <a:endParaRPr/>
          </a:p>
        </p:txBody>
      </p:sp>
      <p:sp>
        <p:nvSpPr>
          <p:cNvPr id="198" name="Google Shape;198;g37e47e77286_0_19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199" name="Google Shape;199;g37e47e77286_0_196"/>
          <p:cNvSpPr txBox="1"/>
          <p:nvPr/>
        </p:nvSpPr>
        <p:spPr>
          <a:xfrm>
            <a:off x="632975" y="1713200"/>
            <a:ext cx="10674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emerged to address the shortcomings of traditional methods. Instead of waiting until the end, Agile ensures frequent delivery and constant collaboration with stakeholders, making projects more adaptive and customer-focused.</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Traditional approaches face:</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Fixed scope, rigid planning, late delivery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Agile responds with:</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Flexibility to change at any stage</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Small increments delivered frequently</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Continuous stakeholder engagement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7e47e77286_0_204"/>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Manifesto Overview</a:t>
            </a:r>
            <a:endParaRPr/>
          </a:p>
        </p:txBody>
      </p:sp>
      <p:sp>
        <p:nvSpPr>
          <p:cNvPr id="205" name="Google Shape;205;g37e47e77286_0_20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06" name="Google Shape;206;g37e47e77286_0_204"/>
          <p:cNvSpPr txBox="1"/>
          <p:nvPr/>
        </p:nvSpPr>
        <p:spPr>
          <a:xfrm>
            <a:off x="632975" y="1713200"/>
            <a:ext cx="10674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Agile Manifesto is the foundation of Agile practices. It consists of four values and twelve guiding principles that shape how Agile projects are managed. These principles apply across different frameworks such as Scrum, Kanban, and Extreme Programming.</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Introduced in 2001 by 17 software experts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Consists of:</a:t>
            </a:r>
            <a:endParaRPr b="0" i="0" sz="2200" u="none" cap="none" strike="noStrike">
              <a:solidFill>
                <a:srgbClr val="595959"/>
              </a:solidFill>
              <a:latin typeface="Lato"/>
              <a:ea typeface="Lato"/>
              <a:cs typeface="Lato"/>
              <a:sym typeface="Lato"/>
            </a:endParaRPr>
          </a:p>
          <a:p>
            <a:pPr indent="-368300" lvl="1" marL="1349999"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4 Core Values</a:t>
            </a:r>
            <a:endParaRPr b="0" i="0" sz="2200" u="none" cap="none" strike="noStrike">
              <a:solidFill>
                <a:srgbClr val="595959"/>
              </a:solidFill>
              <a:latin typeface="Lato"/>
              <a:ea typeface="Lato"/>
              <a:cs typeface="Lato"/>
              <a:sym typeface="Lato"/>
            </a:endParaRPr>
          </a:p>
          <a:p>
            <a:pPr indent="-368300" lvl="1" marL="1349999"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12 Guiding Principles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Foundation of Agile methodologies (Scrum, Kanban, XP)</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7e47e77286_0_211"/>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Manifesto Overview</a:t>
            </a:r>
            <a:endParaRPr/>
          </a:p>
        </p:txBody>
      </p:sp>
      <p:sp>
        <p:nvSpPr>
          <p:cNvPr id="212" name="Google Shape;212;g37e47e77286_0_21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213" name="Google Shape;213;g37e47e77286_0_211"/>
          <p:cNvPicPr preferRelativeResize="0"/>
          <p:nvPr/>
        </p:nvPicPr>
        <p:blipFill rotWithShape="1">
          <a:blip r:embed="rId3">
            <a:alphaModFix/>
          </a:blip>
          <a:srcRect b="0" l="0" r="0" t="0"/>
          <a:stretch/>
        </p:blipFill>
        <p:spPr>
          <a:xfrm>
            <a:off x="1862813" y="1781325"/>
            <a:ext cx="8466376" cy="4206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7e47e77286_0_218"/>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Value 1</a:t>
            </a:r>
            <a:endParaRPr/>
          </a:p>
        </p:txBody>
      </p:sp>
      <p:sp>
        <p:nvSpPr>
          <p:cNvPr id="219" name="Google Shape;219;g37e47e77286_0_21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20" name="Google Shape;220;g37e47e77286_0_218"/>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first value emphasizes that people and collaboration are more important than rigid tools and processes. Success comes from motivated individuals working together, not just following a checklist.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Individuals and interactions over processes and tools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People drive success, not tools alone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Communication &amp; teamwork create better outcomes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7e47e77286_0_226"/>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Value 2</a:t>
            </a:r>
            <a:endParaRPr/>
          </a:p>
        </p:txBody>
      </p:sp>
      <p:sp>
        <p:nvSpPr>
          <p:cNvPr id="226" name="Google Shape;226;g37e47e77286_0_22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27" name="Google Shape;227;g37e47e77286_0_226"/>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prioritizes delivering working software rather than producing extensive documents. While documentation has value, the true measure of progress is functional, usable output.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Working software over comprehensive documentation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Documentation is helpful but secondary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Functional results prove real progress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7e47e77286_0_235"/>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Value 3</a:t>
            </a:r>
            <a:endParaRPr/>
          </a:p>
        </p:txBody>
      </p:sp>
      <p:sp>
        <p:nvSpPr>
          <p:cNvPr id="233" name="Google Shape;233;g37e47e77286_0_23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34" name="Google Shape;234;g37e47e77286_0_235"/>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This value stresses the importance of working closely with customers throughout the project. Instead of relying only on contracts, Agile welcomes customer feedback to ensure the solution truly meets their needs.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Customer collaboration over contract negotiation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Involve customers in development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Requirements evolve with feedback</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7e47e77286_0_249"/>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Value 4</a:t>
            </a:r>
            <a:endParaRPr/>
          </a:p>
        </p:txBody>
      </p:sp>
      <p:sp>
        <p:nvSpPr>
          <p:cNvPr id="240" name="Google Shape;240;g37e47e77286_0_24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41" name="Google Shape;241;g37e47e77286_0_249"/>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acknowledges that change is inevitable. Rather than rigidly following a fixed plan, Agile adapts and adjusts to meet evolving requirements and deliver real value.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Responding to change over following a plan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Plans adapt to new insights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Flexibility creates better outcomes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7e47e77286_0_256"/>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Principles Overview</a:t>
            </a:r>
            <a:endParaRPr/>
          </a:p>
        </p:txBody>
      </p:sp>
      <p:sp>
        <p:nvSpPr>
          <p:cNvPr id="247" name="Google Shape;247;g37e47e77286_0_25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48" name="Google Shape;248;g37e47e77286_0_256"/>
          <p:cNvSpPr txBox="1"/>
          <p:nvPr/>
        </p:nvSpPr>
        <p:spPr>
          <a:xfrm>
            <a:off x="450675" y="2031100"/>
            <a:ext cx="4581600" cy="31527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twelve Agile principles translate the four core values into practical actions. They provide a detailed roadmap for Agile teams to adapt, collaborate, and deliver effectively.</a:t>
            </a:r>
            <a:endParaRPr b="0" i="0" sz="2200" u="none" cap="none" strike="noStrike">
              <a:solidFill>
                <a:srgbClr val="595959"/>
              </a:solidFill>
              <a:latin typeface="Lato"/>
              <a:ea typeface="Lato"/>
              <a:cs typeface="Lato"/>
              <a:sym typeface="Lato"/>
            </a:endParaRPr>
          </a:p>
        </p:txBody>
      </p:sp>
      <p:pic>
        <p:nvPicPr>
          <p:cNvPr id="249" name="Google Shape;249;g37e47e77286_0_256"/>
          <p:cNvPicPr preferRelativeResize="0"/>
          <p:nvPr/>
        </p:nvPicPr>
        <p:blipFill rotWithShape="1">
          <a:blip r:embed="rId3">
            <a:alphaModFix/>
          </a:blip>
          <a:srcRect b="0" l="0" r="0" t="0"/>
          <a:stretch/>
        </p:blipFill>
        <p:spPr>
          <a:xfrm>
            <a:off x="5278225" y="1609475"/>
            <a:ext cx="5501051" cy="48231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7e47e77286_0_263"/>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1: Customer Satisfaction</a:t>
            </a:r>
            <a:endParaRPr/>
          </a:p>
        </p:txBody>
      </p:sp>
      <p:sp>
        <p:nvSpPr>
          <p:cNvPr id="255" name="Google Shape;255;g37e47e77286_0_26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56" name="Google Shape;256;g37e47e77286_0_263"/>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first principle emphasizes customer satisfaction by delivering value early and often. In Scrum, this is achieved through short iterations, as seen in the FBI Sentinel project where frequent demos kept stakeholders engaged.</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Priority: satisfy the customer</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Deliver early and continuously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example: FBI Sentinel frequent demos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e47e77286_0_271"/>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2: Welcome Change</a:t>
            </a:r>
            <a:endParaRPr/>
          </a:p>
        </p:txBody>
      </p:sp>
      <p:sp>
        <p:nvSpPr>
          <p:cNvPr id="262" name="Google Shape;262;g37e47e77286_0_27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63" name="Google Shape;263;g37e47e77286_0_271"/>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sees change as an opportunity, not a problem. Even late in development, adapting to new needs helps projects stay competitive. Scrum embraces this with sprint planning and backlog adjustments.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Accept changes, even late in development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Change = competitive advantage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sprint flexibility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7e47e77286_0_278"/>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3: Frequent Delivery</a:t>
            </a:r>
            <a:endParaRPr/>
          </a:p>
        </p:txBody>
      </p:sp>
      <p:sp>
        <p:nvSpPr>
          <p:cNvPr id="269" name="Google Shape;269;g37e47e77286_0_27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70" name="Google Shape;270;g37e47e77286_0_278"/>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Instead of one big delivery at the end, Agile promotes frequent, small releases. This incremental approach ensures value is delivered regularly and feedback is gathered early.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Deliver working software every 2–4 weeks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Incremental releases improve value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increments demonstrate progress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7e47e77286_0_285"/>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4: Collaboration</a:t>
            </a:r>
            <a:endParaRPr/>
          </a:p>
        </p:txBody>
      </p:sp>
      <p:sp>
        <p:nvSpPr>
          <p:cNvPr id="276" name="Google Shape;276;g37e47e77286_0_28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77" name="Google Shape;277;g37e47e77286_0_285"/>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promotes strong collaboration between developers and business stakeholders. Daily discussions improve alignment, decision-making, and team trust.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Daily collaboration between business &amp; developers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Builds trust and faster decisions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daily standups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7e47e77286_0_292"/>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5: Motivated Individuals</a:t>
            </a:r>
            <a:endParaRPr/>
          </a:p>
        </p:txBody>
      </p:sp>
      <p:sp>
        <p:nvSpPr>
          <p:cNvPr id="283" name="Google Shape;283;g37e47e77286_0_29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84" name="Google Shape;284;g37e47e77286_0_292"/>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values motivated individuals, giving them the tools and trust to succeed. Scrum demonstrates this by empowering teams to self-organize and take ownership of their work.</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Projects succeed with motivated people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Provide support &amp; trust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self-organizing teams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7e47e77286_0_299"/>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6: Face-to-Face Communication</a:t>
            </a:r>
            <a:endParaRPr/>
          </a:p>
        </p:txBody>
      </p:sp>
      <p:sp>
        <p:nvSpPr>
          <p:cNvPr id="290" name="Google Shape;290;g37e47e77286_0_29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91" name="Google Shape;291;g37e47e77286_0_299"/>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Communication is most effective face-to-face. Agile encourages team discussions to quickly resolve issues and ensure shared understanding, such as daily standups and retrospectives in Scrum.</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Best way to share information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Builds stronger understanding</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standups, retrospectives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7e47e77286_0_30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7: Working Software as Progress Measure</a:t>
            </a:r>
            <a:endParaRPr/>
          </a:p>
        </p:txBody>
      </p:sp>
      <p:sp>
        <p:nvSpPr>
          <p:cNvPr id="297" name="Google Shape;297;g37e47e77286_0_30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298" name="Google Shape;298;g37e47e77286_0_306"/>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teams measure success by the software delivered, not by documentation produced. Delivering working software proves tangible progress.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Primary measure = working software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Not documents or reports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Progress = usable product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7e47e77286_0_31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8: Sustainable Pace</a:t>
            </a:r>
            <a:endParaRPr/>
          </a:p>
        </p:txBody>
      </p:sp>
      <p:sp>
        <p:nvSpPr>
          <p:cNvPr id="304" name="Google Shape;304;g37e47e77286_0_31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05" name="Google Shape;305;g37e47e77286_0_313"/>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emphasizes a balanced pace of work. By avoiding unrealistic deadlines, teams can maintain consistent productivity and quality.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Agile promotes steady, sustainable pace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Avoid burnout and fatigue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maintain constant velocity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7e47e77286_0_320"/>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9: Technical Excellence</a:t>
            </a:r>
            <a:endParaRPr/>
          </a:p>
        </p:txBody>
      </p:sp>
      <p:sp>
        <p:nvSpPr>
          <p:cNvPr id="311" name="Google Shape;311;g37e47e77286_0_32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12" name="Google Shape;312;g37e47e77286_0_320"/>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promotes technical excellence and strong design practices. By ensuring quality at every step, teams can adapt more easily and avoid costly rework.</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Quality &amp; good design enhance agility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Continuous attention to improvement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Example: Definition of Done ensures quality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7e47e77286_0_32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10: Simplicity</a:t>
            </a:r>
            <a:endParaRPr/>
          </a:p>
        </p:txBody>
      </p:sp>
      <p:sp>
        <p:nvSpPr>
          <p:cNvPr id="318" name="Google Shape;318;g37e47e77286_0_32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19" name="Google Shape;319;g37e47e77286_0_328"/>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emphasizes simplicity by focusing on essential features. The goal is to maximize the amount of work not done, while still delivering value.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Do only what is needed</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Avoid unnecessary work</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Focus on value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7e47e77286_0_335"/>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11: Self-Organizing Teams</a:t>
            </a:r>
            <a:endParaRPr/>
          </a:p>
        </p:txBody>
      </p:sp>
      <p:sp>
        <p:nvSpPr>
          <p:cNvPr id="325" name="Google Shape;325;g37e47e77286_0_33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26" name="Google Shape;326;g37e47e77286_0_335"/>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recognizes that self-organizing teams produce the most effective outcomes. By empowering teams to decide how to work, they innovate and take full responsibility for delivery.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Best results come from self-organizing teams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Teams decide how to achieve goals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empowered development teams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7e47e77286_0_342"/>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Principle 12: Reflection &amp; Adaptation</a:t>
            </a:r>
            <a:endParaRPr/>
          </a:p>
        </p:txBody>
      </p:sp>
      <p:sp>
        <p:nvSpPr>
          <p:cNvPr id="332" name="Google Shape;332;g37e47e77286_0_34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33" name="Google Shape;333;g37e47e77286_0_342"/>
          <p:cNvSpPr txBox="1"/>
          <p:nvPr/>
        </p:nvSpPr>
        <p:spPr>
          <a:xfrm>
            <a:off x="614275" y="1918900"/>
            <a:ext cx="7765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Continuous improvement is at the heart of Agile. Teams pause regularly to reflect and adapt their processes, ensuring better performance over time.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Teams reflect regularly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Adjust process to improve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retrospectives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7e47e77286_0_349"/>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 Agile Mindset</a:t>
            </a:r>
            <a:endParaRPr/>
          </a:p>
        </p:txBody>
      </p:sp>
      <p:sp>
        <p:nvSpPr>
          <p:cNvPr id="339" name="Google Shape;339;g37e47e77286_0_34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40" name="Google Shape;340;g37e47e77286_0_349"/>
          <p:cNvSpPr txBox="1"/>
          <p:nvPr/>
        </p:nvSpPr>
        <p:spPr>
          <a:xfrm>
            <a:off x="614275" y="1918900"/>
            <a:ext cx="107793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Agile mindset goes beyond frameworks. It’s about adopting flexibility, continuous value delivery, and collaboration as part of the team culture.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Focus on adaptability and collaboration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Deliver continuous value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Encourage experimentation and learning</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7e47e77286_0_35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Scrum as an Example of Agile in Action</a:t>
            </a:r>
            <a:endParaRPr/>
          </a:p>
        </p:txBody>
      </p:sp>
      <p:sp>
        <p:nvSpPr>
          <p:cNvPr id="346" name="Google Shape;346;g37e47e77286_0_35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47" name="Google Shape;347;g37e47e77286_0_356"/>
          <p:cNvSpPr txBox="1"/>
          <p:nvPr/>
        </p:nvSpPr>
        <p:spPr>
          <a:xfrm>
            <a:off x="614275" y="1918900"/>
            <a:ext cx="107793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Scrum is the most widely used Agile framework. It applies Agile values and principles through time-boxed sprints, defined roles, and regular ceremonies to ensure adaptability and delivery.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applies Agile values &amp; principles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Short sprints (2–4 weeks)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Roles: Product Owner, Scrum Master, Dev Team</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Events: Sprint, Standup, Retrospective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7e47e77286_0_36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Summary of Agile Fundamentals</a:t>
            </a:r>
            <a:endParaRPr/>
          </a:p>
        </p:txBody>
      </p:sp>
      <p:sp>
        <p:nvSpPr>
          <p:cNvPr id="353" name="Google Shape;353;g37e47e77286_0_36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54" name="Google Shape;354;g37e47e77286_0_363"/>
          <p:cNvSpPr txBox="1"/>
          <p:nvPr/>
        </p:nvSpPr>
        <p:spPr>
          <a:xfrm>
            <a:off x="614275" y="1918900"/>
            <a:ext cx="109872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 summary, Agile is both a mindset and a set of guiding principles. Its values and principles promote adaptability, collaboration, and delivering customer value. Scrum is a strong example of how these principles are applied in practice.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Agile = mindset + values + principles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4 Values + 12 Principles = Agile foundation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Encourages adaptability, collaboration, and customer focus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Scrum = practical application</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7e47e77286_0_173"/>
          <p:cNvSpPr txBox="1"/>
          <p:nvPr>
            <p:ph type="title"/>
          </p:nvPr>
        </p:nvSpPr>
        <p:spPr>
          <a:xfrm>
            <a:off x="7377675" y="2149546"/>
            <a:ext cx="4677300" cy="28704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400"/>
              <a:buNone/>
            </a:pPr>
            <a:r>
              <a:rPr lang="en-MY"/>
              <a:t>Concepts of Project Identification, Analysis, Treatment</a:t>
            </a:r>
            <a:endParaRPr/>
          </a:p>
        </p:txBody>
      </p:sp>
      <p:sp>
        <p:nvSpPr>
          <p:cNvPr id="361" name="Google Shape;361;g37e47e77286_0_17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7e47e77286_0_379"/>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Why Identification &amp; Monitoring are Critical</a:t>
            </a:r>
            <a:endParaRPr/>
          </a:p>
        </p:txBody>
      </p:sp>
      <p:sp>
        <p:nvSpPr>
          <p:cNvPr id="367" name="Google Shape;367;g37e47e77286_0_37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68" name="Google Shape;368;g37e47e77286_0_379"/>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Project identification ensures that goals, scope, and risks are clear from the start. Monitoring then provides a feedback loop, helping teams stay aligned and adapt when challenges arise. Both are critical for Agile success.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Identifies scope, risks, and resources early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Ensures alignment with objectives and stakeholders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Monitoring tracks progress &amp; adapts plan as needed</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7e47e77286_0_38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Vision &amp; Stakeholders</a:t>
            </a:r>
            <a:endParaRPr/>
          </a:p>
        </p:txBody>
      </p:sp>
      <p:sp>
        <p:nvSpPr>
          <p:cNvPr id="374" name="Google Shape;374;g37e47e77286_0_38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75" name="Google Shape;375;g37e47e77286_0_386"/>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Every Agile project starts with a clear vision. Identifying stakeholders early ensures that their needs are considered, making it easier to align priorities and reduce misunderstandings.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Define project vision – overall goal and purpose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Identify key stakeholders – customers, users, sponsors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Align expectations early to avoid conflicts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7e47e77286_0_39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Techniques for Identification</a:t>
            </a:r>
            <a:endParaRPr/>
          </a:p>
        </p:txBody>
      </p:sp>
      <p:sp>
        <p:nvSpPr>
          <p:cNvPr id="381" name="Google Shape;381;g37e47e77286_0_39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82" name="Google Shape;382;g37e47e77286_0_393"/>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teams use tools like SWOT and stakeholder mapping to identify internal strengths and external risks, while also categorizing stakeholders by their influence and importance to the project.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SWOT Analysis – strengths, weaknesses, opportunities, threats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Stakeholder Map – influence and interest levels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Helps in prioritizing stakeholder involvement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7e47e77286_0_399"/>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Project Analysis: Feasibility &amp; Risk Assessment</a:t>
            </a:r>
            <a:endParaRPr/>
          </a:p>
        </p:txBody>
      </p:sp>
      <p:sp>
        <p:nvSpPr>
          <p:cNvPr id="388" name="Google Shape;388;g37e47e77286_0_39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89" name="Google Shape;389;g37e47e77286_0_399"/>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Project analysis evaluates whether the project is worth pursuing.</a:t>
            </a:r>
            <a:r>
              <a:rPr b="0" i="0" lang="en-MY" sz="2200" u="none" cap="none" strike="noStrike">
                <a:solidFill>
                  <a:srgbClr val="595959"/>
                </a:solidFill>
                <a:latin typeface="Lato"/>
                <a:ea typeface="Lato"/>
                <a:cs typeface="Lato"/>
                <a:sym typeface="Lato"/>
              </a:rPr>
              <a:t> Agile promotes early feasibility checks and risk assessment to avoid wasted time and resources.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Check technical, financial, and operational feasibility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Assess risks using Agile-friendly methods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Prioritize manageable and valuable requirements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7e47e77286_0_40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Backlog Creation: Identifying Requirements</a:t>
            </a:r>
            <a:endParaRPr/>
          </a:p>
        </p:txBody>
      </p:sp>
      <p:sp>
        <p:nvSpPr>
          <p:cNvPr id="395" name="Google Shape;395;g37e47e77286_0_40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396" name="Google Shape;396;g37e47e77286_0_406"/>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 Agile, requirements are stored in a dynamic backlog, not fixed documents. User stories make requirements easier to prioritize and adapt as new information emerges.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Use Product Backlog to list features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Requirements captured as user stories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Continuously refined throughout project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7e47e77286_0_41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MoSCoW Prioritization</a:t>
            </a:r>
            <a:endParaRPr/>
          </a:p>
        </p:txBody>
      </p:sp>
      <p:sp>
        <p:nvSpPr>
          <p:cNvPr id="402" name="Google Shape;402;g37e47e77286_0_41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03" name="Google Shape;403;g37e47e77286_0_413"/>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MoSCoW is a prioritization method widely used in Agile. It helps teams focus on what is essential first, while leaving room for flexibility as time and resources permit.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Must have – critical features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Should have – important but not essential</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Could have – nice to include if possible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Won’t have (now) – excluded from this release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7e47e77286_0_421"/>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Timeboxing: Managing Effort &amp; Risks</a:t>
            </a:r>
            <a:endParaRPr/>
          </a:p>
        </p:txBody>
      </p:sp>
      <p:sp>
        <p:nvSpPr>
          <p:cNvPr id="409" name="Google Shape;409;g37e47e77286_0_42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10" name="Google Shape;410;g37e47e77286_0_421"/>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Timeboxing ensures that work is completed within strict time limits. This reduces the risk of scope creep and forces teams to focus on delivering the highest-value tasks within the available time.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Fixed time periods for tasks (sprints, iterations)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Encourages focus on priorities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Reduces risk of endless delays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7e47e77286_0_42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Monitoring with Burndown Chart</a:t>
            </a:r>
            <a:endParaRPr/>
          </a:p>
        </p:txBody>
      </p:sp>
      <p:sp>
        <p:nvSpPr>
          <p:cNvPr id="416" name="Google Shape;416;g37e47e77286_0_42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17" name="Google Shape;417;g37e47e77286_0_428"/>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Burndown charts give teams a simple, visual way to track whether work is on schedule. If the trend shows slippage, corrective action can be taken quickly.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Tracks remaining work vs. time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Visual indicator of sprint progress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Helps detect delays early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7e47e77286_0_43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Kanban Board: Task Visualization</a:t>
            </a:r>
            <a:endParaRPr/>
          </a:p>
        </p:txBody>
      </p:sp>
      <p:sp>
        <p:nvSpPr>
          <p:cNvPr id="423" name="Google Shape;423;g37e47e77286_0_43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24" name="Google Shape;424;g37e47e77286_0_436"/>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Kanban boards give teams a visual method of tracking task progress. By moving tasks across columns, bottlenecks are quickly identified, improving workflow efficiency.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Columns: To Do → In Progress → Done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Visualize work and bottlenecks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Supports continuous flow of tasks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7e47e77286_0_44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 Retrospectives: Continuous Learning</a:t>
            </a:r>
            <a:endParaRPr/>
          </a:p>
        </p:txBody>
      </p:sp>
      <p:sp>
        <p:nvSpPr>
          <p:cNvPr id="430" name="Google Shape;430;g37e47e77286_0_44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31" name="Google Shape;431;g37e47e77286_0_443"/>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encourages regular retrospectives where teams reflect on their performance. This continuous feedback loop drives learning and improvement over time.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Held at the end of each sprint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Identify what worked and what didn’t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Adjust processes for future improvement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7e47e77286_0_450"/>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Daily Standups: Team Synchronization</a:t>
            </a:r>
            <a:endParaRPr/>
          </a:p>
        </p:txBody>
      </p:sp>
      <p:sp>
        <p:nvSpPr>
          <p:cNvPr id="437" name="Google Shape;437;g37e47e77286_0_45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38" name="Google Shape;438;g37e47e77286_0_450"/>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Daily standups keep the team aligned and quickly highlight blockers. This ensures everyone is on the same page and can collaborate to solve problems.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15-minute daily meeting</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Team answers 3 key questions:</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What did I do yesterday?</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What will I do today?</a:t>
            </a:r>
            <a:endParaRPr b="0" i="0" sz="2200" u="none" cap="none" strike="noStrike">
              <a:solidFill>
                <a:srgbClr val="595959"/>
              </a:solidFill>
              <a:latin typeface="Lato"/>
              <a:ea typeface="Lato"/>
              <a:cs typeface="Lato"/>
              <a:sym typeface="Lato"/>
            </a:endParaRPr>
          </a:p>
          <a:p>
            <a:pPr indent="-368300" lvl="1" marL="126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What’s blocking me?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7e47e77286_0_457"/>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FBI Sentinel Project (1/4)</a:t>
            </a:r>
            <a:endParaRPr/>
          </a:p>
        </p:txBody>
      </p:sp>
      <p:sp>
        <p:nvSpPr>
          <p:cNvPr id="444" name="Google Shape;444;g37e47e77286_0_457"/>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45" name="Google Shape;445;g37e47e77286_0_457"/>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FBI Sentinel project initially struggled with Waterfall. Switching to Agile allowed faster delivery, cost savings, and improved stakeholder satisfaction.</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Large FBI project failed under Waterfall</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Restarted using Agile &amp; Scrum</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Delivered faster at lower cost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7e47e77286_0_464"/>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FBI Sentinel Project (2/4)</a:t>
            </a:r>
            <a:endParaRPr/>
          </a:p>
        </p:txBody>
      </p:sp>
      <p:sp>
        <p:nvSpPr>
          <p:cNvPr id="451" name="Google Shape;451;g37e47e77286_0_46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52" name="Google Shape;452;g37e47e77286_0_464"/>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Scrum sprints and demos enabled the FBI team to deliver working increments regularly. This kept stakeholders actively involved and allowed the team to adjust quickly.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Used short sprints for incremental delivery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Frequent demos kept stakeholders engaged</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Improved adaptability to changes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7e47e77286_0_471"/>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FBI Sentinel Project (3/4)</a:t>
            </a:r>
            <a:endParaRPr/>
          </a:p>
        </p:txBody>
      </p:sp>
      <p:sp>
        <p:nvSpPr>
          <p:cNvPr id="458" name="Google Shape;458;g37e47e77286_0_47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59" name="Google Shape;459;g37e47e77286_0_471"/>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Burndown charts provided visibility of team progress. This transparency helped ensure accountability and reduced misunderstandings between stakeholders.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Monitoring progress with burndown charts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Clear visibility of completed vs pending work</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Reduced miscommunication</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7e47e77286_0_47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FBI Sentinel Project (4/4)</a:t>
            </a:r>
            <a:endParaRPr/>
          </a:p>
        </p:txBody>
      </p:sp>
      <p:sp>
        <p:nvSpPr>
          <p:cNvPr id="465" name="Google Shape;465;g37e47e77286_0_47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66" name="Google Shape;466;g37e47e77286_0_478"/>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Through retrospectives and empowered teams, the FBI Sentinel project became a success story, proving that Agile works even in large government organizations.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Retrospectives improved process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Motivated, self-organizing teams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Success story for Agile in government</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7e47e77286_0_484"/>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Healthcare.gov Failure</a:t>
            </a:r>
            <a:endParaRPr/>
          </a:p>
        </p:txBody>
      </p:sp>
      <p:sp>
        <p:nvSpPr>
          <p:cNvPr id="472" name="Google Shape;472;g37e47e77286_0_48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73" name="Google Shape;473;g37e47e77286_0_484"/>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Healthcare.gov’s launch failure highlights the risks of rigid planning. Without Agile-style monitoring and iteration, the project could not adapt to problems in time, leading to a high-profile failure.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Used traditional Waterfall approach</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Resulted in delays and technical failures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Lack of iterative monitoring caused collapse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7e47e77286_0_491"/>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Section Wrap-up</a:t>
            </a:r>
            <a:endParaRPr/>
          </a:p>
        </p:txBody>
      </p:sp>
      <p:sp>
        <p:nvSpPr>
          <p:cNvPr id="479" name="Google Shape;479;g37e47e77286_0_49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80" name="Google Shape;480;g37e47e77286_0_491"/>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This section showed how Agile helps identify, analyze, treat, and monitor projects effectively. With practical tools and real-world cases, Agile proves its ability to improve outcomes compared to traditional methods.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Identification: vision, stakeholders, requirements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Analysis: feasibility, prioritization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Treatment: timeboxing, risk control</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Monitoring: burndown, Kanban, retrospectives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Case studies: FBI Sentinel (success), Healthcare.gov (failure)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37e47e77286_0_166"/>
          <p:cNvSpPr txBox="1"/>
          <p:nvPr>
            <p:ph type="title"/>
          </p:nvPr>
        </p:nvSpPr>
        <p:spPr>
          <a:xfrm>
            <a:off x="7377675" y="2149546"/>
            <a:ext cx="4677300" cy="28704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400"/>
              <a:buNone/>
            </a:pPr>
            <a:r>
              <a:rPr lang="en-MY"/>
              <a:t>Documenting Planning</a:t>
            </a:r>
            <a:endParaRPr/>
          </a:p>
        </p:txBody>
      </p:sp>
      <p:sp>
        <p:nvSpPr>
          <p:cNvPr id="487" name="Google Shape;487;g37e47e77286_0_16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7e47e77286_0_49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Agile Documentation vs Predictive Documentation</a:t>
            </a:r>
            <a:endParaRPr/>
          </a:p>
        </p:txBody>
      </p:sp>
      <p:sp>
        <p:nvSpPr>
          <p:cNvPr id="493" name="Google Shape;493;g37e47e77286_0_49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94" name="Google Shape;494;g37e47e77286_0_498"/>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 traditional project management, teams spend months writing detailed documentation before work starts. Agile flips this approach by keeping documentation lightweight and adaptable, focusing on delivering real value through working software.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Traditional (predictive) → heavy documentation upfront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Agile → lightweight, living documents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Focus on value over paperwork</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7e47e77286_0_505"/>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Levels in Agile</a:t>
            </a:r>
            <a:endParaRPr/>
          </a:p>
        </p:txBody>
      </p:sp>
      <p:sp>
        <p:nvSpPr>
          <p:cNvPr id="500" name="Google Shape;500;g37e47e77286_0_50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01" name="Google Shape;501;g37e47e77286_0_505"/>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planning occurs at multiple levels. It begins with the product vision, is broken into roadmaps and release plans, and finally refined in sprint plans, ensuring planning adapts across different time horizons.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Vision – long-term purpose of the product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Roadmap – high-level timeline &amp; direction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Release plan – upcoming deliverables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Sprint plan – short-term, detailed tasks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7e47e77286_0_512"/>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Levels in Agile</a:t>
            </a:r>
            <a:endParaRPr/>
          </a:p>
        </p:txBody>
      </p:sp>
      <p:sp>
        <p:nvSpPr>
          <p:cNvPr id="507" name="Google Shape;507;g37e47e77286_0_51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08" name="Google Shape;508;g37e47e77286_0_512"/>
          <p:cNvSpPr txBox="1"/>
          <p:nvPr/>
        </p:nvSpPr>
        <p:spPr>
          <a:xfrm>
            <a:off x="614275" y="1918900"/>
            <a:ext cx="104970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plans at multiple horizons. Vision, roadmap, release and sprint set direction; the daily plan is the operational heartbeat where the team re-plans work every day to protect the sprint goal—updating tasks, owners, and the board as reality changes.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Vision – long-term purpose &amp; outcomes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Roadmap – high-level time-phased themes/epics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Release plan – what fits into the next(s) release(s)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Sprint plan – 1–4 week iteration goal &amp; selected stories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Daily plan – day-to-day re-planning to hit the sprint goal (Daily Scrum)</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7e47e77286_0_51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Levels in Agile</a:t>
            </a:r>
            <a:endParaRPr/>
          </a:p>
        </p:txBody>
      </p:sp>
      <p:sp>
        <p:nvSpPr>
          <p:cNvPr id="514" name="Google Shape;514;g37e47e77286_0_51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515" name="Google Shape;515;g37e47e77286_0_518"/>
          <p:cNvPicPr preferRelativeResize="0"/>
          <p:nvPr/>
        </p:nvPicPr>
        <p:blipFill rotWithShape="1">
          <a:blip r:embed="rId3">
            <a:alphaModFix/>
          </a:blip>
          <a:srcRect b="0" l="0" r="0" t="2704"/>
          <a:stretch/>
        </p:blipFill>
        <p:spPr>
          <a:xfrm>
            <a:off x="2010950" y="1740525"/>
            <a:ext cx="8170075" cy="45959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7e47e77286_0_525"/>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Product Vision Document (Example)</a:t>
            </a:r>
            <a:endParaRPr/>
          </a:p>
        </p:txBody>
      </p:sp>
      <p:sp>
        <p:nvSpPr>
          <p:cNvPr id="521" name="Google Shape;521;g37e47e77286_0_52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22" name="Google Shape;522;g37e47e77286_0_525"/>
          <p:cNvSpPr txBox="1"/>
          <p:nvPr/>
        </p:nvSpPr>
        <p:spPr>
          <a:xfrm>
            <a:off x="614275" y="1918900"/>
            <a:ext cx="72108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product vision defines the “why” of the project. A clear vision keeps the team aligned with long-term goals while avoiding scope drift.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Describes overall product goal</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Aligns team &amp; stakeholders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Example: “Provide students with a seamless e-learning experience”</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7e47e77286_0_532"/>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Roadmap (Example Visualization)</a:t>
            </a:r>
            <a:endParaRPr/>
          </a:p>
        </p:txBody>
      </p:sp>
      <p:sp>
        <p:nvSpPr>
          <p:cNvPr id="528" name="Google Shape;528;g37e47e77286_0_53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29" name="Google Shape;529;g37e47e77286_0_532"/>
          <p:cNvSpPr txBox="1"/>
          <p:nvPr/>
        </p:nvSpPr>
        <p:spPr>
          <a:xfrm>
            <a:off x="614275" y="1918900"/>
            <a:ext cx="72108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roadmaps provide a big-picture view of the project’s direction. Unlike rigid Gantt charts, they evolve with stakeholder input and changing requirements.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Timeline view of major deliverables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Shows releases, milestones, dependencies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Keeps stakeholders informed</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7e47e77286_0_539"/>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Release Planning in Agile</a:t>
            </a:r>
            <a:endParaRPr/>
          </a:p>
        </p:txBody>
      </p:sp>
      <p:sp>
        <p:nvSpPr>
          <p:cNvPr id="535" name="Google Shape;535;g37e47e77286_0_53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36" name="Google Shape;536;g37e47e77286_0_539"/>
          <p:cNvSpPr txBox="1"/>
          <p:nvPr/>
        </p:nvSpPr>
        <p:spPr>
          <a:xfrm>
            <a:off x="614275" y="1918900"/>
            <a:ext cx="72108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Release planning organizes the backlog into sets of features that can be delivered together. This ensures customers see continuous progress and value at regular intervals.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Groups features into deliverable releases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Ensures value delivered incrementally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Balances scope, time, and quality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7e47e77286_0_54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Sprint Planning (Scrum)</a:t>
            </a:r>
            <a:endParaRPr/>
          </a:p>
        </p:txBody>
      </p:sp>
      <p:sp>
        <p:nvSpPr>
          <p:cNvPr id="542" name="Google Shape;542;g37e47e77286_0_54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43" name="Google Shape;543;g37e47e77286_0_546"/>
          <p:cNvSpPr txBox="1"/>
          <p:nvPr/>
        </p:nvSpPr>
        <p:spPr>
          <a:xfrm>
            <a:off x="614275" y="1918900"/>
            <a:ext cx="72108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Sprint planning sets the direction for each iteration. The team chooses high-priority items from the backlog, defines a sprint goal, and breaks them into tasks that can be completed within the sprint.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Held at start of each sprint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Team selects items from product backlog</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Defines sprint goal + tasks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7e47e77286_0_55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Daily Planning (Daily Scrum / Micro-Plan)</a:t>
            </a:r>
            <a:endParaRPr/>
          </a:p>
        </p:txBody>
      </p:sp>
      <p:sp>
        <p:nvSpPr>
          <p:cNvPr id="549" name="Google Shape;549;g37e47e77286_0_55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50" name="Google Shape;550;g37e47e77286_0_553"/>
          <p:cNvSpPr txBox="1"/>
          <p:nvPr/>
        </p:nvSpPr>
        <p:spPr>
          <a:xfrm>
            <a:off x="614275" y="1918900"/>
            <a:ext cx="107793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Daily planning happens in the Daily Scrum. The team inspects progress and immediately adapts the day’s plan—adding/splitting tasks, re-assigning work, and surfacing blockers. It’s not a status report; it’s a micro-planning session to keep the sprint on track.</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Purpose: re-plan the day to meet the sprint goal</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Cadence: 15 minutes, same time/place, whole team</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Focus: yesterday, today, impediments (then adjust tasks)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Updates: task board, WIP limits, burndown trend</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Outcomes: clear next steps, owners, escalated blockers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7e47e77286_0_561"/>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Product Backlog: Dynamic Documentation</a:t>
            </a:r>
            <a:endParaRPr/>
          </a:p>
        </p:txBody>
      </p:sp>
      <p:sp>
        <p:nvSpPr>
          <p:cNvPr id="556" name="Google Shape;556;g37e47e77286_0_56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57" name="Google Shape;557;g37e47e77286_0_561"/>
          <p:cNvSpPr txBox="1"/>
          <p:nvPr/>
        </p:nvSpPr>
        <p:spPr>
          <a:xfrm>
            <a:off x="614275" y="1918900"/>
            <a:ext cx="68187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product backlog is the single source of truth for project requirements. It evolves constantly, making it a living document that adapts as priorities change.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Master list of all requirements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Written as user stories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Continuously refined (backlog grooming)</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7e47e77286_0_56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Sprint Backlog: Living Plan</a:t>
            </a:r>
            <a:endParaRPr/>
          </a:p>
        </p:txBody>
      </p:sp>
      <p:sp>
        <p:nvSpPr>
          <p:cNvPr id="563" name="Google Shape;563;g37e47e77286_0_56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64" name="Google Shape;564;g37e47e77286_0_568"/>
          <p:cNvSpPr txBox="1"/>
          <p:nvPr/>
        </p:nvSpPr>
        <p:spPr>
          <a:xfrm>
            <a:off x="614275" y="1918900"/>
            <a:ext cx="68187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sprint backlog defines the team’s immediate work. Unlike static project plans, it changes as new insights appear during the sprint, ensuring flexibility while keeping accountability.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Subset of product backlog</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Contains tasks for the current sprint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Visible to the whole team</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37e47e77286_0_575"/>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Definition of Done (Scrum Example)</a:t>
            </a:r>
            <a:endParaRPr/>
          </a:p>
        </p:txBody>
      </p:sp>
      <p:sp>
        <p:nvSpPr>
          <p:cNvPr id="570" name="Google Shape;570;g37e47e77286_0_57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71" name="Google Shape;571;g37e47e77286_0_575"/>
          <p:cNvSpPr txBox="1"/>
          <p:nvPr/>
        </p:nvSpPr>
        <p:spPr>
          <a:xfrm>
            <a:off x="614275" y="1918900"/>
            <a:ext cx="68187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 Scrum, a Definition of Done ensures that work is not just “finished” but actually meets quality standards. It avoids ambiguity and ensures deliverables are usable.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Checklist of criteria for “done”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Ensures quality and consistency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Example: tested, documented, integrated</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7e47e77286_0_582"/>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Kanban as Documentation Tool</a:t>
            </a:r>
            <a:endParaRPr/>
          </a:p>
        </p:txBody>
      </p:sp>
      <p:sp>
        <p:nvSpPr>
          <p:cNvPr id="577" name="Google Shape;577;g37e47e77286_0_58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78" name="Google Shape;578;g37e47e77286_0_582"/>
          <p:cNvSpPr txBox="1"/>
          <p:nvPr/>
        </p:nvSpPr>
        <p:spPr>
          <a:xfrm>
            <a:off x="614275" y="1918900"/>
            <a:ext cx="73788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Kanban boards act as living documentation of work. By visually tracking tasks, they replace long reports and provide transparency for all stakeholders.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Visualizes work flow: To Do → In Progress → Done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Documents real-time status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Helps spot bottlenecks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7e47e77286_0_589"/>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Lightweight Planning: Avoiding Waste</a:t>
            </a:r>
            <a:endParaRPr/>
          </a:p>
        </p:txBody>
      </p:sp>
      <p:sp>
        <p:nvSpPr>
          <p:cNvPr id="584" name="Google Shape;584;g37e47e77286_0_58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85" name="Google Shape;585;g37e47e77286_0_589"/>
          <p:cNvSpPr txBox="1"/>
          <p:nvPr/>
        </p:nvSpPr>
        <p:spPr>
          <a:xfrm>
            <a:off x="614275" y="1918900"/>
            <a:ext cx="73788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Agile minimizes waste by producing only the documents that are actually useful. This keeps the team focused on communication and working software rather than endless paperwork.</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Plan only what is needed</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Avoid creating unused documents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Emphasize communication over paperwork</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37e47e77286_0_59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Spotify Model (1/3)</a:t>
            </a:r>
            <a:endParaRPr/>
          </a:p>
        </p:txBody>
      </p:sp>
      <p:sp>
        <p:nvSpPr>
          <p:cNvPr id="591" name="Google Shape;591;g37e47e77286_0_59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92" name="Google Shape;592;g37e47e77286_0_596"/>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Spotify adopted Agile to manage rapid growth. Their squads (small, autonomous teams) relied on lightweight planning tools such as visual roadmaps and evolving backlogs instead of heavy documentation.</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Spotify built Agile around autonomous squads &amp; tribes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Minimal documentation, heavy use of visual tools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Teams plan with roadmaps &amp; backlogs instead of Gantt charts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7e47e77286_0_60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Spotify Model (2/3)</a:t>
            </a:r>
            <a:endParaRPr/>
          </a:p>
        </p:txBody>
      </p:sp>
      <p:sp>
        <p:nvSpPr>
          <p:cNvPr id="598" name="Google Shape;598;g37e47e77286_0_60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99" name="Google Shape;599;g37e47e77286_0_603"/>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Spotify’s planning model works at several levels. Squads plan sprints, tribes align them into broader goals, and the company sets a high-level vision. Roadmaps act as evolving guides, encouraging adaptability.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Planning at multiple levels: squad → tribe → company</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Roadmaps used as guidelines, not fixed contracts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Focus on adaptability and innovation</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37e47e77286_0_61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Case Example: Spotify Model (3/3)</a:t>
            </a:r>
            <a:endParaRPr/>
          </a:p>
        </p:txBody>
      </p:sp>
      <p:sp>
        <p:nvSpPr>
          <p:cNvPr id="605" name="Google Shape;605;g37e47e77286_0_61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06" name="Google Shape;606;g37e47e77286_0_616"/>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Spotify emphasizes collaborative tools such as Kanban and backlog refinement. Documentation is limited to what helps teams align and adapt, ensuring efficiency without excessive paperwork.</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Strong use of Kanban &amp; backlog refinement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Documentation limited to what supports collaboration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Teams empowered to adjust plans dynamically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7e47e77286_0_610"/>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Section Wrap-up: Planning as a Continuous Activity</a:t>
            </a:r>
            <a:endParaRPr/>
          </a:p>
        </p:txBody>
      </p:sp>
      <p:sp>
        <p:nvSpPr>
          <p:cNvPr id="612" name="Google Shape;612;g37e47e77286_0_61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13" name="Google Shape;613;g37e47e77286_0_610"/>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 Agile, planning never stops. Teams set long-term intent, detail the near term, and re-plan daily to respond to change. Visible artifacts (backlogs/boards/DoD) and tight cadences keep everyone aligned while minimizing waste.</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Lightweight &amp; evolving: vision → roadmap → release → sprint → daily plan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Artifacts: backlog, boards, DoD, plans visible to all</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Practices: sprint planning + daily re-planning + reviews/retros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Key idea: plan just enough now, refine continuously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7e47e77286_0_159"/>
          <p:cNvSpPr txBox="1"/>
          <p:nvPr>
            <p:ph type="title"/>
          </p:nvPr>
        </p:nvSpPr>
        <p:spPr>
          <a:xfrm>
            <a:off x="7377675" y="2149546"/>
            <a:ext cx="4677300" cy="28704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400"/>
              <a:buNone/>
            </a:pPr>
            <a:r>
              <a:rPr lang="en-MY"/>
              <a:t>User Stories</a:t>
            </a:r>
            <a:endParaRPr/>
          </a:p>
        </p:txBody>
      </p:sp>
      <p:sp>
        <p:nvSpPr>
          <p:cNvPr id="620" name="Google Shape;620;g37e47e77286_0_15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7e47e77286_0_62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Introduction: User Story and Agile</a:t>
            </a:r>
            <a:endParaRPr/>
          </a:p>
        </p:txBody>
      </p:sp>
      <p:sp>
        <p:nvSpPr>
          <p:cNvPr id="626" name="Google Shape;626;g37e47e77286_0_62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27" name="Google Shape;627;g37e47e77286_0_623"/>
          <p:cNvSpPr txBox="1"/>
          <p:nvPr/>
        </p:nvSpPr>
        <p:spPr>
          <a:xfrm>
            <a:off x="574384" y="1598860"/>
            <a:ext cx="10440900" cy="4055400"/>
          </a:xfrm>
          <a:prstGeom prst="rect">
            <a:avLst/>
          </a:prstGeom>
          <a:noFill/>
          <a:ln>
            <a:noFill/>
          </a:ln>
        </p:spPr>
        <p:txBody>
          <a:bodyPr anchorCtr="0" anchor="t" bIns="91425" lIns="91425" spcFirstLastPara="1" rIns="91425" wrap="square" tIns="91425">
            <a:noAutofit/>
          </a:bodyPr>
          <a:lstStyle/>
          <a:p>
            <a:pPr indent="-342900" lvl="0" marL="342900" marR="0" rtl="0" algn="l">
              <a:lnSpc>
                <a:spcPct val="150000"/>
              </a:lnSpc>
              <a:spcBef>
                <a:spcPts val="0"/>
              </a:spcBef>
              <a:spcAft>
                <a:spcPts val="0"/>
              </a:spcAft>
              <a:buClr>
                <a:srgbClr val="000000"/>
              </a:buClr>
              <a:buSzPts val="2200"/>
              <a:buFont typeface="Noto Sans Symbols"/>
              <a:buChar char="▪"/>
            </a:pPr>
            <a:r>
              <a:rPr b="0" i="0" lang="en-MY" sz="2200" u="none" cap="none" strike="noStrike">
                <a:solidFill>
                  <a:srgbClr val="595959"/>
                </a:solidFill>
                <a:latin typeface="Lato"/>
                <a:ea typeface="Lato"/>
                <a:cs typeface="Lato"/>
                <a:sym typeface="Lato"/>
              </a:rPr>
              <a:t>A user story is an informal, general explanation of a software feature written from the perspective of the end user. Its purpose is to articulate how a software feature will provide value to the customer.</a:t>
            </a:r>
            <a:endParaRPr/>
          </a:p>
          <a:p>
            <a:pPr indent="-342900" lvl="0" marL="342900" marR="0" rtl="0" algn="l">
              <a:lnSpc>
                <a:spcPct val="150000"/>
              </a:lnSpc>
              <a:spcBef>
                <a:spcPts val="0"/>
              </a:spcBef>
              <a:spcAft>
                <a:spcPts val="0"/>
              </a:spcAft>
              <a:buClr>
                <a:srgbClr val="000000"/>
              </a:buClr>
              <a:buSzPts val="2200"/>
              <a:buFont typeface="Noto Sans Symbols"/>
              <a:buChar char="▪"/>
            </a:pPr>
            <a:r>
              <a:rPr b="0" i="0" lang="en-MY" sz="2200" u="none" cap="none" strike="noStrike">
                <a:solidFill>
                  <a:srgbClr val="595959"/>
                </a:solidFill>
                <a:latin typeface="Lato"/>
                <a:ea typeface="Lato"/>
                <a:cs typeface="Lato"/>
                <a:sym typeface="Lato"/>
              </a:rPr>
              <a:t>User stories are one of the core components of an agile program. it drives collaboration, clarity, and better products.</a:t>
            </a:r>
            <a:endParaRPr/>
          </a:p>
          <a:p>
            <a:pPr indent="-342900" lvl="0" marL="342900" marR="0" rtl="0" algn="l">
              <a:lnSpc>
                <a:spcPct val="150000"/>
              </a:lnSpc>
              <a:spcBef>
                <a:spcPts val="0"/>
              </a:spcBef>
              <a:spcAft>
                <a:spcPts val="0"/>
              </a:spcAft>
              <a:buClr>
                <a:srgbClr val="000000"/>
              </a:buClr>
              <a:buSzPts val="2200"/>
              <a:buFont typeface="Noto Sans Symbols"/>
              <a:buChar char="▪"/>
            </a:pPr>
            <a:r>
              <a:rPr b="0" i="0" lang="en-MY" sz="2200" u="none" cap="none" strike="noStrike">
                <a:solidFill>
                  <a:srgbClr val="595959"/>
                </a:solidFill>
                <a:latin typeface="Lato"/>
                <a:ea typeface="Lato"/>
                <a:cs typeface="Lato"/>
                <a:sym typeface="Lato"/>
              </a:rPr>
              <a:t>Written in non-technical language, it keeps the end user at the center. It explains what is built, why, and the value for the customer.</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Working with User Story</a:t>
            </a:r>
            <a:endParaRPr/>
          </a:p>
        </p:txBody>
      </p:sp>
      <p:sp>
        <p:nvSpPr>
          <p:cNvPr id="633" name="Google Shape;633;p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34" name="Google Shape;634;p3"/>
          <p:cNvSpPr txBox="1"/>
          <p:nvPr/>
        </p:nvSpPr>
        <p:spPr>
          <a:xfrm>
            <a:off x="574384" y="1598860"/>
            <a:ext cx="10440900" cy="2207330"/>
          </a:xfrm>
          <a:prstGeom prst="rect">
            <a:avLst/>
          </a:prstGeom>
          <a:noFill/>
          <a:ln>
            <a:noFill/>
          </a:ln>
        </p:spPr>
        <p:txBody>
          <a:bodyPr anchorCtr="0" anchor="t" bIns="91425" lIns="91425" spcFirstLastPara="1" rIns="91425" wrap="square" tIns="91425">
            <a:noAutofit/>
          </a:bodyPr>
          <a:lstStyle/>
          <a:p>
            <a:pPr indent="-342900" lvl="0" marL="342900" marR="0" rtl="0" algn="l">
              <a:lnSpc>
                <a:spcPct val="150000"/>
              </a:lnSpc>
              <a:spcBef>
                <a:spcPts val="0"/>
              </a:spcBef>
              <a:spcAft>
                <a:spcPts val="0"/>
              </a:spcAft>
              <a:buClr>
                <a:srgbClr val="000000"/>
              </a:buClr>
              <a:buSzPts val="2200"/>
              <a:buFont typeface="Noto Sans Symbols"/>
              <a:buChar char="▪"/>
            </a:pPr>
            <a:r>
              <a:rPr b="1" i="0" lang="en-MY" sz="2200" u="none" cap="none" strike="noStrike">
                <a:solidFill>
                  <a:srgbClr val="595959"/>
                </a:solidFill>
                <a:latin typeface="Lato"/>
                <a:ea typeface="Lato"/>
                <a:cs typeface="Lato"/>
                <a:sym typeface="Lato"/>
              </a:rPr>
              <a:t>Scrum</a:t>
            </a:r>
            <a:r>
              <a:rPr b="0" i="0" lang="en-MY" sz="2200" u="none" cap="none" strike="noStrike">
                <a:solidFill>
                  <a:srgbClr val="595959"/>
                </a:solidFill>
                <a:latin typeface="Lato"/>
                <a:ea typeface="Lato"/>
                <a:cs typeface="Lato"/>
                <a:sym typeface="Lato"/>
              </a:rPr>
              <a:t>: User stories go into sprints, driving estimation, planning, and forecasting.</a:t>
            </a:r>
            <a:endParaRPr/>
          </a:p>
          <a:p>
            <a:pPr indent="-342900" lvl="0" marL="342900" marR="0" rtl="0" algn="l">
              <a:lnSpc>
                <a:spcPct val="150000"/>
              </a:lnSpc>
              <a:spcBef>
                <a:spcPts val="0"/>
              </a:spcBef>
              <a:spcAft>
                <a:spcPts val="0"/>
              </a:spcAft>
              <a:buClr>
                <a:srgbClr val="000000"/>
              </a:buClr>
              <a:buSzPts val="2200"/>
              <a:buFont typeface="Noto Sans Symbols"/>
              <a:buChar char="▪"/>
            </a:pPr>
            <a:r>
              <a:rPr b="1" i="0" lang="en-MY" sz="2200" u="none" cap="none" strike="noStrike">
                <a:solidFill>
                  <a:srgbClr val="595959"/>
                </a:solidFill>
                <a:latin typeface="Lato"/>
                <a:ea typeface="Lato"/>
                <a:cs typeface="Lato"/>
                <a:sym typeface="Lato"/>
              </a:rPr>
              <a:t>Kanban</a:t>
            </a:r>
            <a:r>
              <a:rPr b="0" i="0" lang="en-MY" sz="2200" u="none" cap="none" strike="noStrike">
                <a:solidFill>
                  <a:srgbClr val="595959"/>
                </a:solidFill>
                <a:latin typeface="Lato"/>
                <a:ea typeface="Lato"/>
                <a:cs typeface="Lato"/>
                <a:sym typeface="Lato"/>
              </a:rPr>
              <a:t>: User stories move through workflow, helping manage WIP and refine processes. In both, stories improve agility and efficiency.</a:t>
            </a:r>
            <a:endParaRPr/>
          </a:p>
        </p:txBody>
      </p:sp>
      <p:pic>
        <p:nvPicPr>
          <p:cNvPr id="635" name="Google Shape;635;p3"/>
          <p:cNvPicPr preferRelativeResize="0"/>
          <p:nvPr/>
        </p:nvPicPr>
        <p:blipFill rotWithShape="1">
          <a:blip r:embed="rId3">
            <a:alphaModFix/>
          </a:blip>
          <a:srcRect b="0" l="0" r="0" t="0"/>
          <a:stretch/>
        </p:blipFill>
        <p:spPr>
          <a:xfrm>
            <a:off x="574384" y="4299181"/>
            <a:ext cx="2160951" cy="2294053"/>
          </a:xfrm>
          <a:prstGeom prst="rect">
            <a:avLst/>
          </a:prstGeom>
          <a:noFill/>
          <a:ln>
            <a:noFill/>
          </a:ln>
        </p:spPr>
      </p:pic>
      <p:pic>
        <p:nvPicPr>
          <p:cNvPr id="636" name="Google Shape;636;p3"/>
          <p:cNvPicPr preferRelativeResize="0"/>
          <p:nvPr/>
        </p:nvPicPr>
        <p:blipFill rotWithShape="1">
          <a:blip r:embed="rId4">
            <a:alphaModFix/>
          </a:blip>
          <a:srcRect b="0" l="0" r="0" t="0"/>
          <a:stretch/>
        </p:blipFill>
        <p:spPr>
          <a:xfrm>
            <a:off x="3198463" y="4299181"/>
            <a:ext cx="2207928" cy="2278394"/>
          </a:xfrm>
          <a:prstGeom prst="rect">
            <a:avLst/>
          </a:prstGeom>
          <a:solidFill>
            <a:srgbClr val="FBFBFB"/>
          </a:solidFill>
          <a:ln>
            <a:noFill/>
          </a:ln>
        </p:spPr>
      </p:pic>
      <p:sp>
        <p:nvSpPr>
          <p:cNvPr id="637" name="Google Shape;637;p3"/>
          <p:cNvSpPr/>
          <p:nvPr/>
        </p:nvSpPr>
        <p:spPr>
          <a:xfrm>
            <a:off x="688054" y="3469440"/>
            <a:ext cx="4710472" cy="502920"/>
          </a:xfrm>
          <a:prstGeom prst="rect">
            <a:avLst/>
          </a:prstGeom>
          <a:solidFill>
            <a:srgbClr val="0070C0"/>
          </a:solidFill>
          <a:ln cap="flat" cmpd="sng" w="25400">
            <a:solidFill>
              <a:srgbClr val="370E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MY" sz="1400" u="none" cap="none" strike="noStrike">
                <a:solidFill>
                  <a:schemeClr val="lt1"/>
                </a:solidFill>
                <a:latin typeface="Arial"/>
                <a:ea typeface="Arial"/>
                <a:cs typeface="Arial"/>
                <a:sym typeface="Arial"/>
              </a:rPr>
              <a:t>Initiative</a:t>
            </a:r>
            <a:endParaRPr/>
          </a:p>
        </p:txBody>
      </p:sp>
      <p:cxnSp>
        <p:nvCxnSpPr>
          <p:cNvPr id="638" name="Google Shape;638;p3"/>
          <p:cNvCxnSpPr>
            <a:stCxn id="637" idx="2"/>
            <a:endCxn id="635" idx="0"/>
          </p:cNvCxnSpPr>
          <p:nvPr/>
        </p:nvCxnSpPr>
        <p:spPr>
          <a:xfrm rot="5400000">
            <a:off x="2185740" y="3441510"/>
            <a:ext cx="326700" cy="1388400"/>
          </a:xfrm>
          <a:prstGeom prst="bentConnector3">
            <a:avLst>
              <a:gd fmla="val 50000" name="adj1"/>
            </a:avLst>
          </a:prstGeom>
          <a:noFill/>
          <a:ln cap="flat" cmpd="sng" w="25400">
            <a:solidFill>
              <a:schemeClr val="accent4"/>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639" name="Google Shape;639;p3"/>
          <p:cNvCxnSpPr>
            <a:stCxn id="637" idx="2"/>
            <a:endCxn id="636" idx="0"/>
          </p:cNvCxnSpPr>
          <p:nvPr/>
        </p:nvCxnSpPr>
        <p:spPr>
          <a:xfrm flipH="1" rot="-5400000">
            <a:off x="3509490" y="3506160"/>
            <a:ext cx="326700" cy="1259100"/>
          </a:xfrm>
          <a:prstGeom prst="bentConnector3">
            <a:avLst>
              <a:gd fmla="val 50000" name="adj1"/>
            </a:avLst>
          </a:prstGeom>
          <a:noFill/>
          <a:ln cap="flat" cmpd="sng" w="25400">
            <a:solidFill>
              <a:schemeClr val="accent4"/>
            </a:solidFill>
            <a:prstDash val="solid"/>
            <a:round/>
            <a:headEnd len="sm" w="sm" type="none"/>
            <a:tailEnd len="med" w="med" type="triangle"/>
          </a:ln>
          <a:effectLst>
            <a:outerShdw blurRad="40000" rotWithShape="0" dir="5400000" dist="20000">
              <a:srgbClr val="000000">
                <a:alpha val="37647"/>
              </a:srgbClr>
            </a:outerShdw>
          </a:effectLst>
        </p:spPr>
      </p:cxnSp>
      <p:pic>
        <p:nvPicPr>
          <p:cNvPr id="640" name="Google Shape;640;p3"/>
          <p:cNvPicPr preferRelativeResize="0"/>
          <p:nvPr/>
        </p:nvPicPr>
        <p:blipFill rotWithShape="1">
          <a:blip r:embed="rId3">
            <a:alphaModFix/>
          </a:blip>
          <a:srcRect b="0" l="0" r="0" t="0"/>
          <a:stretch/>
        </p:blipFill>
        <p:spPr>
          <a:xfrm>
            <a:off x="5732370" y="4294531"/>
            <a:ext cx="2160951" cy="2294053"/>
          </a:xfrm>
          <a:prstGeom prst="rect">
            <a:avLst/>
          </a:prstGeom>
          <a:noFill/>
          <a:ln>
            <a:noFill/>
          </a:ln>
        </p:spPr>
      </p:pic>
      <p:pic>
        <p:nvPicPr>
          <p:cNvPr id="641" name="Google Shape;641;p3"/>
          <p:cNvPicPr preferRelativeResize="0"/>
          <p:nvPr/>
        </p:nvPicPr>
        <p:blipFill rotWithShape="1">
          <a:blip r:embed="rId4">
            <a:alphaModFix/>
          </a:blip>
          <a:srcRect b="0" l="0" r="0" t="0"/>
          <a:stretch/>
        </p:blipFill>
        <p:spPr>
          <a:xfrm>
            <a:off x="8356449" y="4294531"/>
            <a:ext cx="2207928" cy="2278394"/>
          </a:xfrm>
          <a:prstGeom prst="rect">
            <a:avLst/>
          </a:prstGeom>
          <a:noFill/>
          <a:ln>
            <a:noFill/>
          </a:ln>
        </p:spPr>
      </p:pic>
      <p:sp>
        <p:nvSpPr>
          <p:cNvPr id="642" name="Google Shape;642;p3"/>
          <p:cNvSpPr/>
          <p:nvPr/>
        </p:nvSpPr>
        <p:spPr>
          <a:xfrm>
            <a:off x="5846040" y="3464790"/>
            <a:ext cx="4710472" cy="502920"/>
          </a:xfrm>
          <a:prstGeom prst="rect">
            <a:avLst/>
          </a:prstGeom>
          <a:solidFill>
            <a:srgbClr val="0070C0"/>
          </a:solidFill>
          <a:ln cap="flat" cmpd="sng" w="25400">
            <a:solidFill>
              <a:srgbClr val="370E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MY" sz="1400" u="none" cap="none" strike="noStrike">
                <a:solidFill>
                  <a:schemeClr val="lt1"/>
                </a:solidFill>
                <a:latin typeface="Arial"/>
                <a:ea typeface="Arial"/>
                <a:cs typeface="Arial"/>
                <a:sym typeface="Arial"/>
              </a:rPr>
              <a:t>Build a seamless online shopping experience</a:t>
            </a:r>
            <a:endParaRPr b="1" i="0" sz="1400" u="none" cap="none" strike="noStrike">
              <a:solidFill>
                <a:schemeClr val="lt1"/>
              </a:solidFill>
              <a:latin typeface="Arial"/>
              <a:ea typeface="Arial"/>
              <a:cs typeface="Arial"/>
              <a:sym typeface="Arial"/>
            </a:endParaRPr>
          </a:p>
        </p:txBody>
      </p:sp>
      <p:cxnSp>
        <p:nvCxnSpPr>
          <p:cNvPr id="643" name="Google Shape;643;p3"/>
          <p:cNvCxnSpPr>
            <a:stCxn id="642" idx="2"/>
            <a:endCxn id="640" idx="0"/>
          </p:cNvCxnSpPr>
          <p:nvPr/>
        </p:nvCxnSpPr>
        <p:spPr>
          <a:xfrm rot="5400000">
            <a:off x="7343726" y="3436860"/>
            <a:ext cx="326700" cy="1388400"/>
          </a:xfrm>
          <a:prstGeom prst="bentConnector3">
            <a:avLst>
              <a:gd fmla="val 50000" name="adj1"/>
            </a:avLst>
          </a:prstGeom>
          <a:noFill/>
          <a:ln cap="flat" cmpd="sng" w="25400">
            <a:solidFill>
              <a:schemeClr val="accent4"/>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644" name="Google Shape;644;p3"/>
          <p:cNvCxnSpPr>
            <a:stCxn id="642" idx="2"/>
            <a:endCxn id="641" idx="0"/>
          </p:cNvCxnSpPr>
          <p:nvPr/>
        </p:nvCxnSpPr>
        <p:spPr>
          <a:xfrm flipH="1" rot="-5400000">
            <a:off x="8667476" y="3501510"/>
            <a:ext cx="326700" cy="1259100"/>
          </a:xfrm>
          <a:prstGeom prst="bentConnector3">
            <a:avLst>
              <a:gd fmla="val 50000" name="adj1"/>
            </a:avLst>
          </a:prstGeom>
          <a:noFill/>
          <a:ln cap="flat" cmpd="sng" w="25400">
            <a:solidFill>
              <a:schemeClr val="accent4"/>
            </a:solidFill>
            <a:prstDash val="solid"/>
            <a:round/>
            <a:headEnd len="sm" w="sm" type="none"/>
            <a:tailEnd len="med" w="med" type="triangle"/>
          </a:ln>
          <a:effectLst>
            <a:outerShdw blurRad="40000" rotWithShape="0" dir="5400000" dist="20000">
              <a:srgbClr val="000000">
                <a:alpha val="37647"/>
              </a:srgbClr>
            </a:outerShdw>
          </a:effectLst>
        </p:spPr>
      </p:cxnSp>
      <p:sp>
        <p:nvSpPr>
          <p:cNvPr id="645" name="Google Shape;645;p3"/>
          <p:cNvSpPr txBox="1"/>
          <p:nvPr/>
        </p:nvSpPr>
        <p:spPr>
          <a:xfrm>
            <a:off x="5871524" y="4405908"/>
            <a:ext cx="1882641" cy="430887"/>
          </a:xfrm>
          <a:prstGeom prst="rect">
            <a:avLst/>
          </a:prstGeom>
          <a:solidFill>
            <a:srgbClr val="00B8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MY" sz="1100" u="none" cap="none" strike="noStrike">
                <a:solidFill>
                  <a:schemeClr val="lt1"/>
                </a:solidFill>
                <a:latin typeface="Arial"/>
                <a:ea typeface="Arial"/>
                <a:cs typeface="Arial"/>
                <a:sym typeface="Arial"/>
              </a:rPr>
              <a:t>User Account &amp; Authentication</a:t>
            </a:r>
            <a:endParaRPr/>
          </a:p>
        </p:txBody>
      </p:sp>
      <p:sp>
        <p:nvSpPr>
          <p:cNvPr id="646" name="Google Shape;646;p3"/>
          <p:cNvSpPr txBox="1"/>
          <p:nvPr/>
        </p:nvSpPr>
        <p:spPr>
          <a:xfrm>
            <a:off x="5749798" y="5429411"/>
            <a:ext cx="1063046" cy="369332"/>
          </a:xfrm>
          <a:prstGeom prst="rect">
            <a:avLst/>
          </a:prstGeom>
          <a:solidFill>
            <a:srgbClr val="00B8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MY" sz="900" u="none" cap="none" strike="noStrike">
                <a:solidFill>
                  <a:schemeClr val="lt1"/>
                </a:solidFill>
                <a:latin typeface="Arial"/>
                <a:ea typeface="Arial"/>
                <a:cs typeface="Arial"/>
                <a:sym typeface="Arial"/>
              </a:rPr>
              <a:t>User can register an account</a:t>
            </a:r>
            <a:endParaRPr b="1" i="0" sz="900" u="none" cap="none" strike="noStrike">
              <a:solidFill>
                <a:schemeClr val="lt1"/>
              </a:solidFill>
              <a:latin typeface="Arial"/>
              <a:ea typeface="Arial"/>
              <a:cs typeface="Arial"/>
              <a:sym typeface="Arial"/>
            </a:endParaRPr>
          </a:p>
        </p:txBody>
      </p:sp>
      <p:sp>
        <p:nvSpPr>
          <p:cNvPr id="647" name="Google Shape;647;p3"/>
          <p:cNvSpPr txBox="1"/>
          <p:nvPr/>
        </p:nvSpPr>
        <p:spPr>
          <a:xfrm>
            <a:off x="6832786" y="5440247"/>
            <a:ext cx="1063046" cy="369332"/>
          </a:xfrm>
          <a:prstGeom prst="rect">
            <a:avLst/>
          </a:prstGeom>
          <a:solidFill>
            <a:srgbClr val="00B8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MY" sz="900" u="none" cap="none" strike="noStrike">
                <a:solidFill>
                  <a:schemeClr val="lt1"/>
                </a:solidFill>
                <a:latin typeface="Arial"/>
                <a:ea typeface="Arial"/>
                <a:cs typeface="Arial"/>
                <a:sym typeface="Arial"/>
              </a:rPr>
              <a:t>User can login securely</a:t>
            </a:r>
            <a:endParaRPr b="1" i="0" sz="900" u="none" cap="none" strike="noStrike">
              <a:solidFill>
                <a:schemeClr val="lt1"/>
              </a:solidFill>
              <a:latin typeface="Arial"/>
              <a:ea typeface="Arial"/>
              <a:cs typeface="Arial"/>
              <a:sym typeface="Arial"/>
            </a:endParaRPr>
          </a:p>
        </p:txBody>
      </p:sp>
      <p:sp>
        <p:nvSpPr>
          <p:cNvPr id="648" name="Google Shape;648;p3"/>
          <p:cNvSpPr txBox="1"/>
          <p:nvPr/>
        </p:nvSpPr>
        <p:spPr>
          <a:xfrm>
            <a:off x="5738932" y="6127511"/>
            <a:ext cx="1063046" cy="369332"/>
          </a:xfrm>
          <a:prstGeom prst="rect">
            <a:avLst/>
          </a:prstGeom>
          <a:solidFill>
            <a:srgbClr val="00B8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MY" sz="900" u="none" cap="none" strike="noStrike">
                <a:solidFill>
                  <a:schemeClr val="lt1"/>
                </a:solidFill>
                <a:latin typeface="Arial"/>
                <a:ea typeface="Arial"/>
                <a:cs typeface="Arial"/>
                <a:sym typeface="Arial"/>
              </a:rPr>
              <a:t>Design signup form</a:t>
            </a:r>
            <a:endParaRPr b="1" i="0" sz="900" u="none" cap="none" strike="noStrike">
              <a:solidFill>
                <a:schemeClr val="lt1"/>
              </a:solidFill>
              <a:latin typeface="Arial"/>
              <a:ea typeface="Arial"/>
              <a:cs typeface="Arial"/>
              <a:sym typeface="Arial"/>
            </a:endParaRPr>
          </a:p>
        </p:txBody>
      </p:sp>
      <p:sp>
        <p:nvSpPr>
          <p:cNvPr id="649" name="Google Shape;649;p3"/>
          <p:cNvSpPr txBox="1"/>
          <p:nvPr/>
        </p:nvSpPr>
        <p:spPr>
          <a:xfrm>
            <a:off x="8519092" y="4405907"/>
            <a:ext cx="1882641" cy="430887"/>
          </a:xfrm>
          <a:prstGeom prst="rect">
            <a:avLst/>
          </a:prstGeom>
          <a:solidFill>
            <a:srgbClr val="FF8B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MY" sz="1100" u="none" cap="none" strike="noStrike">
                <a:solidFill>
                  <a:schemeClr val="lt1"/>
                </a:solidFill>
                <a:latin typeface="Arial"/>
                <a:ea typeface="Arial"/>
                <a:cs typeface="Arial"/>
                <a:sym typeface="Arial"/>
              </a:rPr>
              <a:t>Product Catalog &amp; Search</a:t>
            </a:r>
            <a:endParaRPr/>
          </a:p>
        </p:txBody>
      </p:sp>
      <p:sp>
        <p:nvSpPr>
          <p:cNvPr id="650" name="Google Shape;650;p3"/>
          <p:cNvSpPr txBox="1"/>
          <p:nvPr/>
        </p:nvSpPr>
        <p:spPr>
          <a:xfrm>
            <a:off x="8519092" y="5401724"/>
            <a:ext cx="1882641" cy="400110"/>
          </a:xfrm>
          <a:prstGeom prst="rect">
            <a:avLst/>
          </a:prstGeom>
          <a:solidFill>
            <a:srgbClr val="FF8B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MY" sz="1000" u="none" cap="none" strike="noStrike">
                <a:solidFill>
                  <a:schemeClr val="lt1"/>
                </a:solidFill>
                <a:latin typeface="Arial"/>
                <a:ea typeface="Arial"/>
                <a:cs typeface="Arial"/>
                <a:sym typeface="Arial"/>
              </a:rPr>
              <a:t>User can search products by keyword</a:t>
            </a:r>
            <a:endParaRPr b="1" i="0" sz="1000" u="none" cap="none" strike="noStrike">
              <a:solidFill>
                <a:schemeClr val="lt1"/>
              </a:solidFill>
              <a:latin typeface="Arial"/>
              <a:ea typeface="Arial"/>
              <a:cs typeface="Arial"/>
              <a:sym typeface="Arial"/>
            </a:endParaRPr>
          </a:p>
        </p:txBody>
      </p:sp>
      <p:sp>
        <p:nvSpPr>
          <p:cNvPr id="651" name="Google Shape;651;p3"/>
          <p:cNvSpPr txBox="1"/>
          <p:nvPr/>
        </p:nvSpPr>
        <p:spPr>
          <a:xfrm>
            <a:off x="8353938" y="6127511"/>
            <a:ext cx="1063046" cy="369332"/>
          </a:xfrm>
          <a:prstGeom prst="rect">
            <a:avLst/>
          </a:prstGeom>
          <a:solidFill>
            <a:srgbClr val="FF8B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MY" sz="900" u="none" cap="none" strike="noStrike">
                <a:solidFill>
                  <a:schemeClr val="lt1"/>
                </a:solidFill>
                <a:latin typeface="Arial"/>
                <a:ea typeface="Arial"/>
                <a:cs typeface="Arial"/>
                <a:sym typeface="Arial"/>
              </a:rPr>
              <a:t>Build search bar UI</a:t>
            </a:r>
            <a:endParaRPr/>
          </a:p>
        </p:txBody>
      </p:sp>
      <p:sp>
        <p:nvSpPr>
          <p:cNvPr id="652" name="Google Shape;652;p3"/>
          <p:cNvSpPr txBox="1"/>
          <p:nvPr/>
        </p:nvSpPr>
        <p:spPr>
          <a:xfrm>
            <a:off x="9459157" y="6138045"/>
            <a:ext cx="1063046" cy="369332"/>
          </a:xfrm>
          <a:prstGeom prst="rect">
            <a:avLst/>
          </a:prstGeom>
          <a:solidFill>
            <a:srgbClr val="FF8B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MY" sz="900" u="none" cap="none" strike="noStrike">
                <a:solidFill>
                  <a:schemeClr val="lt1"/>
                </a:solidFill>
                <a:latin typeface="Arial"/>
                <a:ea typeface="Arial"/>
                <a:cs typeface="Arial"/>
                <a:sym typeface="Arial"/>
              </a:rPr>
              <a:t>Implement search filtering</a:t>
            </a:r>
            <a:endParaRPr/>
          </a:p>
        </p:txBody>
      </p:sp>
      <p:sp>
        <p:nvSpPr>
          <p:cNvPr id="653" name="Google Shape;653;p3"/>
          <p:cNvSpPr txBox="1"/>
          <p:nvPr/>
        </p:nvSpPr>
        <p:spPr>
          <a:xfrm>
            <a:off x="8860284" y="2968355"/>
            <a:ext cx="2260791"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MY" sz="1100" u="none" cap="none" strike="noStrike">
                <a:solidFill>
                  <a:schemeClr val="dk2"/>
                </a:solidFill>
                <a:latin typeface="Arial"/>
                <a:ea typeface="Arial"/>
                <a:cs typeface="Arial"/>
                <a:sym typeface="Arial"/>
              </a:rPr>
              <a:t>User stories in a building block Initiative 🡪 Epic 🡪 Story</a:t>
            </a:r>
            <a:endParaRPr b="0" i="1" sz="1100" u="none" cap="none" strike="noStrike">
              <a:solidFill>
                <a:schemeClr val="dk2"/>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7e47e77286_0_630"/>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Variations of User Story Format</a:t>
            </a:r>
            <a:endParaRPr/>
          </a:p>
        </p:txBody>
      </p:sp>
      <p:sp>
        <p:nvSpPr>
          <p:cNvPr id="659" name="Google Shape;659;g37e47e77286_0_63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60" name="Google Shape;660;g37e47e77286_0_630"/>
          <p:cNvSpPr txBox="1"/>
          <p:nvPr/>
        </p:nvSpPr>
        <p:spPr>
          <a:xfrm>
            <a:off x="624435" y="1502340"/>
            <a:ext cx="10440900" cy="64142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common format ensures every user story explains the who, what, and why. </a:t>
            </a:r>
            <a:endParaRPr b="0" i="0" sz="2200" u="none" cap="none" strike="noStrike">
              <a:solidFill>
                <a:srgbClr val="595959"/>
              </a:solidFill>
              <a:latin typeface="Lato"/>
              <a:ea typeface="Lato"/>
              <a:cs typeface="Lato"/>
              <a:sym typeface="Lato"/>
            </a:endParaRPr>
          </a:p>
        </p:txBody>
      </p:sp>
      <p:graphicFrame>
        <p:nvGraphicFramePr>
          <p:cNvPr id="661" name="Google Shape;661;g37e47e77286_0_630"/>
          <p:cNvGraphicFramePr/>
          <p:nvPr/>
        </p:nvGraphicFramePr>
        <p:xfrm>
          <a:off x="791260" y="2253920"/>
          <a:ext cx="3000000" cy="3000000"/>
        </p:xfrm>
        <a:graphic>
          <a:graphicData uri="http://schemas.openxmlformats.org/drawingml/2006/table">
            <a:tbl>
              <a:tblPr bandRow="1" firstRow="1">
                <a:noFill/>
                <a:tableStyleId>{A9BCBC6A-71F0-4B33-AA21-A7A63AB5A51B}</a:tableStyleId>
              </a:tblPr>
              <a:tblGrid>
                <a:gridCol w="2185625"/>
                <a:gridCol w="3139450"/>
                <a:gridCol w="3027675"/>
                <a:gridCol w="2692400"/>
              </a:tblGrid>
              <a:tr h="370850">
                <a:tc>
                  <a:txBody>
                    <a:bodyPr/>
                    <a:lstStyle/>
                    <a:p>
                      <a:pPr indent="0" lvl="0" marL="0" marR="0" rtl="0" algn="l">
                        <a:lnSpc>
                          <a:spcPct val="100000"/>
                        </a:lnSpc>
                        <a:spcBef>
                          <a:spcPts val="0"/>
                        </a:spcBef>
                        <a:spcAft>
                          <a:spcPts val="0"/>
                        </a:spcAft>
                        <a:buNone/>
                      </a:pPr>
                      <a:r>
                        <a:rPr b="1" lang="en-MY" sz="1400" u="none" cap="none" strike="noStrike"/>
                        <a:t>Format</a:t>
                      </a:r>
                      <a:endParaRPr/>
                    </a:p>
                  </a:txBody>
                  <a:tcPr marT="45725" marB="45725" marR="91450" marL="91450">
                    <a:solidFill>
                      <a:srgbClr val="D8D8D8"/>
                    </a:solidFill>
                  </a:tcPr>
                </a:tc>
                <a:tc>
                  <a:txBody>
                    <a:bodyPr/>
                    <a:lstStyle/>
                    <a:p>
                      <a:pPr indent="0" lvl="0" marL="0" marR="0" rtl="0" algn="l">
                        <a:lnSpc>
                          <a:spcPct val="100000"/>
                        </a:lnSpc>
                        <a:spcBef>
                          <a:spcPts val="0"/>
                        </a:spcBef>
                        <a:spcAft>
                          <a:spcPts val="0"/>
                        </a:spcAft>
                        <a:buNone/>
                      </a:pPr>
                      <a:r>
                        <a:rPr b="1" lang="en-MY" sz="1400" u="none" cap="none" strike="noStrike"/>
                        <a:t>Structure</a:t>
                      </a:r>
                      <a:endParaRPr/>
                    </a:p>
                  </a:txBody>
                  <a:tcPr marT="45725" marB="45725" marR="91450" marL="91450">
                    <a:solidFill>
                      <a:srgbClr val="D8D8D8"/>
                    </a:solidFill>
                  </a:tcPr>
                </a:tc>
                <a:tc>
                  <a:txBody>
                    <a:bodyPr/>
                    <a:lstStyle/>
                    <a:p>
                      <a:pPr indent="0" lvl="0" marL="0" marR="0" rtl="0" algn="l">
                        <a:lnSpc>
                          <a:spcPct val="100000"/>
                        </a:lnSpc>
                        <a:spcBef>
                          <a:spcPts val="0"/>
                        </a:spcBef>
                        <a:spcAft>
                          <a:spcPts val="0"/>
                        </a:spcAft>
                        <a:buNone/>
                      </a:pPr>
                      <a:r>
                        <a:rPr b="1" lang="en-MY" sz="1400" u="none" cap="none" strike="noStrike"/>
                        <a:t>Example</a:t>
                      </a:r>
                      <a:endParaRPr/>
                    </a:p>
                  </a:txBody>
                  <a:tcPr marT="45725" marB="45725" marR="91450" marL="91450">
                    <a:solidFill>
                      <a:srgbClr val="D8D8D8"/>
                    </a:solidFill>
                  </a:tcPr>
                </a:tc>
                <a:tc>
                  <a:txBody>
                    <a:bodyPr/>
                    <a:lstStyle/>
                    <a:p>
                      <a:pPr indent="0" lvl="0" marL="0" marR="0" rtl="0" algn="l">
                        <a:lnSpc>
                          <a:spcPct val="100000"/>
                        </a:lnSpc>
                        <a:spcBef>
                          <a:spcPts val="0"/>
                        </a:spcBef>
                        <a:spcAft>
                          <a:spcPts val="0"/>
                        </a:spcAft>
                        <a:buNone/>
                      </a:pPr>
                      <a:r>
                        <a:rPr b="1" lang="en-MY" sz="1400" u="none" cap="none" strike="noStrike"/>
                        <a:t>Best Use Case</a:t>
                      </a:r>
                      <a:endParaRPr/>
                    </a:p>
                  </a:txBody>
                  <a:tcPr marT="45725" marB="45725" marR="91450" marL="91450">
                    <a:solidFill>
                      <a:srgbClr val="D8D8D8"/>
                    </a:solidFill>
                  </a:tcPr>
                </a:tc>
              </a:tr>
              <a:tr h="370850">
                <a:tc>
                  <a:txBody>
                    <a:bodyPr/>
                    <a:lstStyle/>
                    <a:p>
                      <a:pPr indent="0" lvl="0" marL="0" marR="0" rtl="0" algn="l">
                        <a:lnSpc>
                          <a:spcPct val="100000"/>
                        </a:lnSpc>
                        <a:spcBef>
                          <a:spcPts val="0"/>
                        </a:spcBef>
                        <a:spcAft>
                          <a:spcPts val="0"/>
                        </a:spcAft>
                        <a:buNone/>
                      </a:pPr>
                      <a:r>
                        <a:rPr b="1" lang="en-MY" sz="1400" u="none" cap="none" strike="noStrike"/>
                        <a:t>Role–Feature–Reason</a:t>
                      </a:r>
                      <a:endParaRPr/>
                    </a:p>
                  </a:txBody>
                  <a:tcPr marT="45725" marB="45725" marR="91450" marL="91450"/>
                </a:tc>
                <a:tc>
                  <a:txBody>
                    <a:bodyPr/>
                    <a:lstStyle/>
                    <a:p>
                      <a:pPr indent="0" lvl="0" marL="0" marR="0" rtl="0" algn="l">
                        <a:lnSpc>
                          <a:spcPct val="100000"/>
                        </a:lnSpc>
                        <a:spcBef>
                          <a:spcPts val="0"/>
                        </a:spcBef>
                        <a:spcAft>
                          <a:spcPts val="0"/>
                        </a:spcAft>
                        <a:buNone/>
                      </a:pPr>
                      <a:r>
                        <a:rPr i="1" lang="en-MY" sz="1400" u="none" cap="none" strike="noStrike"/>
                        <a:t>As a [role], I want [feature] so that [reason/benefit].</a:t>
                      </a:r>
                      <a:endParaRPr i="1"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i="1" lang="en-MY" sz="1400" u="none" cap="none" strike="noStrike"/>
                        <a:t>As a shopper, I want to save items in a wishlist so that I can purchase them later.</a:t>
                      </a:r>
                      <a:endParaRPr i="1"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MY" sz="1400" u="none" cap="none" strike="noStrike"/>
                        <a:t>Simple, user-focused; best for </a:t>
                      </a:r>
                      <a:r>
                        <a:rPr b="1" lang="en-MY" sz="1400" u="none" cap="none" strike="noStrike"/>
                        <a:t>capturing user needs quickly</a:t>
                      </a:r>
                      <a:r>
                        <a:rPr lang="en-MY" sz="1400" u="none" cap="none" strike="noStrike"/>
                        <a: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b="1" lang="en-MY" sz="1400" u="none" cap="none" strike="noStrike"/>
                        <a:t>Collaboration-based Approach</a:t>
                      </a:r>
                      <a:endParaRPr/>
                    </a:p>
                  </a:txBody>
                  <a:tcPr marT="45725" marB="45725" marR="91450" marL="91450"/>
                </a:tc>
                <a:tc>
                  <a:txBody>
                    <a:bodyPr/>
                    <a:lstStyle/>
                    <a:p>
                      <a:pPr indent="0" lvl="0" marL="0" marR="0" rtl="0" algn="l">
                        <a:lnSpc>
                          <a:spcPct val="120000"/>
                        </a:lnSpc>
                        <a:spcBef>
                          <a:spcPts val="0"/>
                        </a:spcBef>
                        <a:spcAft>
                          <a:spcPts val="0"/>
                        </a:spcAft>
                        <a:buClr>
                          <a:srgbClr val="000000"/>
                        </a:buClr>
                        <a:buSzPts val="1400"/>
                        <a:buFont typeface="Arial"/>
                        <a:buNone/>
                      </a:pPr>
                      <a:r>
                        <a:rPr i="1" lang="en-MY" sz="1400" u="none" cap="none" strike="noStrike">
                          <a:solidFill>
                            <a:srgbClr val="000000"/>
                          </a:solidFill>
                          <a:latin typeface="Arial"/>
                          <a:ea typeface="Arial"/>
                          <a:cs typeface="Arial"/>
                          <a:sym typeface="Arial"/>
                        </a:rPr>
                        <a:t>As a [intended user] </a:t>
                      </a:r>
                      <a:endParaRPr i="1" sz="1400" u="none" cap="none" strike="noStrike"/>
                    </a:p>
                    <a:p>
                      <a:pPr indent="0" lvl="0" marL="0" marR="0" rtl="0" algn="l">
                        <a:lnSpc>
                          <a:spcPct val="120000"/>
                        </a:lnSpc>
                        <a:spcBef>
                          <a:spcPts val="0"/>
                        </a:spcBef>
                        <a:spcAft>
                          <a:spcPts val="0"/>
                        </a:spcAft>
                        <a:buClr>
                          <a:srgbClr val="000000"/>
                        </a:buClr>
                        <a:buSzPts val="1400"/>
                        <a:buFont typeface="Arial"/>
                        <a:buNone/>
                      </a:pPr>
                      <a:r>
                        <a:rPr i="1" lang="en-MY" sz="1400" u="none" cap="none" strike="noStrike">
                          <a:solidFill>
                            <a:srgbClr val="000000"/>
                          </a:solidFill>
                          <a:latin typeface="Arial"/>
                          <a:ea typeface="Arial"/>
                          <a:cs typeface="Arial"/>
                          <a:sym typeface="Arial"/>
                        </a:rPr>
                        <a:t>I want [intended action], </a:t>
                      </a:r>
                      <a:endParaRPr i="1" sz="1400" u="none" cap="none" strike="noStrike"/>
                    </a:p>
                    <a:p>
                      <a:pPr indent="0" lvl="0" marL="0" marR="0" rtl="0" algn="l">
                        <a:lnSpc>
                          <a:spcPct val="120000"/>
                        </a:lnSpc>
                        <a:spcBef>
                          <a:spcPts val="0"/>
                        </a:spcBef>
                        <a:spcAft>
                          <a:spcPts val="0"/>
                        </a:spcAft>
                        <a:buClr>
                          <a:srgbClr val="000000"/>
                        </a:buClr>
                        <a:buSzPts val="1400"/>
                        <a:buFont typeface="Arial"/>
                        <a:buNone/>
                      </a:pPr>
                      <a:r>
                        <a:rPr i="1" lang="en-MY" sz="1400" u="none" cap="none" strike="noStrike">
                          <a:solidFill>
                            <a:srgbClr val="000000"/>
                          </a:solidFill>
                          <a:latin typeface="Arial"/>
                          <a:ea typeface="Arial"/>
                          <a:cs typeface="Arial"/>
                          <a:sym typeface="Arial"/>
                        </a:rPr>
                        <a:t>so that [purpose/result of the action, profit achieved],</a:t>
                      </a:r>
                      <a:endParaRPr i="1" sz="1400" u="none" cap="none" strike="noStrike"/>
                    </a:p>
                    <a:p>
                      <a:pPr indent="0" lvl="0" marL="0" marR="0" rtl="0" algn="l">
                        <a:lnSpc>
                          <a:spcPct val="120000"/>
                        </a:lnSpc>
                        <a:spcBef>
                          <a:spcPts val="0"/>
                        </a:spcBef>
                        <a:spcAft>
                          <a:spcPts val="0"/>
                        </a:spcAft>
                        <a:buClr>
                          <a:srgbClr val="000000"/>
                        </a:buClr>
                        <a:buSzPts val="1400"/>
                        <a:buFont typeface="Arial"/>
                        <a:buNone/>
                      </a:pPr>
                      <a:r>
                        <a:t/>
                      </a:r>
                      <a:endParaRPr i="1"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400"/>
                        <a:buFont typeface="Arial"/>
                        <a:buNone/>
                      </a:pPr>
                      <a:r>
                        <a:rPr i="1" lang="en-MY" sz="1400" u="none" cap="none" strike="noStrike">
                          <a:solidFill>
                            <a:srgbClr val="000000"/>
                          </a:solidFill>
                          <a:latin typeface="Arial"/>
                          <a:ea typeface="Arial"/>
                          <a:cs typeface="Arial"/>
                          <a:sym typeface="Arial"/>
                        </a:rPr>
                        <a:t>Acceptance Criteria: </a:t>
                      </a:r>
                      <a:endParaRPr i="1"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i="1" lang="en-MY" sz="1400" u="none" cap="none" strike="noStrike"/>
                        <a:t>As a </a:t>
                      </a:r>
                      <a:r>
                        <a:rPr b="1" i="1" lang="en-MY" sz="1400" u="none" cap="none" strike="noStrike"/>
                        <a:t>customer of the bank </a:t>
                      </a:r>
                      <a:endParaRPr/>
                    </a:p>
                    <a:p>
                      <a:pPr indent="0" lvl="0" marL="0" marR="0" rtl="0" algn="l">
                        <a:lnSpc>
                          <a:spcPct val="100000"/>
                        </a:lnSpc>
                        <a:spcBef>
                          <a:spcPts val="0"/>
                        </a:spcBef>
                        <a:spcAft>
                          <a:spcPts val="0"/>
                        </a:spcAft>
                        <a:buNone/>
                      </a:pPr>
                      <a:r>
                        <a:rPr i="1" lang="en-MY" sz="1400" u="none" cap="none" strike="noStrike"/>
                        <a:t>I want to </a:t>
                      </a:r>
                      <a:r>
                        <a:rPr b="1" i="1" lang="en-MY" sz="1400" u="none" cap="none" strike="noStrike"/>
                        <a:t>log into the system </a:t>
                      </a:r>
                      <a:endParaRPr/>
                    </a:p>
                    <a:p>
                      <a:pPr indent="0" lvl="0" marL="0" marR="0" rtl="0" algn="l">
                        <a:lnSpc>
                          <a:spcPct val="100000"/>
                        </a:lnSpc>
                        <a:spcBef>
                          <a:spcPts val="0"/>
                        </a:spcBef>
                        <a:spcAft>
                          <a:spcPts val="0"/>
                        </a:spcAft>
                        <a:buNone/>
                      </a:pPr>
                      <a:r>
                        <a:rPr i="1" lang="en-MY" sz="1400" u="none" cap="none" strike="noStrike"/>
                        <a:t>So that </a:t>
                      </a:r>
                      <a:r>
                        <a:rPr b="1" i="1" lang="en-MY" sz="1400" u="none" cap="none" strike="noStrike"/>
                        <a:t>I can use bank products </a:t>
                      </a:r>
                      <a:endParaRPr/>
                    </a:p>
                    <a:p>
                      <a:pPr indent="0" lvl="0" marL="0" marR="0" rtl="0" algn="l">
                        <a:lnSpc>
                          <a:spcPct val="100000"/>
                        </a:lnSpc>
                        <a:spcBef>
                          <a:spcPts val="0"/>
                        </a:spcBef>
                        <a:spcAft>
                          <a:spcPts val="0"/>
                        </a:spcAft>
                        <a:buNone/>
                      </a:pPr>
                      <a:r>
                        <a:rPr b="1" i="1" lang="en-MY" sz="1400" u="none" cap="none" strike="noStrike"/>
                        <a:t>Acceptance criteria: </a:t>
                      </a:r>
                      <a:endParaRPr/>
                    </a:p>
                    <a:p>
                      <a:pPr indent="-285750" lvl="0" marL="285750" marR="0" rtl="0" algn="l">
                        <a:lnSpc>
                          <a:spcPct val="100000"/>
                        </a:lnSpc>
                        <a:spcBef>
                          <a:spcPts val="0"/>
                        </a:spcBef>
                        <a:spcAft>
                          <a:spcPts val="0"/>
                        </a:spcAft>
                        <a:buClr>
                          <a:srgbClr val="000000"/>
                        </a:buClr>
                        <a:buSzPts val="1400"/>
                        <a:buFont typeface="Arial"/>
                        <a:buChar char="•"/>
                      </a:pPr>
                      <a:r>
                        <a:rPr b="0" i="1" lang="en-MY" sz="1400" u="none" cap="none" strike="noStrike"/>
                        <a:t>Login must be a valid email address. </a:t>
                      </a:r>
                      <a:endParaRPr/>
                    </a:p>
                    <a:p>
                      <a:pPr indent="-285750" lvl="0" marL="285750" marR="0" rtl="0" algn="l">
                        <a:lnSpc>
                          <a:spcPct val="100000"/>
                        </a:lnSpc>
                        <a:spcBef>
                          <a:spcPts val="0"/>
                        </a:spcBef>
                        <a:spcAft>
                          <a:spcPts val="0"/>
                        </a:spcAft>
                        <a:buClr>
                          <a:srgbClr val="000000"/>
                        </a:buClr>
                        <a:buSzPts val="1400"/>
                        <a:buFont typeface="Arial"/>
                        <a:buChar char="•"/>
                      </a:pPr>
                      <a:r>
                        <a:rPr b="0" i="1" lang="en-MY" sz="1400" u="none" cap="none" strike="noStrike"/>
                        <a:t>System rejects login attempt with incorrect password. </a:t>
                      </a:r>
                      <a:endParaRPr/>
                    </a:p>
                    <a:p>
                      <a:pPr indent="-285750" lvl="0" marL="285750" marR="0" rtl="0" algn="l">
                        <a:lnSpc>
                          <a:spcPct val="100000"/>
                        </a:lnSpc>
                        <a:spcBef>
                          <a:spcPts val="0"/>
                        </a:spcBef>
                        <a:spcAft>
                          <a:spcPts val="0"/>
                        </a:spcAft>
                        <a:buClr>
                          <a:srgbClr val="000000"/>
                        </a:buClr>
                        <a:buSzPts val="1400"/>
                        <a:buFont typeface="Arial"/>
                        <a:buChar char="•"/>
                      </a:pPr>
                      <a:r>
                        <a:rPr b="0" i="1" lang="en-MY" sz="1400" u="none" cap="none" strike="noStrike"/>
                        <a:t>System rejects login attempt for non-existent user login. </a:t>
                      </a:r>
                      <a:endParaRPr/>
                    </a:p>
                  </a:txBody>
                  <a:tcPr marT="45725" marB="45725" marR="91450" marL="91450"/>
                </a:tc>
                <a:tc>
                  <a:txBody>
                    <a:bodyPr/>
                    <a:lstStyle/>
                    <a:p>
                      <a:pPr indent="0" lvl="0" marL="0" marR="0" rtl="0" algn="l">
                        <a:lnSpc>
                          <a:spcPct val="100000"/>
                        </a:lnSpc>
                        <a:spcBef>
                          <a:spcPts val="0"/>
                        </a:spcBef>
                        <a:spcAft>
                          <a:spcPts val="0"/>
                        </a:spcAft>
                        <a:buNone/>
                      </a:pPr>
                      <a:r>
                        <a:rPr lang="en-MY" sz="1400" u="none" cap="none" strike="noStrike"/>
                        <a:t>Ensures </a:t>
                      </a:r>
                      <a:r>
                        <a:rPr b="1" lang="en-MY" sz="1400" u="none" cap="none" strike="noStrike"/>
                        <a:t>clear testable conditions</a:t>
                      </a:r>
                      <a:r>
                        <a:rPr lang="en-MY" sz="1400" u="none" cap="none" strike="noStrike"/>
                        <a:t>; best for defining </a:t>
                      </a:r>
                      <a:r>
                        <a:rPr b="1" lang="en-MY" sz="1400" u="none" cap="none" strike="noStrike"/>
                        <a:t>acceptance criteria</a:t>
                      </a:r>
                      <a:r>
                        <a:rPr lang="en-MY" sz="1400" u="none" cap="none" strike="noStrike"/>
                        <a: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rPr b="1" lang="en-MY" sz="1400" u="none" cap="none" strike="noStrike"/>
                        <a:t>Testable Format (BDD)</a:t>
                      </a:r>
                      <a:endParaRPr/>
                    </a:p>
                  </a:txBody>
                  <a:tcPr marT="45725" marB="45725" marR="91450" marL="91450"/>
                </a:tc>
                <a:tc>
                  <a:txBody>
                    <a:bodyPr/>
                    <a:lstStyle/>
                    <a:p>
                      <a:pPr indent="0" lvl="0" marL="0" marR="0" rtl="0" algn="l">
                        <a:lnSpc>
                          <a:spcPct val="100000"/>
                        </a:lnSpc>
                        <a:spcBef>
                          <a:spcPts val="0"/>
                        </a:spcBef>
                        <a:spcAft>
                          <a:spcPts val="0"/>
                        </a:spcAft>
                        <a:buNone/>
                      </a:pPr>
                      <a:r>
                        <a:rPr i="1" lang="en-MY" sz="1400" u="none" cap="none" strike="noStrike"/>
                        <a:t>Scenario → Given [initial context], When [event], Then [outcome].</a:t>
                      </a:r>
                      <a:endParaRPr i="1"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i="1" lang="en-MY" sz="1400" u="none" cap="none" strike="noStrike"/>
                        <a:t>Scenario: Add product to cart → Given I am on a product page, When I click “Add to Cart”, Then the item appears in my cart.</a:t>
                      </a:r>
                      <a:endParaRPr i="1"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MY" sz="1400" u="none" cap="none" strike="noStrike"/>
                        <a:t>Best for </a:t>
                      </a:r>
                      <a:r>
                        <a:rPr b="1" lang="en-MY" sz="1400" u="none" cap="none" strike="noStrike"/>
                        <a:t>detailed testing</a:t>
                      </a:r>
                      <a:r>
                        <a:rPr lang="en-MY" sz="1400" u="none" cap="none" strike="noStrike"/>
                        <a:t> and collaboration between </a:t>
                      </a:r>
                      <a:r>
                        <a:rPr b="1" lang="en-MY" sz="1400" u="none" cap="none" strike="noStrike"/>
                        <a:t>devs, testers, and business</a:t>
                      </a:r>
                      <a:r>
                        <a:rPr lang="en-MY" sz="1400" u="none" cap="none" strike="noStrike"/>
                        <a:t>.</a:t>
                      </a:r>
                      <a:endParaRPr sz="1400" u="none" cap="none" strike="noStrike"/>
                    </a:p>
                  </a:txBody>
                  <a:tcPr marT="45725" marB="45725" marR="91450" marL="91450"/>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5" name="Shape 665"/>
        <p:cNvGrpSpPr/>
        <p:nvPr/>
      </p:nvGrpSpPr>
      <p:grpSpPr>
        <a:xfrm>
          <a:off x="0" y="0"/>
          <a:ext cx="0" cy="0"/>
          <a:chOff x="0" y="0"/>
          <a:chExt cx="0" cy="0"/>
        </a:xfrm>
      </p:grpSpPr>
      <p:sp>
        <p:nvSpPr>
          <p:cNvPr id="666" name="Google Shape;666;g37e47e77286_0_654"/>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INVEST Criteria</a:t>
            </a:r>
            <a:endParaRPr/>
          </a:p>
        </p:txBody>
      </p:sp>
      <p:sp>
        <p:nvSpPr>
          <p:cNvPr id="667" name="Google Shape;667;g37e47e77286_0_65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68" name="Google Shape;668;g37e47e77286_0_654"/>
          <p:cNvSpPr txBox="1"/>
          <p:nvPr/>
        </p:nvSpPr>
        <p:spPr>
          <a:xfrm>
            <a:off x="574384" y="160394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INVEST model provides six checks for quality user stories. A story that meets these standards is clear, actionable, and delivers value.</a:t>
            </a:r>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Independent – can stand alone. </a:t>
            </a:r>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Negotiable – open to discussion</a:t>
            </a:r>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Valuable – delivers benefit</a:t>
            </a:r>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Estimable – can be sized</a:t>
            </a:r>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Small – manageable scope</a:t>
            </a:r>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Testable – has acceptance criteria</a:t>
            </a:r>
            <a:endParaRPr b="0" i="0" sz="2200" u="none" cap="none" strike="noStrike">
              <a:solidFill>
                <a:srgbClr val="595959"/>
              </a:solidFill>
              <a:latin typeface="Lato"/>
              <a:ea typeface="Lato"/>
              <a:cs typeface="Lato"/>
              <a:sym typeface="Lato"/>
            </a:endParaRPr>
          </a:p>
        </p:txBody>
      </p:sp>
      <p:pic>
        <p:nvPicPr>
          <p:cNvPr id="669" name="Google Shape;669;g37e47e77286_0_654"/>
          <p:cNvPicPr preferRelativeResize="0"/>
          <p:nvPr/>
        </p:nvPicPr>
        <p:blipFill rotWithShape="1">
          <a:blip r:embed="rId3">
            <a:alphaModFix/>
          </a:blip>
          <a:srcRect b="0" l="0" r="0" t="0"/>
          <a:stretch/>
        </p:blipFill>
        <p:spPr>
          <a:xfrm>
            <a:off x="6096000" y="2933999"/>
            <a:ext cx="5450564" cy="241016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4"/>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Example of User Story</a:t>
            </a:r>
            <a:br>
              <a:rPr lang="en-MY"/>
            </a:br>
            <a:r>
              <a:rPr lang="en-MY" sz="2400">
                <a:solidFill>
                  <a:schemeClr val="dk2"/>
                </a:solidFill>
                <a:latin typeface="Poppins"/>
                <a:ea typeface="Poppins"/>
                <a:cs typeface="Poppins"/>
                <a:sym typeface="Poppins"/>
              </a:rPr>
              <a:t>COLLABORATION-BASED APPROACH</a:t>
            </a:r>
            <a:endParaRPr>
              <a:solidFill>
                <a:schemeClr val="dk2"/>
              </a:solidFill>
            </a:endParaRPr>
          </a:p>
        </p:txBody>
      </p:sp>
      <p:sp>
        <p:nvSpPr>
          <p:cNvPr id="675" name="Google Shape;675;p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grpSp>
        <p:nvGrpSpPr>
          <p:cNvPr id="676" name="Google Shape;676;p4"/>
          <p:cNvGrpSpPr/>
          <p:nvPr/>
        </p:nvGrpSpPr>
        <p:grpSpPr>
          <a:xfrm>
            <a:off x="722292" y="1772859"/>
            <a:ext cx="4916508" cy="3655352"/>
            <a:chOff x="1179492" y="1610299"/>
            <a:chExt cx="4916508" cy="3655352"/>
          </a:xfrm>
        </p:grpSpPr>
        <p:sp>
          <p:nvSpPr>
            <p:cNvPr id="677" name="Google Shape;677;p4"/>
            <p:cNvSpPr/>
            <p:nvPr/>
          </p:nvSpPr>
          <p:spPr>
            <a:xfrm>
              <a:off x="1179492" y="1610299"/>
              <a:ext cx="4916508" cy="3545586"/>
            </a:xfrm>
            <a:custGeom>
              <a:rect b="b" l="l" r="r" t="t"/>
              <a:pathLst>
                <a:path extrusionOk="0" h="6559916" w="14069135">
                  <a:moveTo>
                    <a:pt x="0" y="0"/>
                  </a:moveTo>
                  <a:lnTo>
                    <a:pt x="14069135" y="0"/>
                  </a:lnTo>
                  <a:lnTo>
                    <a:pt x="14069135" y="6559917"/>
                  </a:lnTo>
                  <a:lnTo>
                    <a:pt x="0" y="6559917"/>
                  </a:lnTo>
                  <a:lnTo>
                    <a:pt x="0" y="0"/>
                  </a:lnTo>
                  <a:close/>
                </a:path>
              </a:pathLst>
            </a:custGeom>
            <a:blipFill rotWithShape="1">
              <a:blip r:embed="rId3">
                <a:alphaModFix/>
              </a:blip>
              <a:stretch>
                <a:fillRect b="-6076" l="0" r="0" t="-35466"/>
              </a:stretch>
            </a:blipFill>
            <a:ln cap="sq" cmpd="sng" w="381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Calibri"/>
                <a:ea typeface="Calibri"/>
                <a:cs typeface="Calibri"/>
                <a:sym typeface="Calibri"/>
              </a:endParaRPr>
            </a:p>
          </p:txBody>
        </p:sp>
        <p:sp>
          <p:nvSpPr>
            <p:cNvPr id="678" name="Google Shape;678;p4"/>
            <p:cNvSpPr txBox="1"/>
            <p:nvPr/>
          </p:nvSpPr>
          <p:spPr>
            <a:xfrm>
              <a:off x="1371512" y="1720065"/>
              <a:ext cx="4532468" cy="354558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200"/>
                <a:buFont typeface="Arial"/>
                <a:buNone/>
              </a:pPr>
              <a:r>
                <a:rPr b="1" i="0" lang="en-MY" sz="1200" u="none" cap="none" strike="noStrike">
                  <a:solidFill>
                    <a:srgbClr val="000000"/>
                  </a:solidFill>
                  <a:latin typeface="Arial"/>
                  <a:ea typeface="Arial"/>
                  <a:cs typeface="Arial"/>
                  <a:sym typeface="Arial"/>
                </a:rPr>
                <a:t>User story US-002-02 </a:t>
              </a:r>
              <a:endParaRPr b="1"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As a logged-in bank customer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I want to be able to transfer money to another account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So that be able to transfer funds between accounts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sng" cap="none" strike="noStrike">
                  <a:solidFill>
                    <a:srgbClr val="000000"/>
                  </a:solidFill>
                  <a:latin typeface="Arial"/>
                  <a:ea typeface="Arial"/>
                  <a:cs typeface="Arial"/>
                  <a:sym typeface="Arial"/>
                </a:rPr>
                <a:t>Acceptance criteria </a:t>
              </a:r>
              <a:endParaRPr b="0" i="0" sz="1200" u="sng"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(AC1) the amount of the transfer cannot exceed the account balance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(AC2) target account must be correct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(AC3) for valid data (amount, account numbers) the source account balance decreases and the destination account balance increases by the amount of the transfer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rPr b="0" i="0" lang="en-MY" sz="1200" u="none" cap="none" strike="noStrike">
                  <a:solidFill>
                    <a:srgbClr val="000000"/>
                  </a:solidFill>
                  <a:latin typeface="Arial"/>
                  <a:ea typeface="Arial"/>
                  <a:cs typeface="Arial"/>
                  <a:sym typeface="Arial"/>
                </a:rPr>
                <a:t>(AC4) the transfer amount must be positive and represent the correct amount of money (i.e., be accurate  to two decimal places max) </a:t>
              </a:r>
              <a:endParaRPr b="0" i="0" sz="12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grpSp>
      <p:sp>
        <p:nvSpPr>
          <p:cNvPr id="679" name="Google Shape;679;p4"/>
          <p:cNvSpPr/>
          <p:nvPr/>
        </p:nvSpPr>
        <p:spPr>
          <a:xfrm>
            <a:off x="6150596" y="1772858"/>
            <a:ext cx="4916508" cy="4180901"/>
          </a:xfrm>
          <a:custGeom>
            <a:rect b="b" l="l" r="r" t="t"/>
            <a:pathLst>
              <a:path extrusionOk="0" h="6559916" w="14069135">
                <a:moveTo>
                  <a:pt x="0" y="0"/>
                </a:moveTo>
                <a:lnTo>
                  <a:pt x="14069135" y="0"/>
                </a:lnTo>
                <a:lnTo>
                  <a:pt x="14069135" y="6559917"/>
                </a:lnTo>
                <a:lnTo>
                  <a:pt x="0" y="6559917"/>
                </a:lnTo>
                <a:lnTo>
                  <a:pt x="0" y="0"/>
                </a:lnTo>
                <a:close/>
              </a:path>
            </a:pathLst>
          </a:custGeom>
          <a:blipFill rotWithShape="1">
            <a:blip r:embed="rId3">
              <a:alphaModFix/>
            </a:blip>
            <a:stretch>
              <a:fillRect b="-6076" l="0" r="0" t="-35466"/>
            </a:stretch>
          </a:blipFill>
          <a:ln cap="sq" cmpd="sng" w="38100">
            <a:solidFill>
              <a:srgbClr val="F2F2F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latin typeface="Calibri"/>
              <a:ea typeface="Calibri"/>
              <a:cs typeface="Calibri"/>
              <a:sym typeface="Calibri"/>
            </a:endParaRPr>
          </a:p>
        </p:txBody>
      </p:sp>
      <p:sp>
        <p:nvSpPr>
          <p:cNvPr id="680" name="Google Shape;680;p4"/>
          <p:cNvSpPr txBox="1"/>
          <p:nvPr/>
        </p:nvSpPr>
        <p:spPr>
          <a:xfrm>
            <a:off x="6342616" y="1882625"/>
            <a:ext cx="4802904" cy="39703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MY" sz="1400" u="none" cap="none" strike="noStrike">
                <a:solidFill>
                  <a:srgbClr val="000000"/>
                </a:solidFill>
                <a:latin typeface="Arial"/>
                <a:ea typeface="Arial"/>
                <a:cs typeface="Arial"/>
                <a:sym typeface="Arial"/>
              </a:rPr>
              <a:t>🔹 How it might look in Jira</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MY" sz="1200" u="none" cap="none" strike="noStrike">
                <a:solidFill>
                  <a:srgbClr val="000000"/>
                </a:solidFill>
                <a:latin typeface="Arial"/>
                <a:ea typeface="Arial"/>
                <a:cs typeface="Arial"/>
                <a:sym typeface="Arial"/>
              </a:rPr>
              <a:t>Epic:</a:t>
            </a:r>
            <a:r>
              <a:rPr b="0" i="0" lang="en-MY" sz="1200" u="none" cap="none" strike="noStrike">
                <a:solidFill>
                  <a:srgbClr val="000000"/>
                </a:solidFill>
                <a:latin typeface="Arial"/>
                <a:ea typeface="Arial"/>
                <a:cs typeface="Arial"/>
                <a:sym typeface="Arial"/>
              </a:rPr>
              <a:t> Banking Transactions</a:t>
            </a:r>
            <a:endParaRPr/>
          </a:p>
          <a:p>
            <a:pPr indent="0" lvl="0" marL="0" marR="0" rtl="0" algn="l">
              <a:lnSpc>
                <a:spcPct val="100000"/>
              </a:lnSpc>
              <a:spcBef>
                <a:spcPts val="0"/>
              </a:spcBef>
              <a:spcAft>
                <a:spcPts val="0"/>
              </a:spcAft>
              <a:buNone/>
            </a:pPr>
            <a:r>
              <a:rPr b="1" i="0" lang="en-MY" sz="1200" u="none" cap="none" strike="noStrike">
                <a:solidFill>
                  <a:srgbClr val="000000"/>
                </a:solidFill>
                <a:latin typeface="Arial"/>
                <a:ea typeface="Arial"/>
                <a:cs typeface="Arial"/>
                <a:sym typeface="Arial"/>
              </a:rPr>
              <a:t>Story:</a:t>
            </a:r>
            <a:r>
              <a:rPr b="0" i="0" lang="en-MY" sz="1200" u="none" cap="none" strike="noStrike">
                <a:solidFill>
                  <a:srgbClr val="000000"/>
                </a:solidFill>
                <a:latin typeface="Arial"/>
                <a:ea typeface="Arial"/>
                <a:cs typeface="Arial"/>
                <a:sym typeface="Arial"/>
              </a:rPr>
              <a:t> US-002-02 Transfer Money Between Accounts</a:t>
            </a:r>
            <a:endParaRPr/>
          </a:p>
          <a:p>
            <a:pPr indent="0" lvl="1" marL="0" marR="0" rtl="0" algn="l">
              <a:lnSpc>
                <a:spcPct val="100000"/>
              </a:lnSpc>
              <a:spcBef>
                <a:spcPts val="0"/>
              </a:spcBef>
              <a:spcAft>
                <a:spcPts val="0"/>
              </a:spcAft>
              <a:buNone/>
            </a:pPr>
            <a:r>
              <a:rPr b="1" i="0" lang="en-MY" sz="1200" u="none" cap="none" strike="noStrike">
                <a:solidFill>
                  <a:srgbClr val="000000"/>
                </a:solidFill>
                <a:latin typeface="Arial"/>
                <a:ea typeface="Arial"/>
                <a:cs typeface="Arial"/>
                <a:sym typeface="Arial"/>
              </a:rPr>
              <a:t>Task:</a:t>
            </a:r>
            <a:r>
              <a:rPr b="0" i="0" lang="en-MY" sz="1200" u="none" cap="none" strike="noStrike">
                <a:solidFill>
                  <a:srgbClr val="000000"/>
                </a:solidFill>
                <a:latin typeface="Arial"/>
                <a:ea typeface="Arial"/>
                <a:cs typeface="Arial"/>
                <a:sym typeface="Arial"/>
              </a:rPr>
              <a:t> Frontend – Transfer Form</a:t>
            </a:r>
            <a:endParaRPr/>
          </a:p>
          <a:p>
            <a:pPr indent="0" lvl="2" marL="182563"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Design form</a:t>
            </a:r>
            <a:endParaRPr/>
          </a:p>
          <a:p>
            <a:pPr indent="0" lvl="2" marL="182563"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Implement form</a:t>
            </a:r>
            <a:endParaRPr/>
          </a:p>
          <a:p>
            <a:pPr indent="0" lvl="2" marL="182563"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Add client-side validation</a:t>
            </a:r>
            <a:endParaRPr/>
          </a:p>
          <a:p>
            <a:pPr indent="0" lvl="2" marL="182563"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Display messages</a:t>
            </a:r>
            <a:endParaRPr/>
          </a:p>
          <a:p>
            <a:pPr indent="0" lvl="1" marL="0" marR="0" rtl="0" algn="l">
              <a:lnSpc>
                <a:spcPct val="100000"/>
              </a:lnSpc>
              <a:spcBef>
                <a:spcPts val="0"/>
              </a:spcBef>
              <a:spcAft>
                <a:spcPts val="0"/>
              </a:spcAft>
              <a:buNone/>
            </a:pPr>
            <a:r>
              <a:rPr b="1" i="0" lang="en-MY" sz="1200" u="none" cap="none" strike="noStrike">
                <a:solidFill>
                  <a:srgbClr val="000000"/>
                </a:solidFill>
                <a:latin typeface="Arial"/>
                <a:ea typeface="Arial"/>
                <a:cs typeface="Arial"/>
                <a:sym typeface="Arial"/>
              </a:rPr>
              <a:t>Task:</a:t>
            </a:r>
            <a:r>
              <a:rPr b="0" i="0" lang="en-MY" sz="1200" u="none" cap="none" strike="noStrike">
                <a:solidFill>
                  <a:srgbClr val="000000"/>
                </a:solidFill>
                <a:latin typeface="Arial"/>
                <a:ea typeface="Arial"/>
                <a:cs typeface="Arial"/>
                <a:sym typeface="Arial"/>
              </a:rPr>
              <a:t> Backend – API &amp; Business Rules</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Create transfer API</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Implement validation rules</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Update balances</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Log transactions</a:t>
            </a:r>
            <a:endParaRPr/>
          </a:p>
          <a:p>
            <a:pPr indent="0" lvl="1" marL="0" marR="0" rtl="0" algn="l">
              <a:lnSpc>
                <a:spcPct val="100000"/>
              </a:lnSpc>
              <a:spcBef>
                <a:spcPts val="0"/>
              </a:spcBef>
              <a:spcAft>
                <a:spcPts val="0"/>
              </a:spcAft>
              <a:buNone/>
            </a:pPr>
            <a:r>
              <a:rPr b="1" i="0" lang="en-MY" sz="1200" u="none" cap="none" strike="noStrike">
                <a:solidFill>
                  <a:srgbClr val="000000"/>
                </a:solidFill>
                <a:latin typeface="Arial"/>
                <a:ea typeface="Arial"/>
                <a:cs typeface="Arial"/>
                <a:sym typeface="Arial"/>
              </a:rPr>
              <a:t>Task:</a:t>
            </a:r>
            <a:r>
              <a:rPr b="0" i="0" lang="en-MY" sz="1200" u="none" cap="none" strike="noStrike">
                <a:solidFill>
                  <a:srgbClr val="000000"/>
                </a:solidFill>
                <a:latin typeface="Arial"/>
                <a:ea typeface="Arial"/>
                <a:cs typeface="Arial"/>
                <a:sym typeface="Arial"/>
              </a:rPr>
              <a:t> Database Updates</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Schema changes (if any)</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Rollback mechanism</a:t>
            </a:r>
            <a:endParaRPr/>
          </a:p>
          <a:p>
            <a:pPr indent="0" lvl="1" marL="0" marR="0" rtl="0" algn="l">
              <a:lnSpc>
                <a:spcPct val="100000"/>
              </a:lnSpc>
              <a:spcBef>
                <a:spcPts val="0"/>
              </a:spcBef>
              <a:spcAft>
                <a:spcPts val="0"/>
              </a:spcAft>
              <a:buNone/>
            </a:pPr>
            <a:r>
              <a:rPr b="1" i="0" lang="en-MY" sz="1200" u="none" cap="none" strike="noStrike">
                <a:solidFill>
                  <a:srgbClr val="000000"/>
                </a:solidFill>
                <a:latin typeface="Arial"/>
                <a:ea typeface="Arial"/>
                <a:cs typeface="Arial"/>
                <a:sym typeface="Arial"/>
              </a:rPr>
              <a:t>Task:</a:t>
            </a:r>
            <a:r>
              <a:rPr b="0" i="0" lang="en-MY" sz="1200" u="none" cap="none" strike="noStrike">
                <a:solidFill>
                  <a:srgbClr val="000000"/>
                </a:solidFill>
                <a:latin typeface="Arial"/>
                <a:ea typeface="Arial"/>
                <a:cs typeface="Arial"/>
                <a:sym typeface="Arial"/>
              </a:rPr>
              <a:t> Testing</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Unit tests</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Integration tests</a:t>
            </a:r>
            <a:endParaRPr/>
          </a:p>
          <a:p>
            <a:pPr indent="182563" lvl="2" marL="0" marR="0" rtl="0" algn="l">
              <a:lnSpc>
                <a:spcPct val="100000"/>
              </a:lnSpc>
              <a:spcBef>
                <a:spcPts val="0"/>
              </a:spcBef>
              <a:spcAft>
                <a:spcPts val="0"/>
              </a:spcAft>
              <a:buNone/>
            </a:pPr>
            <a:r>
              <a:rPr b="0" i="0" lang="en-MY" sz="1200" u="none" cap="none" strike="noStrike">
                <a:solidFill>
                  <a:srgbClr val="000000"/>
                </a:solidFill>
                <a:latin typeface="Arial"/>
                <a:ea typeface="Arial"/>
                <a:cs typeface="Arial"/>
                <a:sym typeface="Arial"/>
              </a:rPr>
              <a:t>Sub-task: QA test scenarios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7e47e77286_0_661"/>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Writing Effective User Stories: Tips</a:t>
            </a:r>
            <a:endParaRPr/>
          </a:p>
        </p:txBody>
      </p:sp>
      <p:sp>
        <p:nvSpPr>
          <p:cNvPr id="686" name="Google Shape;686;g37e47e77286_0_66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87" name="Google Shape;687;g37e47e77286_0_661"/>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Effective user stories are concise but meaningful. They are written collaboratively, refined regularly, and backed with acceptance criteria to avoid ambiguity.</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Keep them short and simple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Focus on value, not tasks</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Collaborate with users to refine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Add acceptance criteria for clarity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1" name="Shape 691"/>
        <p:cNvGrpSpPr/>
        <p:nvPr/>
      </p:nvGrpSpPr>
      <p:grpSpPr>
        <a:xfrm>
          <a:off x="0" y="0"/>
          <a:ext cx="0" cy="0"/>
          <a:chOff x="0" y="0"/>
          <a:chExt cx="0" cy="0"/>
        </a:xfrm>
      </p:grpSpPr>
      <p:sp>
        <p:nvSpPr>
          <p:cNvPr id="692" name="Google Shape;692;g37e47e77286_0_640"/>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Good vs. Bad User Stories (Example 1)</a:t>
            </a:r>
            <a:endParaRPr/>
          </a:p>
        </p:txBody>
      </p:sp>
      <p:sp>
        <p:nvSpPr>
          <p:cNvPr id="693" name="Google Shape;693;g37e47e77286_0_64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94" name="Google Shape;694;g37e47e77286_0_640"/>
          <p:cNvSpPr txBox="1"/>
          <p:nvPr/>
        </p:nvSpPr>
        <p:spPr>
          <a:xfrm>
            <a:off x="654915" y="154298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Good user stories emphasize value for the user and are testable. Poor stories often sound like technical tasks without a clear user benefit.</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Good: clear, valuable, testable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Bad: vague, technical, or incomplete</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Example:</a:t>
            </a:r>
            <a:endParaRPr b="0" i="0" sz="2200" u="none" cap="none" strike="noStrike">
              <a:solidFill>
                <a:srgbClr val="595959"/>
              </a:solidFill>
              <a:latin typeface="Lato"/>
              <a:ea typeface="Lato"/>
              <a:cs typeface="Lato"/>
              <a:sym typeface="Lato"/>
            </a:endParaRPr>
          </a:p>
          <a:p>
            <a:pPr indent="-368300" lvl="1" marL="117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 “As a customer, I want to reset my password so I can regain access easily.”</a:t>
            </a:r>
            <a:endParaRPr b="0" i="0" sz="2200" u="none" cap="none" strike="noStrike">
              <a:solidFill>
                <a:srgbClr val="595959"/>
              </a:solidFill>
              <a:latin typeface="Lato"/>
              <a:ea typeface="Lato"/>
              <a:cs typeface="Lato"/>
              <a:sym typeface="Lato"/>
            </a:endParaRPr>
          </a:p>
          <a:p>
            <a:pPr indent="-368300" lvl="1" marL="11700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 “Add password reset function.”</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8" name="Shape 698"/>
        <p:cNvGrpSpPr/>
        <p:nvPr/>
      </p:nvGrpSpPr>
      <p:grpSpPr>
        <a:xfrm>
          <a:off x="0" y="0"/>
          <a:ext cx="0" cy="0"/>
          <a:chOff x="0" y="0"/>
          <a:chExt cx="0" cy="0"/>
        </a:xfrm>
      </p:grpSpPr>
      <p:sp>
        <p:nvSpPr>
          <p:cNvPr id="699" name="Google Shape;699;g37e47e77286_0_647"/>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Good vs. Bad User Stories (Example 2)</a:t>
            </a:r>
            <a:endParaRPr/>
          </a:p>
        </p:txBody>
      </p:sp>
      <p:sp>
        <p:nvSpPr>
          <p:cNvPr id="700" name="Google Shape;700;g37e47e77286_0_647"/>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01" name="Google Shape;701;g37e47e77286_0_647"/>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The difference lies in focus. Good stories capture intent and user benefit, while bad ones prematurely dictate technical details.</a:t>
            </a:r>
            <a:endParaRPr b="0" i="0" sz="2200" u="none" cap="none" strike="noStrike">
              <a:solidFill>
                <a:srgbClr val="595959"/>
              </a:solidFill>
              <a:latin typeface="Lato"/>
              <a:ea typeface="Lato"/>
              <a:cs typeface="Lato"/>
              <a:sym typeface="Lato"/>
            </a:endParaRPr>
          </a:p>
          <a:p>
            <a:pPr indent="0" lvl="0" marL="0" marR="0" rtl="0" algn="l">
              <a:lnSpc>
                <a:spcPct val="150000"/>
              </a:lnSpc>
              <a:spcBef>
                <a:spcPts val="0"/>
              </a:spcBef>
              <a:spcAft>
                <a:spcPts val="0"/>
              </a:spcAft>
              <a:buClr>
                <a:srgbClr val="000000"/>
              </a:buClr>
              <a:buSzPts val="500"/>
              <a:buFont typeface="Arial"/>
              <a:buNone/>
            </a:pPr>
            <a:r>
              <a:t/>
            </a:r>
            <a:endParaRPr b="0" i="0" sz="5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Good: describes intent, not implementation</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Bad: overly detailed upfront</a:t>
            </a:r>
            <a:endParaRPr b="0" i="0" sz="2200" u="none" cap="none" strike="noStrike">
              <a:solidFill>
                <a:srgbClr val="595959"/>
              </a:solidFill>
              <a:latin typeface="Lato"/>
              <a:ea typeface="Lato"/>
              <a:cs typeface="Lato"/>
              <a:sym typeface="Lato"/>
            </a:endParaRPr>
          </a:p>
          <a:p>
            <a:pPr indent="-368300" lvl="0" marL="9144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Example:</a:t>
            </a:r>
            <a:endParaRPr b="0" i="0" sz="2200" u="none" cap="none" strike="noStrike">
              <a:solidFill>
                <a:srgbClr val="595959"/>
              </a:solidFill>
              <a:latin typeface="Lato"/>
              <a:ea typeface="Lato"/>
              <a:cs typeface="Lato"/>
              <a:sym typeface="Lato"/>
            </a:endParaRPr>
          </a:p>
          <a:p>
            <a:pPr indent="-368300" lvl="1" marL="1349999"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 “As a teacher, I want to upload lecture notes so students can study anytime.”</a:t>
            </a:r>
            <a:endParaRPr b="0" i="0" sz="2200" u="none" cap="none" strike="noStrike">
              <a:solidFill>
                <a:srgbClr val="595959"/>
              </a:solidFill>
              <a:latin typeface="Lato"/>
              <a:ea typeface="Lato"/>
              <a:cs typeface="Lato"/>
              <a:sym typeface="Lato"/>
            </a:endParaRPr>
          </a:p>
          <a:p>
            <a:pPr indent="-368300" lvl="1" marL="1349999"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 “Create a 20MB PDF upload system with 5 fields.”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7e47e77286_0_66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User Story Mapping</a:t>
            </a:r>
            <a:endParaRPr/>
          </a:p>
        </p:txBody>
      </p:sp>
      <p:sp>
        <p:nvSpPr>
          <p:cNvPr id="707" name="Google Shape;707;g37e47e77286_0_66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08" name="Google Shape;708;g37e47e77286_0_668"/>
          <p:cNvSpPr txBox="1"/>
          <p:nvPr/>
        </p:nvSpPr>
        <p:spPr>
          <a:xfrm>
            <a:off x="614275" y="1918900"/>
            <a:ext cx="104409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User story mapping turns stories into a structured visual map. It shows the big picture, highlights missing requirements, and guides release planning to maximize delivered value.</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Visual practice for </a:t>
            </a:r>
            <a:r>
              <a:rPr b="1" i="0" lang="en-MY" sz="2200" u="none" cap="none" strike="noStrike">
                <a:solidFill>
                  <a:srgbClr val="595959"/>
                </a:solidFill>
                <a:latin typeface="Lato"/>
                <a:ea typeface="Lato"/>
                <a:cs typeface="Lato"/>
                <a:sym typeface="Lato"/>
              </a:rPr>
              <a:t>organizing work</a:t>
            </a:r>
            <a:endParaRPr b="1"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Helps identify sets of high-value features</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Detects omissions in backlog</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Supports effective </a:t>
            </a:r>
            <a:r>
              <a:rPr b="1" i="0" lang="en-MY" sz="2200" u="none" cap="none" strike="noStrike">
                <a:solidFill>
                  <a:srgbClr val="595959"/>
                </a:solidFill>
                <a:latin typeface="Lato"/>
                <a:ea typeface="Lato"/>
                <a:cs typeface="Lato"/>
                <a:sym typeface="Lato"/>
              </a:rPr>
              <a:t>release planning</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7e47e77286_0_677"/>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Roadmap to Backlog Breakdown</a:t>
            </a:r>
            <a:endParaRPr/>
          </a:p>
        </p:txBody>
      </p:sp>
      <p:sp>
        <p:nvSpPr>
          <p:cNvPr id="714" name="Google Shape;714;g37e47e77286_0_677"/>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15" name="Google Shape;715;g37e47e77286_0_677"/>
          <p:cNvSpPr txBox="1"/>
          <p:nvPr/>
        </p:nvSpPr>
        <p:spPr>
          <a:xfrm>
            <a:off x="574384" y="1492180"/>
            <a:ext cx="9382416" cy="347606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000"/>
              <a:buFont typeface="Arial"/>
              <a:buNone/>
            </a:pPr>
            <a:r>
              <a:rPr b="0" i="0" lang="en-MY" sz="2000" u="none" cap="none" strike="noStrike">
                <a:solidFill>
                  <a:srgbClr val="595959"/>
                </a:solidFill>
                <a:latin typeface="Lato"/>
                <a:ea typeface="Lato"/>
                <a:cs typeface="Lato"/>
                <a:sym typeface="Lato"/>
              </a:rPr>
              <a:t>Story mapping also links high-level vision to actionable backlog items. By progressively breaking down roadmap features, teams ensure clarity and alignment between vision and tasks.</a:t>
            </a:r>
            <a:endParaRPr b="0" i="0" sz="20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Decompose roadmap into smaller requirements</a:t>
            </a:r>
            <a:endParaRPr b="0" i="0" sz="20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Use mapping &amp; impact analysis</a:t>
            </a:r>
            <a:endParaRPr b="0" i="0" sz="20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Product Owner + team clarify expectations together</a:t>
            </a:r>
            <a:endParaRPr b="0" i="0" sz="2000" u="none" cap="none" strike="noStrike">
              <a:solidFill>
                <a:srgbClr val="595959"/>
              </a:solidFill>
              <a:latin typeface="Lato"/>
              <a:ea typeface="Lato"/>
              <a:cs typeface="Lato"/>
              <a:sym typeface="Lato"/>
            </a:endParaRPr>
          </a:p>
        </p:txBody>
      </p:sp>
      <p:pic>
        <p:nvPicPr>
          <p:cNvPr id="716" name="Google Shape;716;g37e47e77286_0_677"/>
          <p:cNvPicPr preferRelativeResize="0"/>
          <p:nvPr/>
        </p:nvPicPr>
        <p:blipFill rotWithShape="1">
          <a:blip r:embed="rId3">
            <a:alphaModFix/>
          </a:blip>
          <a:srcRect b="0" l="0" r="0" t="0"/>
          <a:stretch/>
        </p:blipFill>
        <p:spPr>
          <a:xfrm>
            <a:off x="7218160" y="2732650"/>
            <a:ext cx="4841370" cy="2723270"/>
          </a:xfrm>
          <a:prstGeom prst="rect">
            <a:avLst/>
          </a:prstGeom>
          <a:noFill/>
          <a:ln>
            <a:noFill/>
          </a:ln>
        </p:spPr>
      </p:pic>
      <p:sp>
        <p:nvSpPr>
          <p:cNvPr id="717" name="Google Shape;717;g37e47e77286_0_677"/>
          <p:cNvSpPr txBox="1"/>
          <p:nvPr/>
        </p:nvSpPr>
        <p:spPr>
          <a:xfrm>
            <a:off x="9256839" y="4442639"/>
            <a:ext cx="2802691"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MY" sz="1100" u="none" cap="none" strike="noStrike">
                <a:solidFill>
                  <a:schemeClr val="dk2"/>
                </a:solidFill>
                <a:latin typeface="Arial"/>
                <a:ea typeface="Arial"/>
                <a:cs typeface="Arial"/>
                <a:sym typeface="Arial"/>
              </a:rPr>
              <a:t>Backlog → All tasks waiting to be started</a:t>
            </a:r>
            <a:endParaRPr/>
          </a:p>
          <a:p>
            <a:pPr indent="0" lvl="0" marL="0" marR="0" rtl="0" algn="l">
              <a:lnSpc>
                <a:spcPct val="100000"/>
              </a:lnSpc>
              <a:spcBef>
                <a:spcPts val="0"/>
              </a:spcBef>
              <a:spcAft>
                <a:spcPts val="0"/>
              </a:spcAft>
              <a:buNone/>
            </a:pPr>
            <a:r>
              <a:rPr b="0" i="1" lang="en-MY" sz="1100" u="none" cap="none" strike="noStrike">
                <a:solidFill>
                  <a:schemeClr val="dk2"/>
                </a:solidFill>
                <a:latin typeface="Arial"/>
                <a:ea typeface="Arial"/>
                <a:cs typeface="Arial"/>
                <a:sym typeface="Arial"/>
              </a:rPr>
              <a:t>In Progress → Tasks the team is currently working on</a:t>
            </a:r>
            <a:endParaRPr/>
          </a:p>
          <a:p>
            <a:pPr indent="0" lvl="0" marL="0" marR="0" rtl="0" algn="l">
              <a:lnSpc>
                <a:spcPct val="100000"/>
              </a:lnSpc>
              <a:spcBef>
                <a:spcPts val="0"/>
              </a:spcBef>
              <a:spcAft>
                <a:spcPts val="0"/>
              </a:spcAft>
              <a:buNone/>
            </a:pPr>
            <a:r>
              <a:rPr b="0" i="1" lang="en-MY" sz="1100" u="none" cap="none" strike="noStrike">
                <a:solidFill>
                  <a:schemeClr val="dk2"/>
                </a:solidFill>
                <a:latin typeface="Arial"/>
                <a:ea typeface="Arial"/>
                <a:cs typeface="Arial"/>
                <a:sym typeface="Arial"/>
              </a:rPr>
              <a:t>Done → Completed tasks</a:t>
            </a:r>
            <a:endParaRPr b="0" i="1" sz="1100" u="none" cap="none" strike="noStrike">
              <a:solidFill>
                <a:schemeClr val="dk2"/>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1" name="Shape 721"/>
        <p:cNvGrpSpPr/>
        <p:nvPr/>
      </p:nvGrpSpPr>
      <p:grpSpPr>
        <a:xfrm>
          <a:off x="0" y="0"/>
          <a:ext cx="0" cy="0"/>
          <a:chOff x="0" y="0"/>
          <a:chExt cx="0" cy="0"/>
        </a:xfrm>
      </p:grpSpPr>
      <p:sp>
        <p:nvSpPr>
          <p:cNvPr id="722" name="Google Shape;722;g37e47e77286_0_684"/>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Examples of User Stories (Education App)</a:t>
            </a:r>
            <a:endParaRPr/>
          </a:p>
        </p:txBody>
      </p:sp>
      <p:sp>
        <p:nvSpPr>
          <p:cNvPr id="723" name="Google Shape;723;g37e47e77286_0_68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24" name="Google Shape;724;g37e47e77286_0_684"/>
          <p:cNvSpPr txBox="1"/>
          <p:nvPr/>
        </p:nvSpPr>
        <p:spPr>
          <a:xfrm>
            <a:off x="614275" y="1918900"/>
            <a:ext cx="7005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Educational apps benefit from user stories by capturing both student and teacher perspectives, ensuring features meet practical needs.</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As a student, I want online quizzes so that I can test myself anytime.</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As a lecturer, I want attendance tracking so that I can monitor participation.</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8" name="Shape 728"/>
        <p:cNvGrpSpPr/>
        <p:nvPr/>
      </p:nvGrpSpPr>
      <p:grpSpPr>
        <a:xfrm>
          <a:off x="0" y="0"/>
          <a:ext cx="0" cy="0"/>
          <a:chOff x="0" y="0"/>
          <a:chExt cx="0" cy="0"/>
        </a:xfrm>
      </p:grpSpPr>
      <p:sp>
        <p:nvSpPr>
          <p:cNvPr id="729" name="Google Shape;729;g37e47e77286_0_691"/>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Examples of User Stories (Banking App)</a:t>
            </a:r>
            <a:endParaRPr/>
          </a:p>
        </p:txBody>
      </p:sp>
      <p:sp>
        <p:nvSpPr>
          <p:cNvPr id="730" name="Google Shape;730;g37e47e77286_0_69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31" name="Google Shape;731;g37e47e77286_0_691"/>
          <p:cNvSpPr txBox="1"/>
          <p:nvPr/>
        </p:nvSpPr>
        <p:spPr>
          <a:xfrm>
            <a:off x="614275" y="1918900"/>
            <a:ext cx="7005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In banking, user stories focus on security and convenience. Each story highlights the value to both customers and staff.</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As a customer, I want instant balance check so that I can manage money better.</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As a bank manager, I want fraud alerts so that I can protect customers.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7e47e77286_0_698"/>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Classroom Activity: Writing User Stories (1/2)</a:t>
            </a:r>
            <a:endParaRPr/>
          </a:p>
        </p:txBody>
      </p:sp>
      <p:sp>
        <p:nvSpPr>
          <p:cNvPr id="737" name="Google Shape;737;g37e47e77286_0_69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38" name="Google Shape;738;g37e47e77286_0_698"/>
          <p:cNvSpPr txBox="1"/>
          <p:nvPr/>
        </p:nvSpPr>
        <p:spPr>
          <a:xfrm>
            <a:off x="614275" y="1918900"/>
            <a:ext cx="7005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This exercise encourages students to practice writing user stories. It reinforces how to capture user needs in simple, valuable statements.</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Form groups of 2–3</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Choose a system (e.g., food delivery, e-learning)</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Write 2 user stories per group</a:t>
            </a:r>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Use collaboration-based approach with a building blocks styles</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2" name="Shape 742"/>
        <p:cNvGrpSpPr/>
        <p:nvPr/>
      </p:nvGrpSpPr>
      <p:grpSpPr>
        <a:xfrm>
          <a:off x="0" y="0"/>
          <a:ext cx="0" cy="0"/>
          <a:chOff x="0" y="0"/>
          <a:chExt cx="0" cy="0"/>
        </a:xfrm>
      </p:grpSpPr>
      <p:sp>
        <p:nvSpPr>
          <p:cNvPr id="743" name="Google Shape;743;g37e47e77286_0_705"/>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Classroom Activity: Writing User Stories (2/2)</a:t>
            </a:r>
            <a:endParaRPr/>
          </a:p>
        </p:txBody>
      </p:sp>
      <p:sp>
        <p:nvSpPr>
          <p:cNvPr id="744" name="Google Shape;744;g37e47e77286_0_70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45" name="Google Shape;745;g37e47e77286_0_705"/>
          <p:cNvSpPr txBox="1"/>
          <p:nvPr/>
        </p:nvSpPr>
        <p:spPr>
          <a:xfrm>
            <a:off x="614275" y="1918900"/>
            <a:ext cx="70056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By sharing and refining stories, students see how collaborative improvement makes stories clearer and more actionable, just like in real Agile projects.</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Share stories with class</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Refine using INVEST criteria</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Add acceptance criteria</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7e47e77286_0_712"/>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Section Wrap-up: Why User Stories Matter</a:t>
            </a:r>
            <a:endParaRPr/>
          </a:p>
        </p:txBody>
      </p:sp>
      <p:sp>
        <p:nvSpPr>
          <p:cNvPr id="751" name="Google Shape;751;g37e47e77286_0_71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52" name="Google Shape;752;g37e47e77286_0_712"/>
          <p:cNvSpPr txBox="1"/>
          <p:nvPr/>
        </p:nvSpPr>
        <p:spPr>
          <a:xfrm>
            <a:off x="614275" y="1918900"/>
            <a:ext cx="107793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200"/>
              <a:buFont typeface="Arial"/>
              <a:buNone/>
            </a:pPr>
            <a:r>
              <a:rPr b="0" i="0" lang="en-MY" sz="2200" u="none" cap="none" strike="noStrike">
                <a:solidFill>
                  <a:srgbClr val="595959"/>
                </a:solidFill>
                <a:latin typeface="Lato"/>
                <a:ea typeface="Lato"/>
                <a:cs typeface="Lato"/>
                <a:sym typeface="Lato"/>
              </a:rPr>
              <a:t>User stories are central to Agile because they ensure work always ties back to user value. With tools like story mapping, they help connect the big picture to daily tasks.</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Keep focus on user value</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Support collaboration &amp; clarity</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Map vision → backlog → release</a:t>
            </a:r>
            <a:endParaRPr b="0" i="0" sz="22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200" u="none" cap="none" strike="noStrike">
                <a:solidFill>
                  <a:srgbClr val="595959"/>
                </a:solidFill>
                <a:latin typeface="Lato"/>
                <a:ea typeface="Lato"/>
                <a:cs typeface="Lato"/>
                <a:sym typeface="Lato"/>
              </a:rPr>
              <a:t>Improve planning and adaptability</a:t>
            </a:r>
            <a:endParaRPr b="0" i="0" sz="2200" u="none" cap="none" strike="noStrike">
              <a:solidFill>
                <a:srgbClr val="595959"/>
              </a:solidFill>
              <a:latin typeface="Lato"/>
              <a:ea typeface="Lato"/>
              <a:cs typeface="Lato"/>
              <a:sym typeface="Lat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6" name="Shape 756"/>
        <p:cNvGrpSpPr/>
        <p:nvPr/>
      </p:nvGrpSpPr>
      <p:grpSpPr>
        <a:xfrm>
          <a:off x="0" y="0"/>
          <a:ext cx="0" cy="0"/>
          <a:chOff x="0" y="0"/>
          <a:chExt cx="0" cy="0"/>
        </a:xfrm>
      </p:grpSpPr>
      <p:sp>
        <p:nvSpPr>
          <p:cNvPr id="757" name="Google Shape;757;p5"/>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Assignment #1: User Stories</a:t>
            </a:r>
            <a:endParaRPr/>
          </a:p>
        </p:txBody>
      </p:sp>
      <p:sp>
        <p:nvSpPr>
          <p:cNvPr id="758" name="Google Shape;758;p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59" name="Google Shape;759;p5"/>
          <p:cNvSpPr txBox="1"/>
          <p:nvPr/>
        </p:nvSpPr>
        <p:spPr>
          <a:xfrm>
            <a:off x="614134" y="1644580"/>
            <a:ext cx="10779300" cy="4055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000"/>
              <a:buFont typeface="Arial"/>
              <a:buNone/>
            </a:pPr>
            <a:r>
              <a:rPr b="0" i="0" lang="en-MY" sz="2000" u="none" cap="none" strike="noStrike">
                <a:solidFill>
                  <a:srgbClr val="595959"/>
                </a:solidFill>
                <a:latin typeface="Lato"/>
                <a:ea typeface="Lato"/>
                <a:cs typeface="Lato"/>
                <a:sym typeface="Lato"/>
              </a:rPr>
              <a:t>Y</a:t>
            </a:r>
            <a:r>
              <a:rPr b="0" i="0" lang="en-MY" sz="2000" u="none" cap="none" strike="noStrike">
                <a:solidFill>
                  <a:srgbClr val="595959"/>
                </a:solidFill>
                <a:latin typeface="Lato"/>
                <a:ea typeface="Lato"/>
                <a:cs typeface="Lato"/>
                <a:sym typeface="Lato"/>
              </a:rPr>
              <a:t>ou are required to work in a team of four (4) to analyze the requirements of a </a:t>
            </a:r>
            <a:r>
              <a:rPr b="1" i="0" lang="en-MY" sz="2000" u="none" cap="none" strike="noStrike">
                <a:solidFill>
                  <a:srgbClr val="595959"/>
                </a:solidFill>
                <a:latin typeface="Lato"/>
                <a:ea typeface="Lato"/>
                <a:cs typeface="Lato"/>
                <a:sym typeface="Lato"/>
              </a:rPr>
              <a:t>Contract Management System</a:t>
            </a:r>
            <a:r>
              <a:rPr b="0" i="0" lang="en-MY" sz="2000" u="none" cap="none" strike="noStrike">
                <a:solidFill>
                  <a:srgbClr val="595959"/>
                </a:solidFill>
                <a:latin typeface="Lato"/>
                <a:ea typeface="Lato"/>
                <a:cs typeface="Lato"/>
                <a:sym typeface="Lato"/>
              </a:rPr>
              <a:t>.</a:t>
            </a:r>
            <a:endParaRPr/>
          </a:p>
          <a:p>
            <a:pPr indent="0" lvl="0" marL="0" marR="0" rtl="0" algn="l">
              <a:lnSpc>
                <a:spcPct val="150000"/>
              </a:lnSpc>
              <a:spcBef>
                <a:spcPts val="0"/>
              </a:spcBef>
              <a:spcAft>
                <a:spcPts val="0"/>
              </a:spcAft>
              <a:buClr>
                <a:srgbClr val="000000"/>
              </a:buClr>
              <a:buSzPts val="2000"/>
              <a:buFont typeface="Arial"/>
              <a:buNone/>
            </a:pPr>
            <a:r>
              <a:rPr b="0" i="0" lang="en-MY" sz="2000" u="none" cap="none" strike="noStrike">
                <a:solidFill>
                  <a:srgbClr val="595959"/>
                </a:solidFill>
                <a:latin typeface="Lato"/>
                <a:ea typeface="Lato"/>
                <a:cs typeface="Lato"/>
                <a:sym typeface="Lato"/>
              </a:rPr>
              <a:t>1. High-Level User Story Development</a:t>
            </a:r>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Write user story of this system using Collaboration-based approach</a:t>
            </a:r>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Include relevant acceptance criteria to ensure clarity of the story.</a:t>
            </a:r>
            <a:endParaRPr/>
          </a:p>
          <a:p>
            <a:pPr indent="0" lvl="0" marL="0" marR="0" rtl="0" algn="l">
              <a:lnSpc>
                <a:spcPct val="150000"/>
              </a:lnSpc>
              <a:spcBef>
                <a:spcPts val="0"/>
              </a:spcBef>
              <a:spcAft>
                <a:spcPts val="0"/>
              </a:spcAft>
              <a:buNone/>
            </a:pPr>
            <a:r>
              <a:rPr b="0" i="0" lang="en-MY" sz="2000" u="none" cap="none" strike="noStrike">
                <a:solidFill>
                  <a:srgbClr val="595959"/>
                </a:solidFill>
                <a:latin typeface="Lato"/>
                <a:ea typeface="Lato"/>
                <a:cs typeface="Lato"/>
                <a:sym typeface="Lato"/>
              </a:rPr>
              <a:t>2. Detailed User Story Breakdown (Jira-style)</a:t>
            </a:r>
            <a:endParaRPr b="0" i="0" sz="2000" u="none" cap="none" strike="noStrike">
              <a:solidFill>
                <a:srgbClr val="595959"/>
              </a:solidFill>
              <a:latin typeface="Lato"/>
              <a:ea typeface="Lato"/>
              <a:cs typeface="Lato"/>
              <a:sym typeface="Lato"/>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Break down your chosen high-level user story into tasks and sub-tasks similar to Jira structure.</a:t>
            </a:r>
            <a:endParaRPr/>
          </a:p>
          <a:p>
            <a:pPr indent="-368300" lvl="0" marL="457200" marR="0" rtl="0" algn="l">
              <a:lnSpc>
                <a:spcPct val="150000"/>
              </a:lnSpc>
              <a:spcBef>
                <a:spcPts val="0"/>
              </a:spcBef>
              <a:spcAft>
                <a:spcPts val="0"/>
              </a:spcAft>
              <a:buClr>
                <a:srgbClr val="595959"/>
              </a:buClr>
              <a:buSzPts val="2200"/>
              <a:buFont typeface="Lato"/>
              <a:buChar char="●"/>
            </a:pPr>
            <a:r>
              <a:rPr b="0" i="0" lang="en-MY" sz="2000" u="none" cap="none" strike="noStrike">
                <a:solidFill>
                  <a:srgbClr val="595959"/>
                </a:solidFill>
                <a:latin typeface="Lato"/>
                <a:ea typeface="Lato"/>
                <a:cs typeface="Lato"/>
                <a:sym typeface="Lato"/>
              </a:rPr>
              <a:t>Each sub-task must be specific, actionable and tested (e.g., “Implement contract upload form”, “Validate contract expiry date”, “Write unit tests for contract search”).</a:t>
            </a:r>
            <a:endParaRPr/>
          </a:p>
          <a:p>
            <a:pPr indent="-228600" lvl="0" marL="457200" marR="0" rtl="0" algn="l">
              <a:lnSpc>
                <a:spcPct val="150000"/>
              </a:lnSpc>
              <a:spcBef>
                <a:spcPts val="0"/>
              </a:spcBef>
              <a:spcAft>
                <a:spcPts val="0"/>
              </a:spcAft>
              <a:buClr>
                <a:srgbClr val="595959"/>
              </a:buClr>
              <a:buSzPts val="2200"/>
              <a:buFont typeface="Lato"/>
              <a:buNone/>
            </a:pPr>
            <a:r>
              <a:t/>
            </a:r>
            <a:endParaRPr b="0" i="0" sz="2000" u="none" cap="none" strike="noStrike">
              <a:solidFill>
                <a:srgbClr val="595959"/>
              </a:solidFill>
              <a:latin typeface="Lato"/>
              <a:ea typeface="Lato"/>
              <a:cs typeface="Lato"/>
              <a:sym typeface="Lat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3" name="Shape 763"/>
        <p:cNvGrpSpPr/>
        <p:nvPr/>
      </p:nvGrpSpPr>
      <p:grpSpPr>
        <a:xfrm>
          <a:off x="0" y="0"/>
          <a:ext cx="0" cy="0"/>
          <a:chOff x="0" y="0"/>
          <a:chExt cx="0" cy="0"/>
        </a:xfrm>
      </p:grpSpPr>
      <p:sp>
        <p:nvSpPr>
          <p:cNvPr id="764" name="Google Shape;764;p6"/>
          <p:cNvSpPr txBox="1"/>
          <p:nvPr>
            <p:ph type="title"/>
          </p:nvPr>
        </p:nvSpPr>
        <p:spPr>
          <a:xfrm>
            <a:off x="373400" y="389000"/>
            <a:ext cx="112281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Rubric Assignment #1: User Stories</a:t>
            </a:r>
            <a:endParaRPr/>
          </a:p>
        </p:txBody>
      </p:sp>
      <p:sp>
        <p:nvSpPr>
          <p:cNvPr id="765" name="Google Shape;765;p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766" name="Google Shape;766;p6"/>
          <p:cNvPicPr preferRelativeResize="0"/>
          <p:nvPr/>
        </p:nvPicPr>
        <p:blipFill rotWithShape="1">
          <a:blip r:embed="rId3">
            <a:alphaModFix/>
          </a:blip>
          <a:srcRect b="0" l="0" r="0" t="0"/>
          <a:stretch/>
        </p:blipFill>
        <p:spPr>
          <a:xfrm>
            <a:off x="622111" y="1833107"/>
            <a:ext cx="11193437" cy="4077269"/>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descr="A picture containing outdoor, sky, building, grass&#10;&#10;Description automatically generated" id="771" name="Google Shape;771;p12"/>
          <p:cNvPicPr preferRelativeResize="0"/>
          <p:nvPr>
            <p:ph idx="2" type="pic"/>
          </p:nvPr>
        </p:nvPicPr>
        <p:blipFill rotWithShape="1">
          <a:blip r:embed="rId3">
            <a:alphaModFix/>
          </a:blip>
          <a:srcRect b="0" l="0" r="0" t="0"/>
          <a:stretch/>
        </p:blipFill>
        <p:spPr>
          <a:xfrm>
            <a:off x="0" y="0"/>
            <a:ext cx="7645186" cy="6861429"/>
          </a:xfrm>
          <a:prstGeom prst="rect">
            <a:avLst/>
          </a:prstGeom>
          <a:noFill/>
          <a:ln>
            <a:noFill/>
          </a:ln>
        </p:spPr>
      </p:pic>
      <p:sp>
        <p:nvSpPr>
          <p:cNvPr id="772" name="Google Shape;772;p12"/>
          <p:cNvSpPr txBox="1"/>
          <p:nvPr/>
        </p:nvSpPr>
        <p:spPr>
          <a:xfrm>
            <a:off x="7566746" y="1951631"/>
            <a:ext cx="4511400" cy="1763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5400"/>
              <a:buFont typeface="Arial"/>
              <a:buNone/>
            </a:pPr>
            <a:r>
              <a:rPr b="1" i="0" lang="en-MY" sz="5400" u="none" cap="none" strike="noStrike">
                <a:solidFill>
                  <a:schemeClr val="lt1"/>
                </a:solidFill>
                <a:latin typeface="Lato"/>
                <a:ea typeface="Lato"/>
                <a:cs typeface="Lato"/>
                <a:sym typeface="Lato"/>
              </a:rPr>
              <a:t>THANK YOU</a:t>
            </a:r>
            <a:endParaRPr b="1" i="0" sz="5400" u="none" cap="none" strike="noStrike">
              <a:solidFill>
                <a:schemeClr val="lt1"/>
              </a:solidFill>
              <a:latin typeface="Lato"/>
              <a:ea typeface="Lato"/>
              <a:cs typeface="Lato"/>
              <a:sym typeface="Lato"/>
            </a:endParaRPr>
          </a:p>
        </p:txBody>
      </p:sp>
      <p:pic>
        <p:nvPicPr>
          <p:cNvPr id="773" name="Google Shape;773;p12"/>
          <p:cNvPicPr preferRelativeResize="0"/>
          <p:nvPr/>
        </p:nvPicPr>
        <p:blipFill rotWithShape="1">
          <a:blip r:embed="rId4">
            <a:alphaModFix/>
          </a:blip>
          <a:srcRect b="0" l="0" r="0" t="0"/>
          <a:stretch/>
        </p:blipFill>
        <p:spPr>
          <a:xfrm>
            <a:off x="10308800" y="5785990"/>
            <a:ext cx="392887" cy="392887"/>
          </a:xfrm>
          <a:prstGeom prst="rect">
            <a:avLst/>
          </a:prstGeom>
          <a:noFill/>
          <a:ln>
            <a:noFill/>
          </a:ln>
        </p:spPr>
      </p:pic>
      <p:pic>
        <p:nvPicPr>
          <p:cNvPr id="774" name="Google Shape;774;p12"/>
          <p:cNvPicPr preferRelativeResize="0"/>
          <p:nvPr/>
        </p:nvPicPr>
        <p:blipFill rotWithShape="1">
          <a:blip r:embed="rId5">
            <a:alphaModFix/>
          </a:blip>
          <a:srcRect b="0" l="0" r="0" t="0"/>
          <a:stretch/>
        </p:blipFill>
        <p:spPr>
          <a:xfrm>
            <a:off x="9825030" y="5785990"/>
            <a:ext cx="392887" cy="392887"/>
          </a:xfrm>
          <a:prstGeom prst="rect">
            <a:avLst/>
          </a:prstGeom>
          <a:noFill/>
          <a:ln>
            <a:noFill/>
          </a:ln>
        </p:spPr>
      </p:pic>
      <p:pic>
        <p:nvPicPr>
          <p:cNvPr id="775" name="Google Shape;775;p12"/>
          <p:cNvPicPr preferRelativeResize="0"/>
          <p:nvPr/>
        </p:nvPicPr>
        <p:blipFill rotWithShape="1">
          <a:blip r:embed="rId6">
            <a:alphaModFix/>
          </a:blip>
          <a:srcRect b="0" l="0" r="0" t="0"/>
          <a:stretch/>
        </p:blipFill>
        <p:spPr>
          <a:xfrm>
            <a:off x="9337181" y="5788338"/>
            <a:ext cx="396963" cy="396963"/>
          </a:xfrm>
          <a:prstGeom prst="rect">
            <a:avLst/>
          </a:prstGeom>
          <a:noFill/>
          <a:ln>
            <a:noFill/>
          </a:ln>
        </p:spPr>
      </p:pic>
      <p:pic>
        <p:nvPicPr>
          <p:cNvPr id="776" name="Google Shape;776;p12"/>
          <p:cNvPicPr preferRelativeResize="0"/>
          <p:nvPr/>
        </p:nvPicPr>
        <p:blipFill rotWithShape="1">
          <a:blip r:embed="rId7">
            <a:alphaModFix/>
          </a:blip>
          <a:srcRect b="0" l="0" r="0" t="0"/>
          <a:stretch/>
        </p:blipFill>
        <p:spPr>
          <a:xfrm>
            <a:off x="8369641" y="5785990"/>
            <a:ext cx="392887" cy="392887"/>
          </a:xfrm>
          <a:prstGeom prst="rect">
            <a:avLst/>
          </a:prstGeom>
          <a:noFill/>
          <a:ln>
            <a:noFill/>
          </a:ln>
        </p:spPr>
      </p:pic>
      <p:pic>
        <p:nvPicPr>
          <p:cNvPr id="777" name="Google Shape;777;p12"/>
          <p:cNvPicPr preferRelativeResize="0"/>
          <p:nvPr/>
        </p:nvPicPr>
        <p:blipFill rotWithShape="1">
          <a:blip r:embed="rId8">
            <a:alphaModFix/>
          </a:blip>
          <a:srcRect b="0" l="0" r="0" t="0"/>
          <a:stretch/>
        </p:blipFill>
        <p:spPr>
          <a:xfrm>
            <a:off x="8853411" y="5785990"/>
            <a:ext cx="392887" cy="392887"/>
          </a:xfrm>
          <a:prstGeom prst="rect">
            <a:avLst/>
          </a:prstGeom>
          <a:noFill/>
          <a:ln>
            <a:noFill/>
          </a:ln>
        </p:spPr>
      </p:pic>
      <p:sp>
        <p:nvSpPr>
          <p:cNvPr id="778" name="Google Shape;778;p12"/>
          <p:cNvSpPr txBox="1"/>
          <p:nvPr/>
        </p:nvSpPr>
        <p:spPr>
          <a:xfrm>
            <a:off x="7136987" y="5197713"/>
            <a:ext cx="4730605" cy="319346"/>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MY" sz="1800" u="none" cap="none" strike="noStrike">
                <a:solidFill>
                  <a:schemeClr val="lt1"/>
                </a:solidFill>
                <a:latin typeface="Lato"/>
                <a:ea typeface="Lato"/>
                <a:cs typeface="Lato"/>
                <a:sym typeface="Lato"/>
              </a:rPr>
              <a:t>www.utm.my</a:t>
            </a:r>
            <a:endParaRPr b="0" i="0" sz="1800" u="none" cap="none" strike="noStrike">
              <a:solidFill>
                <a:schemeClr val="lt1"/>
              </a:solidFill>
              <a:latin typeface="Lato"/>
              <a:ea typeface="Lato"/>
              <a:cs typeface="Lato"/>
              <a:sym typeface="Lato"/>
            </a:endParaRPr>
          </a:p>
        </p:txBody>
      </p:sp>
      <p:sp>
        <p:nvSpPr>
          <p:cNvPr id="779" name="Google Shape;779;p12"/>
          <p:cNvSpPr txBox="1"/>
          <p:nvPr/>
        </p:nvSpPr>
        <p:spPr>
          <a:xfrm>
            <a:off x="7136987" y="4916078"/>
            <a:ext cx="4730605" cy="319346"/>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0" i="0" lang="en-MY" sz="1400" u="none" cap="none" strike="noStrike">
                <a:solidFill>
                  <a:schemeClr val="lt1"/>
                </a:solidFill>
                <a:latin typeface="Lato"/>
                <a:ea typeface="Lato"/>
                <a:cs typeface="Lato"/>
                <a:sym typeface="Lato"/>
              </a:rPr>
              <a:t>In the Name of God for Mankind</a:t>
            </a:r>
            <a:endParaRPr b="0" i="0" sz="1400" u="none" cap="none" strike="noStrike">
              <a:solidFill>
                <a:schemeClr val="lt1"/>
              </a:solidFill>
              <a:latin typeface="Lato"/>
              <a:ea typeface="Lato"/>
              <a:cs typeface="Lato"/>
              <a:sym typeface="Lato"/>
            </a:endParaRPr>
          </a:p>
        </p:txBody>
      </p:sp>
      <p:pic>
        <p:nvPicPr>
          <p:cNvPr descr="A black and white logo&#10;&#10;Description automatically generated with low confidence" id="780" name="Google Shape;780;p12"/>
          <p:cNvPicPr preferRelativeResize="0"/>
          <p:nvPr/>
        </p:nvPicPr>
        <p:blipFill rotWithShape="1">
          <a:blip r:embed="rId9">
            <a:alphaModFix/>
          </a:blip>
          <a:srcRect b="0" l="0" r="0" t="0"/>
          <a:stretch/>
        </p:blipFill>
        <p:spPr>
          <a:xfrm>
            <a:off x="8516582" y="4092848"/>
            <a:ext cx="1883012" cy="6395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2021-08-03T04:10:00Z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6A831531A5FD4A75B578DCEBE44BDDB4</vt:lpwstr>
  </property>
  <property fmtid="{D5CDD505-2E9C-101B-9397-08002B2CF9AE}" pid="3" name="KSOProductBuildVer">
    <vt:lpwstr>1033-11.2.0.10382</vt:lpwstr>
  </property>
</Properties>
</file>